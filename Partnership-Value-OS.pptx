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embeddedFontLst>
    <p:embeddedFont>
      <p:font typeface="MuseoModerno"/>
      <p:regular r:id="rId201314"/>
    </p:embeddedFont>
    <p:embeddedFont>
      <p:font typeface="MuseoModerno Medium"/>
      <p:regular r:id="rId201315"/>
    </p:embeddedFont>
    <p:embeddedFont>
      <p:font typeface="MuseoModerno Bold"/>
      <p:regular r:id="rId201316"/>
    </p:embeddedFont>
    <p:embeddedFont>
      <p:font typeface="Source Sans 3"/>
      <p:regular r:id="rId201317"/>
    </p:embeddedFont>
    <p:embeddedFont>
      <p:font typeface="Source Sans 3 Medium"/>
      <p:regular r:id="rId201318"/>
    </p:embeddedFont>
    <p:embeddedFont>
      <p:font typeface="Source Sans 3 Bold"/>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50738C"/>
          </a:solidFill>
          <a:ln/>
        </p:spPr>
      </p:sp>
      <p:sp>
        <p:nvSpPr>
          <p:cNvPr id="3" name="Shape 1"/>
          <p:cNvSpPr/>
          <p:nvPr/>
        </p:nvSpPr>
        <p:spPr>
          <a:xfrm>
            <a:off x="0" y="0"/>
            <a:ext cx="9144000" cy="5143500"/>
          </a:xfrm>
          <a:prstGeom prst="rect">
            <a:avLst/>
          </a:prstGeom>
          <a:solidFill>
            <a:srgbClr val="FFFCF5"/>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2.png"/><Relationship Id="rId5" Type="http://schemas.openxmlformats.org/officeDocument/2006/relationships/image" Target="../media/image-3-3.svg"/><Relationship Id="rId6" Type="http://schemas.openxmlformats.org/officeDocument/2006/relationships/image" Target="../media/image-3-2.png"/><Relationship Id="rId7" Type="http://schemas.openxmlformats.org/officeDocument/2006/relationships/image" Target="../media/image-3-3.svg"/><Relationship Id="rId8" Type="http://schemas.openxmlformats.org/officeDocument/2006/relationships/image" Target="../media/image-3-2.png"/><Relationship Id="rId9" Type="http://schemas.openxmlformats.org/officeDocument/2006/relationships/image" Target="../media/image-3-3.sv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1.png"/><Relationship Id="rId4" Type="http://schemas.openxmlformats.org/officeDocument/2006/relationships/image" Target="../media/image-6-2.svg"/><Relationship Id="rId5" Type="http://schemas.openxmlformats.org/officeDocument/2006/relationships/image" Target="../media/image-6-1.png"/><Relationship Id="rId6" Type="http://schemas.openxmlformats.org/officeDocument/2006/relationships/image" Target="../media/image-6-2.svg"/><Relationship Id="rId7" Type="http://schemas.openxmlformats.org/officeDocument/2006/relationships/image" Target="../media/image-6-1.png"/><Relationship Id="rId8" Type="http://schemas.openxmlformats.org/officeDocument/2006/relationships/image" Target="../media/image-6-2.svg"/><Relationship Id="rId9" Type="http://schemas.openxmlformats.org/officeDocument/2006/relationships/image" Target="../media/image-6-9.png"/><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2.png"/><Relationship Id="rId5" Type="http://schemas.openxmlformats.org/officeDocument/2006/relationships/image" Target="../media/image-7-3.svg"/><Relationship Id="rId6" Type="http://schemas.openxmlformats.org/officeDocument/2006/relationships/image" Target="../media/image-7-2.png"/><Relationship Id="rId7" Type="http://schemas.openxmlformats.org/officeDocument/2006/relationships/image" Target="../media/image-7-3.svg"/><Relationship Id="rId8" Type="http://schemas.openxmlformats.org/officeDocument/2006/relationships/image" Target="../media/image-7-2.png"/><Relationship Id="rId9" Type="http://schemas.openxmlformats.org/officeDocument/2006/relationships/image" Target="../media/image-7-3.svg"/><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image" Target="../media/image-8-10.svg"/><Relationship Id="rId11" Type="http://schemas.openxmlformats.org/officeDocument/2006/relationships/image" Target="../media/image-8-11.png"/><Relationship Id="rId12" Type="http://schemas.openxmlformats.org/officeDocument/2006/relationships/image" Target="../media/image-8-12.svg"/><Relationship Id="rId13" Type="http://schemas.openxmlformats.org/officeDocument/2006/relationships/image" Target="../media/image-6-9.png"/><Relationship Id="rId14" Type="http://schemas.openxmlformats.org/officeDocument/2006/relationships/slideLayout" Target="../slideLayouts/slideLayout2.xml"/><Relationship Id="rId1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96119" y="453330"/>
            <a:ext cx="1114797" cy="164902"/>
          </a:xfrm>
          <a:prstGeom prst="roundRect">
            <a:avLst>
              <a:gd name="adj" fmla="val 7899"/>
            </a:avLst>
          </a:prstGeom>
          <a:noFill/>
          <a:ln w="4763">
            <a:solidFill>
              <a:srgbClr val="325F7B"/>
            </a:solidFill>
            <a:prstDash val="solid"/>
          </a:ln>
        </p:spPr>
      </p:sp>
      <p:sp>
        <p:nvSpPr>
          <p:cNvPr id="3" name="Text 1"/>
          <p:cNvSpPr/>
          <p:nvPr/>
        </p:nvSpPr>
        <p:spPr>
          <a:xfrm>
            <a:off x="561231" y="485849"/>
            <a:ext cx="1441772" cy="99864"/>
          </a:xfrm>
          <a:prstGeom prst="rect">
            <a:avLst/>
          </a:prstGeom>
          <a:noFill/>
          <a:ln/>
        </p:spPr>
        <p:txBody>
          <a:bodyPr wrap="none" lIns="0" tIns="0" rIns="0" bIns="0" rtlCol="0" anchor="t"/>
          <a:lstStyle/>
          <a:p>
            <a:pPr algn="l" indent="0" marL="0">
              <a:lnSpc>
                <a:spcPct val="96000"/>
              </a:lnSpc>
              <a:buNone/>
            </a:pPr>
            <a:r>
              <a:rPr lang="en-US" sz="650" dirty="0">
                <a:solidFill>
                  <a:srgbClr val="325F7B"/>
                </a:solidFill>
                <a:latin typeface="Source Sans 3" pitchFamily="34" charset="0"/>
                <a:ea typeface="Source Sans 3" pitchFamily="34" charset="-122"/>
                <a:cs typeface="Source Sans 3" pitchFamily="34" charset="-120"/>
              </a:rPr>
              <a:t>INTERNAL DECISION MEMO</a:t>
            </a:r>
            <a:endParaRPr lang="en-US" sz="650" dirty="0"/>
          </a:p>
        </p:txBody>
      </p:sp>
      <p:sp>
        <p:nvSpPr>
          <p:cNvPr id="4" name="Text 2"/>
          <p:cNvSpPr/>
          <p:nvPr/>
        </p:nvSpPr>
        <p:spPr>
          <a:xfrm>
            <a:off x="496119" y="656183"/>
            <a:ext cx="8151763" cy="339179"/>
          </a:xfrm>
          <a:prstGeom prst="rect">
            <a:avLst/>
          </a:prstGeom>
          <a:noFill/>
          <a:ln/>
        </p:spPr>
        <p:txBody>
          <a:bodyPr wrap="none" lIns="0" tIns="0" rIns="0" bIns="0" rtlCol="0" anchor="t"/>
          <a:lstStyle/>
          <a:p>
            <a:pPr algn="l" indent="0" marL="0">
              <a:lnSpc>
                <a:spcPct val="104000"/>
              </a:lnSpc>
              <a:buNone/>
            </a:pPr>
            <a:r>
              <a:rPr lang="en-US" sz="2100" dirty="0">
                <a:solidFill>
                  <a:srgbClr val="124E73"/>
                </a:solidFill>
                <a:latin typeface="MuseoModerno Medium" pitchFamily="34" charset="0"/>
                <a:ea typeface="MuseoModerno Medium" pitchFamily="34" charset="-122"/>
                <a:cs typeface="MuseoModerno Medium" pitchFamily="34" charset="-120"/>
              </a:rPr>
              <a:t>Partnership Value OS</a:t>
            </a:r>
            <a:endParaRPr lang="en-US" sz="2100" dirty="0"/>
          </a:p>
        </p:txBody>
      </p:sp>
      <p:sp>
        <p:nvSpPr>
          <p:cNvPr id="5" name="Text 3"/>
          <p:cNvSpPr/>
          <p:nvPr/>
        </p:nvSpPr>
        <p:spPr>
          <a:xfrm>
            <a:off x="496119" y="1033314"/>
            <a:ext cx="8151763" cy="169515"/>
          </a:xfrm>
          <a:prstGeom prst="rect">
            <a:avLst/>
          </a:prstGeom>
          <a:noFill/>
          <a:ln/>
        </p:spPr>
        <p:txBody>
          <a:bodyPr wrap="none" lIns="0" tIns="0" rIns="0" bIns="0" rtlCol="0" anchor="t"/>
          <a:lstStyle/>
          <a:p>
            <a:pPr algn="l" indent="0" marL="0">
              <a:lnSpc>
                <a:spcPct val="104000"/>
              </a:lnSpc>
              <a:buNone/>
            </a:pPr>
            <a:r>
              <a:rPr lang="en-US" sz="1050" i="1" dirty="0">
                <a:solidFill>
                  <a:srgbClr val="124E73"/>
                </a:solidFill>
                <a:latin typeface="MuseoModerno Medium" pitchFamily="34" charset="0"/>
                <a:ea typeface="MuseoModerno Medium" pitchFamily="34" charset="-122"/>
                <a:cs typeface="MuseoModerno Medium" pitchFamily="34" charset="-120"/>
              </a:rPr>
              <a:t>Defensible partnership decisions when comparables are sparse</a:t>
            </a:r>
            <a:endParaRPr lang="en-US" sz="1050" dirty="0"/>
          </a:p>
        </p:txBody>
      </p:sp>
      <p:sp>
        <p:nvSpPr>
          <p:cNvPr id="6" name="Shape 4"/>
          <p:cNvSpPr/>
          <p:nvPr/>
        </p:nvSpPr>
        <p:spPr>
          <a:xfrm>
            <a:off x="496119" y="1372344"/>
            <a:ext cx="8151763" cy="14288"/>
          </a:xfrm>
          <a:prstGeom prst="roundRect">
            <a:avLst>
              <a:gd name="adj" fmla="val 49998"/>
            </a:avLst>
          </a:prstGeom>
          <a:solidFill>
            <a:srgbClr val="2B4150">
              <a:alpha val="50000"/>
            </a:srgbClr>
          </a:solidFill>
          <a:ln/>
        </p:spPr>
      </p:sp>
      <p:sp>
        <p:nvSpPr>
          <p:cNvPr id="7" name="Text 5"/>
          <p:cNvSpPr/>
          <p:nvPr/>
        </p:nvSpPr>
        <p:spPr>
          <a:xfrm>
            <a:off x="496119" y="1615455"/>
            <a:ext cx="4785122" cy="339030"/>
          </a:xfrm>
          <a:prstGeom prst="rect">
            <a:avLst/>
          </a:prstGeom>
          <a:noFill/>
          <a:ln/>
        </p:spPr>
        <p:txBody>
          <a:bodyPr wrap="square" lIns="0" tIns="0" rIns="0" bIns="0" rtlCol="0" anchor="t">
            <a:normAutofit/>
          </a:bodyPr>
          <a:lstStyle/>
          <a:p>
            <a:pPr algn="l" indent="0" marL="0">
              <a:lnSpc>
                <a:spcPct val="104000"/>
              </a:lnSpc>
              <a:buNone/>
            </a:pPr>
            <a:r>
              <a:rPr lang="en-US" sz="1050" dirty="0">
                <a:solidFill>
                  <a:srgbClr val="124E73"/>
                </a:solidFill>
                <a:latin typeface="MuseoModerno Medium" pitchFamily="34" charset="0"/>
                <a:ea typeface="MuseoModerno Medium" pitchFamily="34" charset="-122"/>
                <a:cs typeface="MuseoModerno Medium" pitchFamily="34" charset="-120"/>
              </a:rPr>
              <a:t>The Decision Problem: Valuing Product Partnerships When Comparables Are Sparse</a:t>
            </a:r>
            <a:endParaRPr lang="en-US" sz="1050" dirty="0"/>
          </a:p>
        </p:txBody>
      </p:sp>
      <p:sp>
        <p:nvSpPr>
          <p:cNvPr id="8" name="Text 6"/>
          <p:cNvSpPr/>
          <p:nvPr/>
        </p:nvSpPr>
        <p:spPr>
          <a:xfrm>
            <a:off x="496119" y="2049438"/>
            <a:ext cx="4785122" cy="1550789"/>
          </a:xfrm>
          <a:prstGeom prst="rect">
            <a:avLst/>
          </a:prstGeom>
          <a:noFill/>
          <a:ln/>
        </p:spPr>
        <p:txBody>
          <a:bodyPr wrap="square" lIns="0" tIns="0" rIns="0" bIns="0" rtlCol="0" anchor="t">
            <a:normAutofit/>
          </a:bodyPr>
          <a:lstStyle/>
          <a:p>
            <a:pPr algn="l" indent="0" marL="0">
              <a:lnSpc>
                <a:spcPct val="125000"/>
              </a:lnSpc>
              <a:spcAft>
                <a:spcPts val="650"/>
              </a:spcAft>
              <a:buNone/>
            </a:pPr>
            <a:r>
              <a:rPr lang="en-US" sz="850" dirty="0">
                <a:solidFill>
                  <a:srgbClr val="2B4150"/>
                </a:solidFill>
                <a:latin typeface="Source Sans 3" pitchFamily="34" charset="0"/>
                <a:ea typeface="Source Sans 3" pitchFamily="34" charset="-122"/>
                <a:cs typeface="Source Sans 3" pitchFamily="34" charset="-120"/>
              </a:rPr>
              <a:t>Novel AI partnerships are structurally different from traditional software or data deals. They combine direct economics, product capability uplift, distribution reach, data uniqueness, strategic option value, implementation burden, exclusivity constraints, and asymmetric risk — often in a single term sheet. A single market multiple rarely captures this complexity with sufficient precision to carry into a negotiation.</a:t>
            </a:r>
            <a:endParaRPr lang="en-US" sz="850" dirty="0"/>
          </a:p>
          <a:p>
            <a:pPr algn="l" indent="0" marL="0">
              <a:lnSpc>
                <a:spcPct val="125000"/>
              </a:lnSpc>
              <a:buNone/>
            </a:pPr>
            <a:r>
              <a:rPr lang="en-US" sz="850" dirty="0">
                <a:solidFill>
                  <a:srgbClr val="2B4150"/>
                </a:solidFill>
                <a:latin typeface="Source Sans 3" pitchFamily="34" charset="0"/>
                <a:ea typeface="Source Sans 3" pitchFamily="34" charset="-122"/>
                <a:cs typeface="Source Sans 3" pitchFamily="34" charset="-120"/>
              </a:rPr>
              <a:t>Existing valuation heuristics — revenue multiples, comparable SaaS transactions, cost-of-acquisition proxies — were built for mature, liquid markets. When a partnership is genuinely novel, those anchors mislead as often as they inform. The discipline required is first-principles valuation: visible assumptions, explicit confidence levels, and a structured framework that surfaces disagreements before they become negotiating surprises.</a:t>
            </a:r>
            <a:endParaRPr lang="en-US" sz="850" dirty="0"/>
          </a:p>
        </p:txBody>
      </p:sp>
      <p:sp>
        <p:nvSpPr>
          <p:cNvPr id="9" name="Shape 7"/>
          <p:cNvSpPr/>
          <p:nvPr/>
        </p:nvSpPr>
        <p:spPr>
          <a:xfrm>
            <a:off x="496119" y="3707011"/>
            <a:ext cx="4785122" cy="876300"/>
          </a:xfrm>
          <a:prstGeom prst="roundRect">
            <a:avLst>
              <a:gd name="adj" fmla="val 1858"/>
            </a:avLst>
          </a:prstGeom>
          <a:solidFill>
            <a:srgbClr val="DBE8F0"/>
          </a:solidFill>
          <a:ln/>
        </p:spPr>
      </p:sp>
      <p:pic>
        <p:nvPicPr>
          <p:cNvPr id="10" name="Image 0" descr="preencoded.png">    </p:cNvPr>
          <p:cNvPicPr>
            <a:picLocks noChangeAspect="1"/>
          </p:cNvPicPr>
          <p:nvPr/>
        </p:nvPicPr>
        <p:blipFill>
          <a:blip r:embed="rId1"/>
          <a:stretch>
            <a:fillRect/>
          </a:stretch>
        </p:blipFill>
        <p:spPr>
          <a:xfrm>
            <a:off x="604614" y="3861941"/>
            <a:ext cx="135657" cy="108496"/>
          </a:xfrm>
          <a:prstGeom prst="rect">
            <a:avLst/>
          </a:prstGeom>
        </p:spPr>
      </p:pic>
      <p:sp>
        <p:nvSpPr>
          <p:cNvPr id="11" name="Text 8"/>
          <p:cNvSpPr/>
          <p:nvPr/>
        </p:nvSpPr>
        <p:spPr>
          <a:xfrm>
            <a:off x="848767" y="3819525"/>
            <a:ext cx="4323978" cy="651272"/>
          </a:xfrm>
          <a:prstGeom prst="rect">
            <a:avLst/>
          </a:prstGeom>
          <a:noFill/>
          <a:ln/>
        </p:spPr>
        <p:txBody>
          <a:bodyPr wrap="square" lIns="0" tIns="0" rIns="0" bIns="0" rtlCol="0" anchor="t">
            <a:normAutofit/>
          </a:bodyPr>
          <a:lstStyle/>
          <a:p>
            <a:pPr algn="l" indent="0" marL="0">
              <a:lnSpc>
                <a:spcPct val="125000"/>
              </a:lnSpc>
              <a:buNone/>
            </a:pPr>
            <a:r>
              <a:rPr lang="en-US" sz="850" b="1" dirty="0">
                <a:solidFill>
                  <a:srgbClr val="000000"/>
                </a:solidFill>
                <a:latin typeface="Source Sans 3 Bold" pitchFamily="34" charset="0"/>
                <a:ea typeface="Source Sans 3 Bold" pitchFamily="34" charset="-122"/>
                <a:cs typeface="Source Sans 3 Bold" pitchFamily="34" charset="-120"/>
              </a:rPr>
              <a:t>Synthetic case — Atlas Knowledge Systems:</a:t>
            </a:r>
            <a:pPr algn="l" indent="0" marL="0">
              <a:lnSpc>
                <a:spcPct val="125000"/>
              </a:lnSpc>
              <a:buNone/>
            </a:pPr>
            <a:r>
              <a:rPr lang="en-US" sz="850" dirty="0">
                <a:solidFill>
                  <a:srgbClr val="000000"/>
                </a:solidFill>
                <a:latin typeface="Source Sans 3" pitchFamily="34" charset="0"/>
                <a:ea typeface="Source Sans 3" pitchFamily="34" charset="-122"/>
                <a:cs typeface="Source Sans 3" pitchFamily="34" charset="-120"/>
              </a:rPr>
              <a:t> Atlas proposes a three-year partnership combining a proprietary data license, API access, deep product integration, and joint enterprise distribution — with limited category exclusivity. Terms are undisclosed to the market; no clean comparable exists.</a:t>
            </a:r>
            <a:endParaRPr lang="en-US" sz="850" dirty="0"/>
          </a:p>
        </p:txBody>
      </p:sp>
      <p:sp>
        <p:nvSpPr>
          <p:cNvPr id="12" name="Shape 9"/>
          <p:cNvSpPr/>
          <p:nvPr/>
        </p:nvSpPr>
        <p:spPr>
          <a:xfrm>
            <a:off x="5472633" y="1520503"/>
            <a:ext cx="3258071" cy="3169593"/>
          </a:xfrm>
          <a:prstGeom prst="roundRect">
            <a:avLst>
              <a:gd name="adj" fmla="val 514"/>
            </a:avLst>
          </a:prstGeom>
          <a:solidFill>
            <a:srgbClr val="325F7B"/>
          </a:solidFill>
          <a:ln/>
        </p:spPr>
      </p:sp>
      <p:sp>
        <p:nvSpPr>
          <p:cNvPr id="13" name="Text 10"/>
          <p:cNvSpPr/>
          <p:nvPr/>
        </p:nvSpPr>
        <p:spPr>
          <a:xfrm>
            <a:off x="5581129" y="1615455"/>
            <a:ext cx="3041079" cy="169515"/>
          </a:xfrm>
          <a:prstGeom prst="rect">
            <a:avLst/>
          </a:prstGeom>
          <a:noFill/>
          <a:ln/>
        </p:spPr>
        <p:txBody>
          <a:bodyPr wrap="none" lIns="0" tIns="0" rIns="0" bIns="0" rtlCol="0" anchor="t"/>
          <a:lstStyle/>
          <a:p>
            <a:pPr algn="l" indent="0" marL="0">
              <a:lnSpc>
                <a:spcPct val="104000"/>
              </a:lnSpc>
              <a:buNone/>
            </a:pPr>
            <a:r>
              <a:rPr lang="en-US" sz="1050" dirty="0">
                <a:solidFill>
                  <a:srgbClr val="FFFFFF"/>
                </a:solidFill>
                <a:latin typeface="MuseoModerno Medium" pitchFamily="34" charset="0"/>
                <a:ea typeface="MuseoModerno Medium" pitchFamily="34" charset="-122"/>
                <a:cs typeface="MuseoModerno Medium" pitchFamily="34" charset="-120"/>
              </a:rPr>
              <a:t>Bottom-Line Questions</a:t>
            </a:r>
            <a:endParaRPr lang="en-US" sz="1050" dirty="0"/>
          </a:p>
        </p:txBody>
      </p:sp>
      <p:sp>
        <p:nvSpPr>
          <p:cNvPr id="14" name="Text 11"/>
          <p:cNvSpPr/>
          <p:nvPr/>
        </p:nvSpPr>
        <p:spPr>
          <a:xfrm>
            <a:off x="5581129" y="1879922"/>
            <a:ext cx="3041079" cy="325636"/>
          </a:xfrm>
          <a:prstGeom prst="rect">
            <a:avLst/>
          </a:prstGeom>
          <a:noFill/>
          <a:ln/>
        </p:spPr>
        <p:txBody>
          <a:bodyPr wrap="square" lIns="0" tIns="0" rIns="0" bIns="0" rtlCol="0" anchor="t">
            <a:normAutofit/>
          </a:bodyPr>
          <a:lstStyle/>
          <a:p>
            <a:pPr algn="l" indent="0" marL="0">
              <a:lnSpc>
                <a:spcPct val="125000"/>
              </a:lnSpc>
              <a:buNone/>
            </a:pPr>
            <a:r>
              <a:rPr lang="en-US" sz="850" dirty="0">
                <a:solidFill>
                  <a:srgbClr val="FFFFFF"/>
                </a:solidFill>
                <a:latin typeface="Source Sans 3" pitchFamily="34" charset="0"/>
                <a:ea typeface="Source Sans 3" pitchFamily="34" charset="-122"/>
                <a:cs typeface="Source Sans 3" pitchFamily="34" charset="-120"/>
              </a:rPr>
              <a:t>Three questions the deal lead must answer before entering negotiation:</a:t>
            </a:r>
            <a:endParaRPr lang="en-US" sz="850" dirty="0"/>
          </a:p>
        </p:txBody>
      </p:sp>
      <p:sp>
        <p:nvSpPr>
          <p:cNvPr id="15" name="Shape 12"/>
          <p:cNvSpPr/>
          <p:nvPr/>
        </p:nvSpPr>
        <p:spPr>
          <a:xfrm>
            <a:off x="5581129" y="2312343"/>
            <a:ext cx="244153" cy="244153"/>
          </a:xfrm>
          <a:prstGeom prst="roundRect">
            <a:avLst>
              <a:gd name="adj" fmla="val 6668"/>
            </a:avLst>
          </a:prstGeom>
          <a:solidFill>
            <a:srgbClr val="F3EEE3"/>
          </a:solidFill>
          <a:ln/>
        </p:spPr>
      </p:sp>
      <p:sp>
        <p:nvSpPr>
          <p:cNvPr id="16" name="Text 13"/>
          <p:cNvSpPr/>
          <p:nvPr/>
        </p:nvSpPr>
        <p:spPr>
          <a:xfrm>
            <a:off x="5621796" y="2332658"/>
            <a:ext cx="162744" cy="203448"/>
          </a:xfrm>
          <a:prstGeom prst="rect">
            <a:avLst/>
          </a:prstGeom>
          <a:noFill/>
          <a:ln/>
        </p:spPr>
        <p:txBody>
          <a:bodyPr wrap="none" lIns="0" tIns="0" rIns="0" bIns="0" rtlCol="0" anchor="ctr"/>
          <a:lstStyle/>
          <a:p>
            <a:pPr algn="ctr" indent="0" marL="0">
              <a:lnSpc>
                <a:spcPct val="100000"/>
              </a:lnSpc>
              <a:buNone/>
            </a:pPr>
            <a:r>
              <a:rPr lang="en-US" sz="1250" dirty="0">
                <a:solidFill>
                  <a:srgbClr val="000000"/>
                </a:solidFill>
                <a:latin typeface="MuseoModerno Medium" pitchFamily="34" charset="0"/>
                <a:ea typeface="MuseoModerno Medium" pitchFamily="34" charset="-122"/>
                <a:cs typeface="MuseoModerno Medium" pitchFamily="34" charset="-120"/>
              </a:rPr>
              <a:t>1</a:t>
            </a:r>
            <a:endParaRPr lang="en-US" sz="1250" dirty="0"/>
          </a:p>
        </p:txBody>
      </p:sp>
      <p:sp>
        <p:nvSpPr>
          <p:cNvPr id="17" name="Text 14"/>
          <p:cNvSpPr/>
          <p:nvPr/>
        </p:nvSpPr>
        <p:spPr>
          <a:xfrm>
            <a:off x="5920234" y="2349624"/>
            <a:ext cx="2701975" cy="169515"/>
          </a:xfrm>
          <a:prstGeom prst="rect">
            <a:avLst/>
          </a:prstGeom>
          <a:noFill/>
          <a:ln/>
        </p:spPr>
        <p:txBody>
          <a:bodyPr wrap="none" lIns="0" tIns="0" rIns="0" bIns="0" rtlCol="0" anchor="t"/>
          <a:lstStyle/>
          <a:p>
            <a:pPr algn="l" indent="0" marL="0">
              <a:lnSpc>
                <a:spcPct val="104000"/>
              </a:lnSpc>
              <a:buNone/>
            </a:pPr>
            <a:r>
              <a:rPr lang="en-US" sz="1050" dirty="0">
                <a:solidFill>
                  <a:srgbClr val="FFFFFF"/>
                </a:solidFill>
                <a:latin typeface="MuseoModerno Medium" pitchFamily="34" charset="0"/>
                <a:ea typeface="MuseoModerno Medium" pitchFamily="34" charset="-122"/>
                <a:cs typeface="MuseoModerno Medium" pitchFamily="34" charset="-120"/>
              </a:rPr>
              <a:t>What is it worth?</a:t>
            </a:r>
            <a:endParaRPr lang="en-US" sz="1050" dirty="0"/>
          </a:p>
        </p:txBody>
      </p:sp>
      <p:sp>
        <p:nvSpPr>
          <p:cNvPr id="18" name="Text 15"/>
          <p:cNvSpPr/>
          <p:nvPr/>
        </p:nvSpPr>
        <p:spPr>
          <a:xfrm>
            <a:off x="5920234" y="2614092"/>
            <a:ext cx="2701975" cy="325636"/>
          </a:xfrm>
          <a:prstGeom prst="rect">
            <a:avLst/>
          </a:prstGeom>
          <a:noFill/>
          <a:ln/>
        </p:spPr>
        <p:txBody>
          <a:bodyPr wrap="square" lIns="0" tIns="0" rIns="0" bIns="0" rtlCol="0" anchor="t">
            <a:normAutofit/>
          </a:bodyPr>
          <a:lstStyle/>
          <a:p>
            <a:pPr algn="l" indent="0" marL="0">
              <a:lnSpc>
                <a:spcPct val="125000"/>
              </a:lnSpc>
              <a:buNone/>
            </a:pPr>
            <a:r>
              <a:rPr lang="en-US" sz="850" dirty="0">
                <a:solidFill>
                  <a:srgbClr val="FFFFFF"/>
                </a:solidFill>
                <a:latin typeface="Source Sans 3" pitchFamily="34" charset="0"/>
                <a:ea typeface="Source Sans 3" pitchFamily="34" charset="-122"/>
                <a:cs typeface="Source Sans 3" pitchFamily="34" charset="-120"/>
              </a:rPr>
              <a:t>Across downside, base, and upside scenarios — confidence-adjusted.</a:t>
            </a:r>
            <a:endParaRPr lang="en-US" sz="850" dirty="0"/>
          </a:p>
        </p:txBody>
      </p:sp>
      <p:sp>
        <p:nvSpPr>
          <p:cNvPr id="19" name="Shape 16"/>
          <p:cNvSpPr/>
          <p:nvPr/>
        </p:nvSpPr>
        <p:spPr>
          <a:xfrm>
            <a:off x="5581129" y="3129632"/>
            <a:ext cx="244153" cy="244153"/>
          </a:xfrm>
          <a:prstGeom prst="roundRect">
            <a:avLst>
              <a:gd name="adj" fmla="val 6668"/>
            </a:avLst>
          </a:prstGeom>
          <a:solidFill>
            <a:srgbClr val="F3EEE3"/>
          </a:solidFill>
          <a:ln/>
        </p:spPr>
      </p:sp>
      <p:sp>
        <p:nvSpPr>
          <p:cNvPr id="20" name="Text 17"/>
          <p:cNvSpPr/>
          <p:nvPr/>
        </p:nvSpPr>
        <p:spPr>
          <a:xfrm>
            <a:off x="5621796" y="3149947"/>
            <a:ext cx="162744" cy="203448"/>
          </a:xfrm>
          <a:prstGeom prst="rect">
            <a:avLst/>
          </a:prstGeom>
          <a:noFill/>
          <a:ln/>
        </p:spPr>
        <p:txBody>
          <a:bodyPr wrap="none" lIns="0" tIns="0" rIns="0" bIns="0" rtlCol="0" anchor="ctr"/>
          <a:lstStyle/>
          <a:p>
            <a:pPr algn="ctr" indent="0" marL="0">
              <a:lnSpc>
                <a:spcPct val="100000"/>
              </a:lnSpc>
              <a:buNone/>
            </a:pPr>
            <a:r>
              <a:rPr lang="en-US" sz="1250" dirty="0">
                <a:solidFill>
                  <a:srgbClr val="000000"/>
                </a:solidFill>
                <a:latin typeface="MuseoModerno Medium" pitchFamily="34" charset="0"/>
                <a:ea typeface="MuseoModerno Medium" pitchFamily="34" charset="-122"/>
                <a:cs typeface="MuseoModerno Medium" pitchFamily="34" charset="-120"/>
              </a:rPr>
              <a:t>2</a:t>
            </a:r>
            <a:endParaRPr lang="en-US" sz="1250" dirty="0"/>
          </a:p>
        </p:txBody>
      </p:sp>
      <p:sp>
        <p:nvSpPr>
          <p:cNvPr id="21" name="Text 18"/>
          <p:cNvSpPr/>
          <p:nvPr/>
        </p:nvSpPr>
        <p:spPr>
          <a:xfrm>
            <a:off x="5920234" y="3166914"/>
            <a:ext cx="2701975" cy="169515"/>
          </a:xfrm>
          <a:prstGeom prst="rect">
            <a:avLst/>
          </a:prstGeom>
          <a:noFill/>
          <a:ln/>
        </p:spPr>
        <p:txBody>
          <a:bodyPr wrap="none" lIns="0" tIns="0" rIns="0" bIns="0" rtlCol="0" anchor="t"/>
          <a:lstStyle/>
          <a:p>
            <a:pPr algn="l" indent="0" marL="0">
              <a:lnSpc>
                <a:spcPct val="104000"/>
              </a:lnSpc>
              <a:buNone/>
            </a:pPr>
            <a:r>
              <a:rPr lang="en-US" sz="1050" dirty="0">
                <a:solidFill>
                  <a:srgbClr val="FFFFFF"/>
                </a:solidFill>
                <a:latin typeface="MuseoModerno Medium" pitchFamily="34" charset="0"/>
                <a:ea typeface="MuseoModerno Medium" pitchFamily="34" charset="-122"/>
                <a:cs typeface="MuseoModerno Medium" pitchFamily="34" charset="-120"/>
              </a:rPr>
              <a:t>How should it be structured?</a:t>
            </a:r>
            <a:endParaRPr lang="en-US" sz="1050" dirty="0"/>
          </a:p>
        </p:txBody>
      </p:sp>
      <p:sp>
        <p:nvSpPr>
          <p:cNvPr id="22" name="Text 19"/>
          <p:cNvSpPr/>
          <p:nvPr/>
        </p:nvSpPr>
        <p:spPr>
          <a:xfrm>
            <a:off x="5920234" y="3431381"/>
            <a:ext cx="2701975" cy="325636"/>
          </a:xfrm>
          <a:prstGeom prst="rect">
            <a:avLst/>
          </a:prstGeom>
          <a:noFill/>
          <a:ln/>
        </p:spPr>
        <p:txBody>
          <a:bodyPr wrap="square" lIns="0" tIns="0" rIns="0" bIns="0" rtlCol="0" anchor="t">
            <a:normAutofit/>
          </a:bodyPr>
          <a:lstStyle/>
          <a:p>
            <a:pPr algn="l" indent="0" marL="0">
              <a:lnSpc>
                <a:spcPct val="125000"/>
              </a:lnSpc>
              <a:buNone/>
            </a:pPr>
            <a:r>
              <a:rPr lang="en-US" sz="850" dirty="0">
                <a:solidFill>
                  <a:srgbClr val="FFFFFF"/>
                </a:solidFill>
                <a:latin typeface="Source Sans 3" pitchFamily="34" charset="0"/>
                <a:ea typeface="Source Sans 3" pitchFamily="34" charset="-122"/>
                <a:cs typeface="Source Sans 3" pitchFamily="34" charset="-120"/>
              </a:rPr>
              <a:t>Payment timing, usage components, exclusivity carve-outs, and termination rights.</a:t>
            </a:r>
            <a:endParaRPr lang="en-US" sz="850" dirty="0"/>
          </a:p>
        </p:txBody>
      </p:sp>
      <p:sp>
        <p:nvSpPr>
          <p:cNvPr id="23" name="Shape 20"/>
          <p:cNvSpPr/>
          <p:nvPr/>
        </p:nvSpPr>
        <p:spPr>
          <a:xfrm>
            <a:off x="5581129" y="3946922"/>
            <a:ext cx="244153" cy="244153"/>
          </a:xfrm>
          <a:prstGeom prst="roundRect">
            <a:avLst>
              <a:gd name="adj" fmla="val 6668"/>
            </a:avLst>
          </a:prstGeom>
          <a:solidFill>
            <a:srgbClr val="F3EEE3"/>
          </a:solidFill>
          <a:ln/>
        </p:spPr>
      </p:sp>
      <p:sp>
        <p:nvSpPr>
          <p:cNvPr id="24" name="Text 21"/>
          <p:cNvSpPr/>
          <p:nvPr/>
        </p:nvSpPr>
        <p:spPr>
          <a:xfrm>
            <a:off x="5621796" y="3967237"/>
            <a:ext cx="162744" cy="203448"/>
          </a:xfrm>
          <a:prstGeom prst="rect">
            <a:avLst/>
          </a:prstGeom>
          <a:noFill/>
          <a:ln/>
        </p:spPr>
        <p:txBody>
          <a:bodyPr wrap="none" lIns="0" tIns="0" rIns="0" bIns="0" rtlCol="0" anchor="ctr"/>
          <a:lstStyle/>
          <a:p>
            <a:pPr algn="ctr" indent="0" marL="0">
              <a:lnSpc>
                <a:spcPct val="100000"/>
              </a:lnSpc>
              <a:buNone/>
            </a:pPr>
            <a:r>
              <a:rPr lang="en-US" sz="1250" dirty="0">
                <a:solidFill>
                  <a:srgbClr val="000000"/>
                </a:solidFill>
                <a:latin typeface="MuseoModerno Medium" pitchFamily="34" charset="0"/>
                <a:ea typeface="MuseoModerno Medium" pitchFamily="34" charset="-122"/>
                <a:cs typeface="MuseoModerno Medium" pitchFamily="34" charset="-120"/>
              </a:rPr>
              <a:t>3</a:t>
            </a:r>
            <a:endParaRPr lang="en-US" sz="1250" dirty="0"/>
          </a:p>
        </p:txBody>
      </p:sp>
      <p:sp>
        <p:nvSpPr>
          <p:cNvPr id="25" name="Text 22"/>
          <p:cNvSpPr/>
          <p:nvPr/>
        </p:nvSpPr>
        <p:spPr>
          <a:xfrm>
            <a:off x="5920234" y="3984203"/>
            <a:ext cx="2701975" cy="169515"/>
          </a:xfrm>
          <a:prstGeom prst="rect">
            <a:avLst/>
          </a:prstGeom>
          <a:noFill/>
          <a:ln/>
        </p:spPr>
        <p:txBody>
          <a:bodyPr wrap="none" lIns="0" tIns="0" rIns="0" bIns="0" rtlCol="0" anchor="t"/>
          <a:lstStyle/>
          <a:p>
            <a:pPr algn="l" indent="0" marL="0">
              <a:lnSpc>
                <a:spcPct val="104000"/>
              </a:lnSpc>
              <a:buNone/>
            </a:pPr>
            <a:r>
              <a:rPr lang="en-US" sz="1050" dirty="0">
                <a:solidFill>
                  <a:srgbClr val="FFFFFF"/>
                </a:solidFill>
                <a:latin typeface="MuseoModerno Medium" pitchFamily="34" charset="0"/>
                <a:ea typeface="MuseoModerno Medium" pitchFamily="34" charset="-122"/>
                <a:cs typeface="MuseoModerno Medium" pitchFamily="34" charset="-120"/>
              </a:rPr>
              <a:t>What does the deal lead carry in?</a:t>
            </a:r>
            <a:endParaRPr lang="en-US" sz="1050" dirty="0"/>
          </a:p>
        </p:txBody>
      </p:sp>
      <p:sp>
        <p:nvSpPr>
          <p:cNvPr id="26" name="Text 23"/>
          <p:cNvSpPr/>
          <p:nvPr/>
        </p:nvSpPr>
        <p:spPr>
          <a:xfrm>
            <a:off x="5920234" y="4248671"/>
            <a:ext cx="2701975" cy="325636"/>
          </a:xfrm>
          <a:prstGeom prst="rect">
            <a:avLst/>
          </a:prstGeom>
          <a:noFill/>
          <a:ln/>
        </p:spPr>
        <p:txBody>
          <a:bodyPr wrap="square" lIns="0" tIns="0" rIns="0" bIns="0" rtlCol="0" anchor="t">
            <a:normAutofit/>
          </a:bodyPr>
          <a:lstStyle/>
          <a:p>
            <a:pPr algn="l" indent="0" marL="0">
              <a:lnSpc>
                <a:spcPct val="125000"/>
              </a:lnSpc>
              <a:buNone/>
            </a:pPr>
            <a:r>
              <a:rPr lang="en-US" sz="850" dirty="0">
                <a:solidFill>
                  <a:srgbClr val="FFFFFF"/>
                </a:solidFill>
                <a:latin typeface="Source Sans 3" pitchFamily="34" charset="0"/>
                <a:ea typeface="Source Sans 3" pitchFamily="34" charset="-122"/>
                <a:cs typeface="Source Sans 3" pitchFamily="34" charset="-120"/>
              </a:rPr>
              <a:t>Opening position, target range, reservation value, and walk-away point — documented and approved.</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96119" y="365596"/>
            <a:ext cx="1021035" cy="150168"/>
          </a:xfrm>
          <a:prstGeom prst="roundRect">
            <a:avLst>
              <a:gd name="adj" fmla="val 7899"/>
            </a:avLst>
          </a:prstGeom>
          <a:noFill/>
          <a:ln w="4763">
            <a:solidFill>
              <a:srgbClr val="325F7B"/>
            </a:solidFill>
            <a:prstDash val="solid"/>
          </a:ln>
        </p:spPr>
      </p:sp>
      <p:sp>
        <p:nvSpPr>
          <p:cNvPr id="3" name="Text 1"/>
          <p:cNvSpPr/>
          <p:nvPr/>
        </p:nvSpPr>
        <p:spPr>
          <a:xfrm>
            <a:off x="555427" y="395213"/>
            <a:ext cx="1359619" cy="90934"/>
          </a:xfrm>
          <a:prstGeom prst="rect">
            <a:avLst/>
          </a:prstGeom>
          <a:noFill/>
          <a:ln/>
        </p:spPr>
        <p:txBody>
          <a:bodyPr wrap="none" lIns="0" tIns="0" rIns="0" bIns="0" rtlCol="0" anchor="t"/>
          <a:lstStyle/>
          <a:p>
            <a:pPr algn="l" indent="0" marL="0">
              <a:lnSpc>
                <a:spcPct val="96000"/>
              </a:lnSpc>
              <a:buNone/>
            </a:pPr>
            <a:r>
              <a:rPr lang="en-US" sz="600" dirty="0">
                <a:solidFill>
                  <a:srgbClr val="325F7B"/>
                </a:solidFill>
                <a:latin typeface="Source Sans 3" pitchFamily="34" charset="0"/>
                <a:ea typeface="Source Sans 3" pitchFamily="34" charset="-122"/>
                <a:cs typeface="Source Sans 3" pitchFamily="34" charset="-120"/>
              </a:rPr>
              <a:t>VALUATION ARCHITECTURE</a:t>
            </a:r>
            <a:endParaRPr lang="en-US" sz="600" dirty="0"/>
          </a:p>
        </p:txBody>
      </p:sp>
      <p:sp>
        <p:nvSpPr>
          <p:cNvPr id="4" name="Text 2"/>
          <p:cNvSpPr/>
          <p:nvPr/>
        </p:nvSpPr>
        <p:spPr>
          <a:xfrm>
            <a:off x="496119" y="547241"/>
            <a:ext cx="8151763" cy="308893"/>
          </a:xfrm>
          <a:prstGeom prst="rect">
            <a:avLst/>
          </a:prstGeom>
          <a:noFill/>
          <a:ln/>
        </p:spPr>
        <p:txBody>
          <a:bodyPr wrap="none" lIns="0" tIns="0" rIns="0" bIns="0" rtlCol="0" anchor="t"/>
          <a:lstStyle/>
          <a:p>
            <a:pPr algn="l" indent="0" marL="0">
              <a:lnSpc>
                <a:spcPct val="104000"/>
              </a:lnSpc>
              <a:buNone/>
            </a:pPr>
            <a:r>
              <a:rPr lang="en-US" sz="1900" dirty="0">
                <a:solidFill>
                  <a:srgbClr val="124E73"/>
                </a:solidFill>
                <a:latin typeface="MuseoModerno Medium" pitchFamily="34" charset="0"/>
                <a:ea typeface="MuseoModerno Medium" pitchFamily="34" charset="-122"/>
                <a:cs typeface="MuseoModerno Medium" pitchFamily="34" charset="-120"/>
              </a:rPr>
              <a:t>A Transparent Value Stack, Not a Black-Box Score</a:t>
            </a:r>
            <a:endParaRPr lang="en-US" sz="1900" dirty="0"/>
          </a:p>
        </p:txBody>
      </p:sp>
      <p:sp>
        <p:nvSpPr>
          <p:cNvPr id="5" name="Text 3"/>
          <p:cNvSpPr/>
          <p:nvPr/>
        </p:nvSpPr>
        <p:spPr>
          <a:xfrm>
            <a:off x="496119" y="974229"/>
            <a:ext cx="8151763" cy="284113"/>
          </a:xfrm>
          <a:prstGeom prst="rect">
            <a:avLst/>
          </a:prstGeom>
          <a:noFill/>
          <a:ln/>
        </p:spPr>
        <p:txBody>
          <a:bodyPr wrap="square" lIns="0" tIns="0" rIns="0" bIns="0" rtlCol="0" anchor="t">
            <a:normAutofit/>
          </a:bodyPr>
          <a:lstStyle/>
          <a:p>
            <a:pPr algn="l" indent="0" marL="0">
              <a:lnSpc>
                <a:spcPct val="120000"/>
              </a:lnSpc>
              <a:buNone/>
            </a:pPr>
            <a:r>
              <a:rPr lang="en-US" sz="750" dirty="0">
                <a:solidFill>
                  <a:srgbClr val="2B4150"/>
                </a:solidFill>
                <a:latin typeface="Source Sans 3" pitchFamily="34" charset="0"/>
                <a:ea typeface="Source Sans 3" pitchFamily="34" charset="-122"/>
                <a:cs typeface="Source Sans 3" pitchFamily="34" charset="-120"/>
              </a:rPr>
              <a:t>Sound partnership valuation requires separating value creation from value cost, then applying an explicit confidence haircut. The equation below is the backbone of every analysis in this framework. Each line item carries its own assumption register and evidence citation.</a:t>
            </a:r>
            <a:endParaRPr lang="en-US" sz="750" dirty="0"/>
          </a:p>
        </p:txBody>
      </p:sp>
      <p:sp>
        <p:nvSpPr>
          <p:cNvPr id="6" name="Text 4"/>
          <p:cNvSpPr/>
          <p:nvPr/>
        </p:nvSpPr>
        <p:spPr>
          <a:xfrm>
            <a:off x="496119" y="1425625"/>
            <a:ext cx="4626694" cy="154409"/>
          </a:xfrm>
          <a:prstGeom prst="rect">
            <a:avLst/>
          </a:prstGeom>
          <a:noFill/>
          <a:ln/>
        </p:spPr>
        <p:txBody>
          <a:bodyPr wrap="none" lIns="0" tIns="0" rIns="0" bIns="0" rtlCol="0" anchor="t"/>
          <a:lstStyle/>
          <a:p>
            <a:pPr algn="l" indent="0" marL="0">
              <a:lnSpc>
                <a:spcPct val="104000"/>
              </a:lnSpc>
              <a:buNone/>
            </a:pPr>
            <a:r>
              <a:rPr lang="en-US" sz="950" dirty="0">
                <a:solidFill>
                  <a:srgbClr val="124E73"/>
                </a:solidFill>
                <a:latin typeface="MuseoModerno Medium" pitchFamily="34" charset="0"/>
                <a:ea typeface="MuseoModerno Medium" pitchFamily="34" charset="-122"/>
                <a:cs typeface="MuseoModerno Medium" pitchFamily="34" charset="-120"/>
              </a:rPr>
              <a:t>The Value Stack Equation</a:t>
            </a:r>
            <a:endParaRPr lang="en-US" sz="95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668587"/>
            <a:ext cx="4626694" cy="1618952"/>
          </a:xfrm>
          <a:prstGeom prst="rect">
            <a:avLst/>
          </a:prstGeom>
        </p:spPr>
      </p:pic>
      <p:sp>
        <p:nvSpPr>
          <p:cNvPr id="8" name="Text 5"/>
          <p:cNvSpPr/>
          <p:nvPr/>
        </p:nvSpPr>
        <p:spPr>
          <a:xfrm>
            <a:off x="666378" y="1781696"/>
            <a:ext cx="4343326" cy="154409"/>
          </a:xfrm>
          <a:prstGeom prst="rect">
            <a:avLst/>
          </a:prstGeom>
          <a:noFill/>
          <a:ln/>
        </p:spPr>
        <p:txBody>
          <a:bodyPr wrap="none" lIns="0" tIns="0" rIns="0" bIns="0" rtlCol="0" anchor="t"/>
          <a:lstStyle/>
          <a:p>
            <a:pPr algn="l" indent="0" marL="0">
              <a:lnSpc>
                <a:spcPct val="104000"/>
              </a:lnSpc>
              <a:buNone/>
            </a:pPr>
            <a:r>
              <a:rPr lang="en-US" sz="950" dirty="0">
                <a:solidFill>
                  <a:srgbClr val="2B4150"/>
                </a:solidFill>
                <a:latin typeface="MuseoModerno Medium" pitchFamily="34" charset="0"/>
                <a:ea typeface="MuseoModerno Medium" pitchFamily="34" charset="-122"/>
                <a:cs typeface="MuseoModerno Medium" pitchFamily="34" charset="-120"/>
              </a:rPr>
              <a:t>Value Creation Components </a:t>
            </a:r>
            <a:pPr algn="l" indent="0" marL="0">
              <a:lnSpc>
                <a:spcPct val="104000"/>
              </a:lnSpc>
              <a:buNone/>
            </a:pPr>
            <a:r>
              <a:rPr lang="en-US" sz="950" dirty="0">
                <a:solidFill>
                  <a:srgbClr val="325F7B"/>
                </a:solidFill>
                <a:latin typeface="MuseoModerno Medium" pitchFamily="34" charset="0"/>
                <a:ea typeface="MuseoModerno Medium" pitchFamily="34" charset="-122"/>
                <a:cs typeface="MuseoModerno Medium" pitchFamily="34" charset="-120"/>
              </a:rPr>
              <a:t>(+)</a:t>
            </a:r>
            <a:endParaRPr lang="en-US" sz="950" dirty="0"/>
          </a:p>
        </p:txBody>
      </p:sp>
      <p:sp>
        <p:nvSpPr>
          <p:cNvPr id="9" name="Text 6"/>
          <p:cNvSpPr/>
          <p:nvPr/>
        </p:nvSpPr>
        <p:spPr>
          <a:xfrm>
            <a:off x="666378" y="2014835"/>
            <a:ext cx="4343326" cy="1159594"/>
          </a:xfrm>
          <a:prstGeom prst="rect">
            <a:avLst/>
          </a:prstGeom>
          <a:noFill/>
          <a:ln/>
        </p:spPr>
        <p:txBody>
          <a:bodyPr wrap="square" lIns="0" tIns="0" rIns="0" bIns="0" rtlCol="0" anchor="t">
            <a:normAutofit/>
          </a:bodyPr>
          <a:lstStyle/>
          <a:p>
            <a:pPr algn="l" marL="152400" indent="-152400">
              <a:lnSpc>
                <a:spcPct val="120000"/>
              </a:lnSpc>
              <a:buSzPct val="100000"/>
              <a:buChar char="•"/>
            </a:pPr>
            <a:r>
              <a:rPr lang="en-US" sz="750" b="1" dirty="0">
                <a:solidFill>
                  <a:srgbClr val="2B4150"/>
                </a:solidFill>
                <a:latin typeface="Source Sans 3 Bold" pitchFamily="34" charset="0"/>
                <a:ea typeface="Source Sans 3 Bold" pitchFamily="34" charset="-122"/>
                <a:cs typeface="Source Sans 3 Bold" pitchFamily="34" charset="-120"/>
              </a:rPr>
              <a:t>Direct financial value</a:t>
            </a:r>
            <a:pPr algn="l" marL="152400" indent="-152400">
              <a:lnSpc>
                <a:spcPct val="120000"/>
              </a:lnSpc>
              <a:buSzPct val="100000"/>
              <a:buChar char="•"/>
            </a:pPr>
            <a:r>
              <a:rPr lang="en-US" sz="750" dirty="0">
                <a:solidFill>
                  <a:srgbClr val="2B4150"/>
                </a:solidFill>
                <a:latin typeface="Source Sans 3" pitchFamily="34" charset="0"/>
                <a:ea typeface="Source Sans 3" pitchFamily="34" charset="-122"/>
                <a:cs typeface="Source Sans 3" pitchFamily="34" charset="-120"/>
              </a:rPr>
              <a:t> — contracted revenue, license fees, usage economics</a:t>
            </a:r>
            <a:endParaRPr lang="en-US" sz="750" dirty="0"/>
          </a:p>
          <a:p>
            <a:pPr algn="l" marL="152400" indent="-152400">
              <a:lnSpc>
                <a:spcPct val="120000"/>
              </a:lnSpc>
              <a:buSzPct val="100000"/>
              <a:buChar char="•"/>
            </a:pPr>
            <a:r>
              <a:rPr lang="en-US" sz="750" b="1" dirty="0">
                <a:solidFill>
                  <a:srgbClr val="2B4150"/>
                </a:solidFill>
                <a:latin typeface="Source Sans 3 Bold" pitchFamily="34" charset="0"/>
                <a:ea typeface="Source Sans 3 Bold" pitchFamily="34" charset="-122"/>
                <a:cs typeface="Source Sans 3 Bold" pitchFamily="34" charset="-120"/>
              </a:rPr>
              <a:t>Usage and customer value</a:t>
            </a:r>
            <a:pPr algn="l" marL="152400" indent="-152400">
              <a:lnSpc>
                <a:spcPct val="120000"/>
              </a:lnSpc>
              <a:buSzPct val="100000"/>
              <a:buChar char="•"/>
            </a:pPr>
            <a:r>
              <a:rPr lang="en-US" sz="750" dirty="0">
                <a:solidFill>
                  <a:srgbClr val="2B4150"/>
                </a:solidFill>
                <a:latin typeface="Source Sans 3" pitchFamily="34" charset="0"/>
                <a:ea typeface="Source Sans 3" pitchFamily="34" charset="-122"/>
                <a:cs typeface="Source Sans 3" pitchFamily="34" charset="-120"/>
              </a:rPr>
              <a:t> — incremental active users, engagement uplift, retention delta</a:t>
            </a:r>
            <a:endParaRPr lang="en-US" sz="750" dirty="0"/>
          </a:p>
          <a:p>
            <a:pPr algn="l" marL="152400" indent="-152400">
              <a:lnSpc>
                <a:spcPct val="120000"/>
              </a:lnSpc>
              <a:buSzPct val="100000"/>
              <a:buChar char="•"/>
            </a:pPr>
            <a:r>
              <a:rPr lang="en-US" sz="750" b="1" dirty="0">
                <a:solidFill>
                  <a:srgbClr val="2B4150"/>
                </a:solidFill>
                <a:latin typeface="Source Sans 3 Bold" pitchFamily="34" charset="0"/>
                <a:ea typeface="Source Sans 3 Bold" pitchFamily="34" charset="-122"/>
                <a:cs typeface="Source Sans 3 Bold" pitchFamily="34" charset="-120"/>
              </a:rPr>
              <a:t>Product capability value</a:t>
            </a:r>
            <a:pPr algn="l" marL="152400" indent="-152400">
              <a:lnSpc>
                <a:spcPct val="120000"/>
              </a:lnSpc>
              <a:buSzPct val="100000"/>
              <a:buChar char="•"/>
            </a:pPr>
            <a:r>
              <a:rPr lang="en-US" sz="750" dirty="0">
                <a:solidFill>
                  <a:srgbClr val="2B4150"/>
                </a:solidFill>
                <a:latin typeface="Source Sans 3" pitchFamily="34" charset="0"/>
                <a:ea typeface="Source Sans 3" pitchFamily="34" charset="-122"/>
                <a:cs typeface="Source Sans 3" pitchFamily="34" charset="-120"/>
              </a:rPr>
              <a:t> — capabilities acquired vs. build cost and timeline</a:t>
            </a:r>
            <a:endParaRPr lang="en-US" sz="750" dirty="0"/>
          </a:p>
          <a:p>
            <a:pPr algn="l" marL="152400" indent="-152400">
              <a:lnSpc>
                <a:spcPct val="120000"/>
              </a:lnSpc>
              <a:buSzPct val="100000"/>
              <a:buChar char="•"/>
            </a:pPr>
            <a:r>
              <a:rPr lang="en-US" sz="750" b="1" dirty="0">
                <a:solidFill>
                  <a:srgbClr val="2B4150"/>
                </a:solidFill>
                <a:latin typeface="Source Sans 3 Bold" pitchFamily="34" charset="0"/>
                <a:ea typeface="Source Sans 3 Bold" pitchFamily="34" charset="-122"/>
                <a:cs typeface="Source Sans 3 Bold" pitchFamily="34" charset="-120"/>
              </a:rPr>
              <a:t>Distribution value</a:t>
            </a:r>
            <a:pPr algn="l" marL="152400" indent="-152400">
              <a:lnSpc>
                <a:spcPct val="120000"/>
              </a:lnSpc>
              <a:buSzPct val="100000"/>
              <a:buChar char="•"/>
            </a:pPr>
            <a:r>
              <a:rPr lang="en-US" sz="750" dirty="0">
                <a:solidFill>
                  <a:srgbClr val="2B4150"/>
                </a:solidFill>
                <a:latin typeface="Source Sans 3" pitchFamily="34" charset="0"/>
                <a:ea typeface="Source Sans 3" pitchFamily="34" charset="-122"/>
                <a:cs typeface="Source Sans 3" pitchFamily="34" charset="-120"/>
              </a:rPr>
              <a:t> — incremental reach through partner enterprise channels</a:t>
            </a:r>
            <a:endParaRPr lang="en-US" sz="750" dirty="0"/>
          </a:p>
          <a:p>
            <a:pPr algn="l" marL="152400" indent="-152400">
              <a:lnSpc>
                <a:spcPct val="120000"/>
              </a:lnSpc>
              <a:buSzPct val="100000"/>
              <a:buChar char="•"/>
            </a:pPr>
            <a:r>
              <a:rPr lang="en-US" sz="750" b="1" dirty="0">
                <a:solidFill>
                  <a:srgbClr val="2B4150"/>
                </a:solidFill>
                <a:latin typeface="Source Sans 3 Bold" pitchFamily="34" charset="0"/>
                <a:ea typeface="Source Sans 3 Bold" pitchFamily="34" charset="-122"/>
                <a:cs typeface="Source Sans 3 Bold" pitchFamily="34" charset="-120"/>
              </a:rPr>
              <a:t>Strategic option value</a:t>
            </a:r>
            <a:pPr algn="l" marL="152400" indent="-152400">
              <a:lnSpc>
                <a:spcPct val="120000"/>
              </a:lnSpc>
              <a:buSzPct val="100000"/>
              <a:buChar char="•"/>
            </a:pPr>
            <a:r>
              <a:rPr lang="en-US" sz="750" dirty="0">
                <a:solidFill>
                  <a:srgbClr val="2B4150"/>
                </a:solidFill>
                <a:latin typeface="Source Sans 3" pitchFamily="34" charset="0"/>
                <a:ea typeface="Source Sans 3" pitchFamily="34" charset="-122"/>
                <a:cs typeface="Source Sans 3" pitchFamily="34" charset="-120"/>
              </a:rPr>
              <a:t> — future deal rights, preferred-partner provisions, renewal terms</a:t>
            </a:r>
            <a:endParaRPr lang="en-US" sz="750" dirty="0"/>
          </a:p>
          <a:p>
            <a:pPr algn="l" marL="152400" indent="-152400">
              <a:lnSpc>
                <a:spcPct val="120000"/>
              </a:lnSpc>
              <a:buSzPct val="100000"/>
              <a:buChar char="•"/>
            </a:pPr>
            <a:r>
              <a:rPr lang="en-US" sz="750" b="1" dirty="0">
                <a:solidFill>
                  <a:srgbClr val="2B4150"/>
                </a:solidFill>
                <a:latin typeface="Source Sans 3 Bold" pitchFamily="34" charset="0"/>
                <a:ea typeface="Source Sans 3 Bold" pitchFamily="34" charset="-122"/>
                <a:cs typeface="Source Sans 3 Bold" pitchFamily="34" charset="-120"/>
              </a:rPr>
              <a:t>Learning value</a:t>
            </a:r>
            <a:pPr algn="l" marL="152400" indent="-152400">
              <a:lnSpc>
                <a:spcPct val="120000"/>
              </a:lnSpc>
              <a:buSzPct val="100000"/>
              <a:buChar char="•"/>
            </a:pPr>
            <a:r>
              <a:rPr lang="en-US" sz="750" dirty="0">
                <a:solidFill>
                  <a:srgbClr val="2B4150"/>
                </a:solidFill>
                <a:latin typeface="Source Sans 3" pitchFamily="34" charset="0"/>
                <a:ea typeface="Source Sans 3" pitchFamily="34" charset="-122"/>
                <a:cs typeface="Source Sans 3" pitchFamily="34" charset="-120"/>
              </a:rPr>
              <a:t> — data uniqueness, model improvement, proprietary insight</a:t>
            </a:r>
            <a:endParaRPr lang="en-US" sz="750" dirty="0"/>
          </a:p>
          <a:p>
            <a:pPr algn="l" marL="152400" indent="-152400">
              <a:lnSpc>
                <a:spcPct val="120000"/>
              </a:lnSpc>
              <a:buSzPct val="100000"/>
              <a:buChar char="•"/>
            </a:pPr>
            <a:r>
              <a:rPr lang="en-US" sz="750" b="1" dirty="0">
                <a:solidFill>
                  <a:srgbClr val="2B4150"/>
                </a:solidFill>
                <a:latin typeface="Source Sans 3 Bold" pitchFamily="34" charset="0"/>
                <a:ea typeface="Source Sans 3 Bold" pitchFamily="34" charset="-122"/>
                <a:cs typeface="Source Sans 3 Bold" pitchFamily="34" charset="-120"/>
              </a:rPr>
              <a:t>Cash consideration</a:t>
            </a:r>
            <a:pPr algn="l" marL="152400" indent="-152400">
              <a:lnSpc>
                <a:spcPct val="120000"/>
              </a:lnSpc>
              <a:buSzPct val="100000"/>
              <a:buChar char="•"/>
            </a:pPr>
            <a:r>
              <a:rPr lang="en-US" sz="750" dirty="0">
                <a:solidFill>
                  <a:srgbClr val="2B4150"/>
                </a:solidFill>
                <a:latin typeface="Source Sans 3" pitchFamily="34" charset="0"/>
                <a:ea typeface="Source Sans 3" pitchFamily="34" charset="-122"/>
                <a:cs typeface="Source Sans 3" pitchFamily="34" charset="-120"/>
              </a:rPr>
              <a:t> — upfront payment, MGs, milestone payments received</a:t>
            </a:r>
            <a:endParaRPr lang="en-US" sz="75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19" y="3366269"/>
            <a:ext cx="4626694" cy="1110183"/>
          </a:xfrm>
          <a:prstGeom prst="rect">
            <a:avLst/>
          </a:prstGeom>
        </p:spPr>
      </p:pic>
      <p:sp>
        <p:nvSpPr>
          <p:cNvPr id="11" name="Text 7"/>
          <p:cNvSpPr/>
          <p:nvPr/>
        </p:nvSpPr>
        <p:spPr>
          <a:xfrm>
            <a:off x="666378" y="3479378"/>
            <a:ext cx="4343326" cy="154409"/>
          </a:xfrm>
          <a:prstGeom prst="rect">
            <a:avLst/>
          </a:prstGeom>
          <a:noFill/>
          <a:ln/>
        </p:spPr>
        <p:txBody>
          <a:bodyPr wrap="none" lIns="0" tIns="0" rIns="0" bIns="0" rtlCol="0" anchor="t"/>
          <a:lstStyle/>
          <a:p>
            <a:pPr algn="l" indent="0" marL="0">
              <a:lnSpc>
                <a:spcPct val="104000"/>
              </a:lnSpc>
              <a:buNone/>
            </a:pPr>
            <a:r>
              <a:rPr lang="en-US" sz="950" dirty="0">
                <a:solidFill>
                  <a:srgbClr val="2B4150"/>
                </a:solidFill>
                <a:latin typeface="MuseoModerno Medium" pitchFamily="34" charset="0"/>
                <a:ea typeface="MuseoModerno Medium" pitchFamily="34" charset="-122"/>
                <a:cs typeface="MuseoModerno Medium" pitchFamily="34" charset="-120"/>
              </a:rPr>
              <a:t>Value Cost Components </a:t>
            </a:r>
            <a:pPr algn="l" indent="0" marL="0">
              <a:lnSpc>
                <a:spcPct val="104000"/>
              </a:lnSpc>
              <a:buNone/>
            </a:pPr>
            <a:r>
              <a:rPr lang="en-US" sz="950" dirty="0">
                <a:solidFill>
                  <a:srgbClr val="51738C"/>
                </a:solidFill>
                <a:latin typeface="MuseoModerno Medium" pitchFamily="34" charset="0"/>
                <a:ea typeface="MuseoModerno Medium" pitchFamily="34" charset="-122"/>
                <a:cs typeface="MuseoModerno Medium" pitchFamily="34" charset="-120"/>
              </a:rPr>
              <a:t>(–)</a:t>
            </a:r>
            <a:endParaRPr lang="en-US" sz="950" dirty="0"/>
          </a:p>
        </p:txBody>
      </p:sp>
      <p:sp>
        <p:nvSpPr>
          <p:cNvPr id="12" name="Text 8"/>
          <p:cNvSpPr/>
          <p:nvPr/>
        </p:nvSpPr>
        <p:spPr>
          <a:xfrm>
            <a:off x="666378" y="3712518"/>
            <a:ext cx="4343326" cy="650825"/>
          </a:xfrm>
          <a:prstGeom prst="rect">
            <a:avLst/>
          </a:prstGeom>
          <a:noFill/>
          <a:ln/>
        </p:spPr>
        <p:txBody>
          <a:bodyPr wrap="square" lIns="0" tIns="0" rIns="0" bIns="0" rtlCol="0" anchor="t">
            <a:normAutofit/>
          </a:bodyPr>
          <a:lstStyle/>
          <a:p>
            <a:pPr algn="l" marL="152400" indent="-152400">
              <a:lnSpc>
                <a:spcPct val="120000"/>
              </a:lnSpc>
              <a:buSzPct val="100000"/>
              <a:buChar char="•"/>
            </a:pPr>
            <a:r>
              <a:rPr lang="en-US" sz="750" b="1" dirty="0">
                <a:solidFill>
                  <a:srgbClr val="2B4150"/>
                </a:solidFill>
                <a:latin typeface="Source Sans 3 Bold" pitchFamily="34" charset="0"/>
                <a:ea typeface="Source Sans 3 Bold" pitchFamily="34" charset="-122"/>
                <a:cs typeface="Source Sans 3 Bold" pitchFamily="34" charset="-120"/>
              </a:rPr>
              <a:t>Implementation cost</a:t>
            </a:r>
            <a:pPr algn="l" marL="152400" indent="-152400">
              <a:lnSpc>
                <a:spcPct val="120000"/>
              </a:lnSpc>
              <a:buSzPct val="100000"/>
              <a:buChar char="•"/>
            </a:pPr>
            <a:r>
              <a:rPr lang="en-US" sz="750" dirty="0">
                <a:solidFill>
                  <a:srgbClr val="2B4150"/>
                </a:solidFill>
                <a:latin typeface="Source Sans 3" pitchFamily="34" charset="0"/>
                <a:ea typeface="Source Sans 3" pitchFamily="34" charset="-122"/>
                <a:cs typeface="Source Sans 3" pitchFamily="34" charset="-120"/>
              </a:rPr>
              <a:t> — engineering, legal, partnership management, opportunity cost of team</a:t>
            </a:r>
            <a:endParaRPr lang="en-US" sz="750" dirty="0"/>
          </a:p>
          <a:p>
            <a:pPr algn="l" marL="152400" indent="-152400">
              <a:lnSpc>
                <a:spcPct val="120000"/>
              </a:lnSpc>
              <a:buSzPct val="100000"/>
              <a:buChar char="•"/>
            </a:pPr>
            <a:r>
              <a:rPr lang="en-US" sz="750" b="1" dirty="0">
                <a:solidFill>
                  <a:srgbClr val="2B4150"/>
                </a:solidFill>
                <a:latin typeface="Source Sans 3 Bold" pitchFamily="34" charset="0"/>
                <a:ea typeface="Source Sans 3 Bold" pitchFamily="34" charset="-122"/>
                <a:cs typeface="Source Sans 3 Bold" pitchFamily="34" charset="-120"/>
              </a:rPr>
              <a:t>Exclusivity and opportunity cost</a:t>
            </a:r>
            <a:pPr algn="l" marL="152400" indent="-152400">
              <a:lnSpc>
                <a:spcPct val="120000"/>
              </a:lnSpc>
              <a:buSzPct val="100000"/>
              <a:buChar char="•"/>
            </a:pPr>
            <a:r>
              <a:rPr lang="en-US" sz="750" dirty="0">
                <a:solidFill>
                  <a:srgbClr val="2B4150"/>
                </a:solidFill>
                <a:latin typeface="Source Sans 3" pitchFamily="34" charset="0"/>
                <a:ea typeface="Source Sans 3" pitchFamily="34" charset="-122"/>
                <a:cs typeface="Source Sans 3" pitchFamily="34" charset="-120"/>
              </a:rPr>
              <a:t> — market foreclosed, alternative deals foregone</a:t>
            </a:r>
            <a:endParaRPr lang="en-US" sz="750" dirty="0"/>
          </a:p>
          <a:p>
            <a:pPr algn="l" marL="152400" indent="-152400">
              <a:lnSpc>
                <a:spcPct val="120000"/>
              </a:lnSpc>
              <a:buSzPct val="100000"/>
              <a:buChar char="•"/>
            </a:pPr>
            <a:r>
              <a:rPr lang="en-US" sz="750" b="1" dirty="0">
                <a:solidFill>
                  <a:srgbClr val="2B4150"/>
                </a:solidFill>
                <a:latin typeface="Source Sans 3 Bold" pitchFamily="34" charset="0"/>
                <a:ea typeface="Source Sans 3 Bold" pitchFamily="34" charset="-122"/>
                <a:cs typeface="Source Sans 3 Bold" pitchFamily="34" charset="-120"/>
              </a:rPr>
              <a:t>Expected risk cost</a:t>
            </a:r>
            <a:pPr algn="l" marL="152400" indent="-152400">
              <a:lnSpc>
                <a:spcPct val="120000"/>
              </a:lnSpc>
              <a:buSzPct val="100000"/>
              <a:buChar char="•"/>
            </a:pPr>
            <a:r>
              <a:rPr lang="en-US" sz="750" dirty="0">
                <a:solidFill>
                  <a:srgbClr val="2B4150"/>
                </a:solidFill>
                <a:latin typeface="Source Sans 3" pitchFamily="34" charset="0"/>
                <a:ea typeface="Source Sans 3" pitchFamily="34" charset="-122"/>
                <a:cs typeface="Source Sans 3" pitchFamily="34" charset="-120"/>
              </a:rPr>
              <a:t> — probability-weighted downside scenarios</a:t>
            </a:r>
            <a:endParaRPr lang="en-US" sz="750" dirty="0"/>
          </a:p>
          <a:p>
            <a:pPr algn="l" marL="152400" indent="-152400">
              <a:lnSpc>
                <a:spcPct val="120000"/>
              </a:lnSpc>
              <a:buSzPct val="100000"/>
              <a:buChar char="•"/>
            </a:pPr>
            <a:r>
              <a:rPr lang="en-US" sz="750" b="1" dirty="0">
                <a:solidFill>
                  <a:srgbClr val="2B4150"/>
                </a:solidFill>
                <a:latin typeface="Source Sans 3 Bold" pitchFamily="34" charset="0"/>
                <a:ea typeface="Source Sans 3 Bold" pitchFamily="34" charset="-122"/>
                <a:cs typeface="Source Sans 3 Bold" pitchFamily="34" charset="-120"/>
              </a:rPr>
              <a:t>Concentration and lock-in cost</a:t>
            </a:r>
            <a:pPr algn="l" marL="152400" indent="-152400">
              <a:lnSpc>
                <a:spcPct val="120000"/>
              </a:lnSpc>
              <a:buSzPct val="100000"/>
              <a:buChar char="•"/>
            </a:pPr>
            <a:r>
              <a:rPr lang="en-US" sz="750" dirty="0">
                <a:solidFill>
                  <a:srgbClr val="2B4150"/>
                </a:solidFill>
                <a:latin typeface="Source Sans 3" pitchFamily="34" charset="0"/>
                <a:ea typeface="Source Sans 3" pitchFamily="34" charset="-122"/>
                <a:cs typeface="Source Sans 3" pitchFamily="34" charset="-120"/>
              </a:rPr>
              <a:t> — single-partner dependency, switching cost</a:t>
            </a:r>
            <a:endParaRPr lang="en-US" sz="750" dirty="0"/>
          </a:p>
        </p:txBody>
      </p:sp>
      <p:sp>
        <p:nvSpPr>
          <p:cNvPr id="13" name="Text 9"/>
          <p:cNvSpPr/>
          <p:nvPr/>
        </p:nvSpPr>
        <p:spPr>
          <a:xfrm>
            <a:off x="496119" y="4565005"/>
            <a:ext cx="5083894" cy="142056"/>
          </a:xfrm>
          <a:prstGeom prst="rect">
            <a:avLst/>
          </a:prstGeom>
          <a:noFill/>
          <a:ln/>
        </p:spPr>
        <p:txBody>
          <a:bodyPr wrap="none" lIns="0" tIns="0" rIns="0" bIns="0" rtlCol="0" anchor="t"/>
          <a:lstStyle/>
          <a:p>
            <a:pPr algn="l" indent="0" marL="0">
              <a:lnSpc>
                <a:spcPct val="120000"/>
              </a:lnSpc>
              <a:buNone/>
            </a:pPr>
            <a:r>
              <a:rPr lang="en-US" sz="750" b="1" dirty="0">
                <a:solidFill>
                  <a:srgbClr val="2B4150"/>
                </a:solidFill>
                <a:latin typeface="Source Sans 3 Bold" pitchFamily="34" charset="0"/>
                <a:ea typeface="Source Sans 3 Bold" pitchFamily="34" charset="-122"/>
                <a:cs typeface="Source Sans 3 Bold" pitchFamily="34" charset="-120"/>
              </a:rPr>
              <a:t>Gross Partnership Value</a:t>
            </a:r>
            <a:pPr algn="l" indent="0" marL="0">
              <a:lnSpc>
                <a:spcPct val="120000"/>
              </a:lnSpc>
              <a:buNone/>
            </a:pPr>
            <a:r>
              <a:rPr lang="en-US" sz="750" dirty="0">
                <a:solidFill>
                  <a:srgbClr val="2B4150"/>
                </a:solidFill>
                <a:latin typeface="Source Sans 3" pitchFamily="34" charset="0"/>
                <a:ea typeface="Source Sans 3" pitchFamily="34" charset="-122"/>
                <a:cs typeface="Source Sans 3" pitchFamily="34" charset="-120"/>
              </a:rPr>
              <a:t> × </a:t>
            </a:r>
            <a:pPr algn="l" indent="0" marL="0">
              <a:lnSpc>
                <a:spcPct val="120000"/>
              </a:lnSpc>
              <a:buNone/>
            </a:pPr>
            <a:r>
              <a:rPr lang="en-US" sz="750" b="1" dirty="0">
                <a:solidFill>
                  <a:srgbClr val="2B4150"/>
                </a:solidFill>
                <a:latin typeface="Source Sans 3 Bold" pitchFamily="34" charset="0"/>
                <a:ea typeface="Source Sans 3 Bold" pitchFamily="34" charset="-122"/>
                <a:cs typeface="Source Sans 3 Bold" pitchFamily="34" charset="-120"/>
              </a:rPr>
              <a:t>Confidence Factor</a:t>
            </a:r>
            <a:pPr algn="l" indent="0" marL="0">
              <a:lnSpc>
                <a:spcPct val="120000"/>
              </a:lnSpc>
              <a:buNone/>
            </a:pPr>
            <a:r>
              <a:rPr lang="en-US" sz="750" dirty="0">
                <a:solidFill>
                  <a:srgbClr val="2B4150"/>
                </a:solidFill>
                <a:latin typeface="Source Sans 3" pitchFamily="34" charset="0"/>
                <a:ea typeface="Source Sans 3" pitchFamily="34" charset="-122"/>
                <a:cs typeface="Source Sans 3" pitchFamily="34" charset="-120"/>
              </a:rPr>
              <a:t> = </a:t>
            </a:r>
            <a:pPr algn="l" indent="0" marL="0">
              <a:lnSpc>
                <a:spcPct val="120000"/>
              </a:lnSpc>
              <a:buNone/>
            </a:pPr>
            <a:r>
              <a:rPr lang="en-US" sz="750" b="1" dirty="0">
                <a:solidFill>
                  <a:srgbClr val="2B4150"/>
                </a:solidFill>
                <a:latin typeface="Source Sans 3 Bold" pitchFamily="34" charset="0"/>
                <a:ea typeface="Source Sans 3 Bold" pitchFamily="34" charset="-122"/>
                <a:cs typeface="Source Sans 3 Bold" pitchFamily="34" charset="-120"/>
              </a:rPr>
              <a:t>Confidence-Adjusted Partnership Value</a:t>
            </a:r>
            <a:endParaRPr lang="en-US" sz="750" dirty="0"/>
          </a:p>
        </p:txBody>
      </p:sp>
      <p:sp>
        <p:nvSpPr>
          <p:cNvPr id="14" name="Text 10"/>
          <p:cNvSpPr/>
          <p:nvPr/>
        </p:nvSpPr>
        <p:spPr>
          <a:xfrm>
            <a:off x="5368677" y="1425625"/>
            <a:ext cx="3283893" cy="154409"/>
          </a:xfrm>
          <a:prstGeom prst="rect">
            <a:avLst/>
          </a:prstGeom>
          <a:noFill/>
          <a:ln/>
        </p:spPr>
        <p:txBody>
          <a:bodyPr wrap="none" lIns="0" tIns="0" rIns="0" bIns="0" rtlCol="0" anchor="t"/>
          <a:lstStyle/>
          <a:p>
            <a:pPr algn="l" indent="0" marL="0">
              <a:lnSpc>
                <a:spcPct val="104000"/>
              </a:lnSpc>
              <a:buNone/>
            </a:pPr>
            <a:r>
              <a:rPr lang="en-US" sz="950" dirty="0">
                <a:solidFill>
                  <a:srgbClr val="124E73"/>
                </a:solidFill>
                <a:latin typeface="MuseoModerno Medium" pitchFamily="34" charset="0"/>
                <a:ea typeface="MuseoModerno Medium" pitchFamily="34" charset="-122"/>
                <a:cs typeface="MuseoModerno Medium" pitchFamily="34" charset="-120"/>
              </a:rPr>
              <a:t>Five Confidence Dimensions</a:t>
            </a:r>
            <a:endParaRPr lang="en-US" sz="950" dirty="0"/>
          </a:p>
        </p:txBody>
      </p:sp>
      <p:sp>
        <p:nvSpPr>
          <p:cNvPr id="15" name="Text 11"/>
          <p:cNvSpPr/>
          <p:nvPr/>
        </p:nvSpPr>
        <p:spPr>
          <a:xfrm>
            <a:off x="5368677" y="1658764"/>
            <a:ext cx="3283893" cy="426169"/>
          </a:xfrm>
          <a:prstGeom prst="rect">
            <a:avLst/>
          </a:prstGeom>
          <a:noFill/>
          <a:ln/>
        </p:spPr>
        <p:txBody>
          <a:bodyPr wrap="square" lIns="0" tIns="0" rIns="0" bIns="0" rtlCol="0" anchor="t">
            <a:normAutofit/>
          </a:bodyPr>
          <a:lstStyle/>
          <a:p>
            <a:pPr algn="l" indent="0" marL="0">
              <a:lnSpc>
                <a:spcPct val="120000"/>
              </a:lnSpc>
              <a:buNone/>
            </a:pPr>
            <a:r>
              <a:rPr lang="en-US" sz="750" dirty="0">
                <a:solidFill>
                  <a:srgbClr val="2B4150"/>
                </a:solidFill>
                <a:latin typeface="Source Sans 3" pitchFamily="34" charset="0"/>
                <a:ea typeface="Source Sans 3" pitchFamily="34" charset="-122"/>
                <a:cs typeface="Source Sans 3" pitchFamily="34" charset="-120"/>
              </a:rPr>
              <a:t>The confidence factor is not a gut-check discount. It is the product of five structured assessments, each scored independently and aggregated. A factor below 0.60 signals insufficient diligence to proceed.</a:t>
            </a:r>
            <a:endParaRPr lang="en-US" sz="750" dirty="0"/>
          </a:p>
        </p:txBody>
      </p:sp>
      <p:sp>
        <p:nvSpPr>
          <p:cNvPr id="16" name="Shape 12"/>
          <p:cNvSpPr/>
          <p:nvPr/>
        </p:nvSpPr>
        <p:spPr>
          <a:xfrm>
            <a:off x="5368677" y="2173486"/>
            <a:ext cx="1602581" cy="714896"/>
          </a:xfrm>
          <a:prstGeom prst="roundRect">
            <a:avLst>
              <a:gd name="adj" fmla="val 2074"/>
            </a:avLst>
          </a:prstGeom>
          <a:solidFill>
            <a:srgbClr val="F3EEE3"/>
          </a:solidFill>
          <a:ln/>
        </p:spPr>
      </p:sp>
      <p:sp>
        <p:nvSpPr>
          <p:cNvPr id="17" name="Text 13"/>
          <p:cNvSpPr/>
          <p:nvPr/>
        </p:nvSpPr>
        <p:spPr>
          <a:xfrm>
            <a:off x="5467499" y="2272308"/>
            <a:ext cx="1404938" cy="154409"/>
          </a:xfrm>
          <a:prstGeom prst="rect">
            <a:avLst/>
          </a:prstGeom>
          <a:noFill/>
          <a:ln/>
        </p:spPr>
        <p:txBody>
          <a:bodyPr wrap="none" lIns="0" tIns="0" rIns="0" bIns="0" rtlCol="0" anchor="t"/>
          <a:lstStyle/>
          <a:p>
            <a:pPr algn="l" indent="0" marL="0">
              <a:lnSpc>
                <a:spcPct val="104000"/>
              </a:lnSpc>
              <a:buNone/>
            </a:pPr>
            <a:r>
              <a:rPr lang="en-US" sz="950" dirty="0">
                <a:solidFill>
                  <a:srgbClr val="2B4150"/>
                </a:solidFill>
                <a:latin typeface="MuseoModerno Medium" pitchFamily="34" charset="0"/>
                <a:ea typeface="MuseoModerno Medium" pitchFamily="34" charset="-122"/>
                <a:cs typeface="MuseoModerno Medium" pitchFamily="34" charset="-120"/>
              </a:rPr>
              <a:t>Evidence Quality</a:t>
            </a:r>
            <a:endParaRPr lang="en-US" sz="950" dirty="0"/>
          </a:p>
        </p:txBody>
      </p:sp>
      <p:sp>
        <p:nvSpPr>
          <p:cNvPr id="18" name="Text 14"/>
          <p:cNvSpPr/>
          <p:nvPr/>
        </p:nvSpPr>
        <p:spPr>
          <a:xfrm>
            <a:off x="5467499" y="2505447"/>
            <a:ext cx="1404938" cy="284113"/>
          </a:xfrm>
          <a:prstGeom prst="rect">
            <a:avLst/>
          </a:prstGeom>
          <a:noFill/>
          <a:ln/>
        </p:spPr>
        <p:txBody>
          <a:bodyPr wrap="square" lIns="0" tIns="0" rIns="0" bIns="0" rtlCol="0" anchor="t">
            <a:normAutofit/>
          </a:bodyPr>
          <a:lstStyle/>
          <a:p>
            <a:pPr algn="l" indent="0" marL="0">
              <a:lnSpc>
                <a:spcPct val="120000"/>
              </a:lnSpc>
              <a:buNone/>
            </a:pPr>
            <a:r>
              <a:rPr lang="en-US" sz="750" dirty="0">
                <a:solidFill>
                  <a:srgbClr val="2B4150"/>
                </a:solidFill>
                <a:latin typeface="Source Sans 3" pitchFamily="34" charset="0"/>
                <a:ea typeface="Source Sans 3" pitchFamily="34" charset="-122"/>
                <a:cs typeface="Source Sans 3" pitchFamily="34" charset="-120"/>
              </a:rPr>
              <a:t>Are the underlying data points auditable, primary, or inferred?</a:t>
            </a:r>
            <a:endParaRPr lang="en-US" sz="750" dirty="0"/>
          </a:p>
        </p:txBody>
      </p:sp>
      <p:sp>
        <p:nvSpPr>
          <p:cNvPr id="19" name="Shape 15"/>
          <p:cNvSpPr/>
          <p:nvPr/>
        </p:nvSpPr>
        <p:spPr>
          <a:xfrm>
            <a:off x="7049988" y="2173486"/>
            <a:ext cx="1602581" cy="714896"/>
          </a:xfrm>
          <a:prstGeom prst="roundRect">
            <a:avLst>
              <a:gd name="adj" fmla="val 2074"/>
            </a:avLst>
          </a:prstGeom>
          <a:solidFill>
            <a:srgbClr val="F3EEE3"/>
          </a:solidFill>
          <a:ln/>
        </p:spPr>
      </p:sp>
      <p:sp>
        <p:nvSpPr>
          <p:cNvPr id="20" name="Text 16"/>
          <p:cNvSpPr/>
          <p:nvPr/>
        </p:nvSpPr>
        <p:spPr>
          <a:xfrm>
            <a:off x="7148810" y="2272308"/>
            <a:ext cx="1404938" cy="154409"/>
          </a:xfrm>
          <a:prstGeom prst="rect">
            <a:avLst/>
          </a:prstGeom>
          <a:noFill/>
          <a:ln/>
        </p:spPr>
        <p:txBody>
          <a:bodyPr wrap="none" lIns="0" tIns="0" rIns="0" bIns="0" rtlCol="0" anchor="t"/>
          <a:lstStyle/>
          <a:p>
            <a:pPr algn="l" indent="0" marL="0">
              <a:lnSpc>
                <a:spcPct val="104000"/>
              </a:lnSpc>
              <a:buNone/>
            </a:pPr>
            <a:r>
              <a:rPr lang="en-US" sz="950" dirty="0">
                <a:solidFill>
                  <a:srgbClr val="2B4150"/>
                </a:solidFill>
                <a:latin typeface="MuseoModerno Medium" pitchFamily="34" charset="0"/>
                <a:ea typeface="MuseoModerno Medium" pitchFamily="34" charset="-122"/>
                <a:cs typeface="MuseoModerno Medium" pitchFamily="34" charset="-120"/>
              </a:rPr>
              <a:t>Assumption Stability</a:t>
            </a:r>
            <a:endParaRPr lang="en-US" sz="950" dirty="0"/>
          </a:p>
        </p:txBody>
      </p:sp>
      <p:sp>
        <p:nvSpPr>
          <p:cNvPr id="21" name="Text 17"/>
          <p:cNvSpPr/>
          <p:nvPr/>
        </p:nvSpPr>
        <p:spPr>
          <a:xfrm>
            <a:off x="7148810" y="2505447"/>
            <a:ext cx="1404938" cy="284113"/>
          </a:xfrm>
          <a:prstGeom prst="rect">
            <a:avLst/>
          </a:prstGeom>
          <a:noFill/>
          <a:ln/>
        </p:spPr>
        <p:txBody>
          <a:bodyPr wrap="square" lIns="0" tIns="0" rIns="0" bIns="0" rtlCol="0" anchor="t">
            <a:normAutofit/>
          </a:bodyPr>
          <a:lstStyle/>
          <a:p>
            <a:pPr algn="l" indent="0" marL="0">
              <a:lnSpc>
                <a:spcPct val="120000"/>
              </a:lnSpc>
              <a:buNone/>
            </a:pPr>
            <a:r>
              <a:rPr lang="en-US" sz="750" dirty="0">
                <a:solidFill>
                  <a:srgbClr val="2B4150"/>
                </a:solidFill>
                <a:latin typeface="Source Sans 3" pitchFamily="34" charset="0"/>
                <a:ea typeface="Source Sans 3" pitchFamily="34" charset="-122"/>
                <a:cs typeface="Source Sans 3" pitchFamily="34" charset="-120"/>
              </a:rPr>
              <a:t>How sensitive is the valuation to changes in key assumptions?</a:t>
            </a:r>
            <a:endParaRPr lang="en-US" sz="750" dirty="0"/>
          </a:p>
        </p:txBody>
      </p:sp>
      <p:sp>
        <p:nvSpPr>
          <p:cNvPr id="22" name="Shape 18"/>
          <p:cNvSpPr/>
          <p:nvPr/>
        </p:nvSpPr>
        <p:spPr>
          <a:xfrm>
            <a:off x="5368677" y="2967112"/>
            <a:ext cx="1602581" cy="1011362"/>
          </a:xfrm>
          <a:prstGeom prst="roundRect">
            <a:avLst>
              <a:gd name="adj" fmla="val 1466"/>
            </a:avLst>
          </a:prstGeom>
          <a:solidFill>
            <a:srgbClr val="F3EEE3"/>
          </a:solidFill>
          <a:ln/>
        </p:spPr>
      </p:sp>
      <p:sp>
        <p:nvSpPr>
          <p:cNvPr id="23" name="Text 19"/>
          <p:cNvSpPr/>
          <p:nvPr/>
        </p:nvSpPr>
        <p:spPr>
          <a:xfrm>
            <a:off x="5467499" y="3065934"/>
            <a:ext cx="1404938" cy="154409"/>
          </a:xfrm>
          <a:prstGeom prst="rect">
            <a:avLst/>
          </a:prstGeom>
          <a:noFill/>
          <a:ln/>
        </p:spPr>
        <p:txBody>
          <a:bodyPr wrap="none" lIns="0" tIns="0" rIns="0" bIns="0" rtlCol="0" anchor="t"/>
          <a:lstStyle/>
          <a:p>
            <a:pPr algn="l" indent="0" marL="0">
              <a:lnSpc>
                <a:spcPct val="104000"/>
              </a:lnSpc>
              <a:buNone/>
            </a:pPr>
            <a:r>
              <a:rPr lang="en-US" sz="950" dirty="0">
                <a:solidFill>
                  <a:srgbClr val="2B4150"/>
                </a:solidFill>
                <a:latin typeface="MuseoModerno Medium" pitchFamily="34" charset="0"/>
                <a:ea typeface="MuseoModerno Medium" pitchFamily="34" charset="-122"/>
                <a:cs typeface="MuseoModerno Medium" pitchFamily="34" charset="-120"/>
              </a:rPr>
              <a:t>Comparable Quality</a:t>
            </a:r>
            <a:endParaRPr lang="en-US" sz="950" dirty="0"/>
          </a:p>
        </p:txBody>
      </p:sp>
      <p:sp>
        <p:nvSpPr>
          <p:cNvPr id="24" name="Text 20"/>
          <p:cNvSpPr/>
          <p:nvPr/>
        </p:nvSpPr>
        <p:spPr>
          <a:xfrm>
            <a:off x="5467499" y="3299073"/>
            <a:ext cx="1404938" cy="284113"/>
          </a:xfrm>
          <a:prstGeom prst="rect">
            <a:avLst/>
          </a:prstGeom>
          <a:noFill/>
          <a:ln/>
        </p:spPr>
        <p:txBody>
          <a:bodyPr wrap="square" lIns="0" tIns="0" rIns="0" bIns="0" rtlCol="0" anchor="t">
            <a:normAutofit/>
          </a:bodyPr>
          <a:lstStyle/>
          <a:p>
            <a:pPr algn="l" indent="0" marL="0">
              <a:lnSpc>
                <a:spcPct val="120000"/>
              </a:lnSpc>
              <a:buNone/>
            </a:pPr>
            <a:r>
              <a:rPr lang="en-US" sz="750" dirty="0">
                <a:solidFill>
                  <a:srgbClr val="2B4150"/>
                </a:solidFill>
                <a:latin typeface="Source Sans 3" pitchFamily="34" charset="0"/>
                <a:ea typeface="Source Sans 3" pitchFamily="34" charset="-122"/>
                <a:cs typeface="Source Sans 3" pitchFamily="34" charset="-120"/>
              </a:rPr>
              <a:t>How structurally similar are available benchmarks?</a:t>
            </a:r>
            <a:endParaRPr lang="en-US" sz="750" dirty="0"/>
          </a:p>
        </p:txBody>
      </p:sp>
      <p:sp>
        <p:nvSpPr>
          <p:cNvPr id="25" name="Shape 21"/>
          <p:cNvSpPr/>
          <p:nvPr/>
        </p:nvSpPr>
        <p:spPr>
          <a:xfrm>
            <a:off x="7049988" y="2967112"/>
            <a:ext cx="1602581" cy="1011362"/>
          </a:xfrm>
          <a:prstGeom prst="roundRect">
            <a:avLst>
              <a:gd name="adj" fmla="val 1466"/>
            </a:avLst>
          </a:prstGeom>
          <a:solidFill>
            <a:srgbClr val="F3EEE3"/>
          </a:solidFill>
          <a:ln/>
        </p:spPr>
      </p:sp>
      <p:sp>
        <p:nvSpPr>
          <p:cNvPr id="26" name="Text 22"/>
          <p:cNvSpPr/>
          <p:nvPr/>
        </p:nvSpPr>
        <p:spPr>
          <a:xfrm>
            <a:off x="7148810" y="3065934"/>
            <a:ext cx="1404938" cy="308818"/>
          </a:xfrm>
          <a:prstGeom prst="rect">
            <a:avLst/>
          </a:prstGeom>
          <a:noFill/>
          <a:ln/>
        </p:spPr>
        <p:txBody>
          <a:bodyPr wrap="square" lIns="0" tIns="0" rIns="0" bIns="0" rtlCol="0" anchor="t">
            <a:normAutofit/>
          </a:bodyPr>
          <a:lstStyle/>
          <a:p>
            <a:pPr algn="l" indent="0" marL="0">
              <a:lnSpc>
                <a:spcPct val="104000"/>
              </a:lnSpc>
              <a:buNone/>
            </a:pPr>
            <a:r>
              <a:rPr lang="en-US" sz="950" dirty="0">
                <a:solidFill>
                  <a:srgbClr val="2B4150"/>
                </a:solidFill>
                <a:latin typeface="MuseoModerno Medium" pitchFamily="34" charset="0"/>
                <a:ea typeface="MuseoModerno Medium" pitchFamily="34" charset="-122"/>
                <a:cs typeface="MuseoModerno Medium" pitchFamily="34" charset="-120"/>
              </a:rPr>
              <a:t>Implementation Certainty</a:t>
            </a:r>
            <a:endParaRPr lang="en-US" sz="950" dirty="0"/>
          </a:p>
        </p:txBody>
      </p:sp>
      <p:sp>
        <p:nvSpPr>
          <p:cNvPr id="27" name="Text 23"/>
          <p:cNvSpPr/>
          <p:nvPr/>
        </p:nvSpPr>
        <p:spPr>
          <a:xfrm>
            <a:off x="7148810" y="3453482"/>
            <a:ext cx="1404938" cy="426169"/>
          </a:xfrm>
          <a:prstGeom prst="rect">
            <a:avLst/>
          </a:prstGeom>
          <a:noFill/>
          <a:ln/>
        </p:spPr>
        <p:txBody>
          <a:bodyPr wrap="square" lIns="0" tIns="0" rIns="0" bIns="0" rtlCol="0" anchor="t">
            <a:normAutofit/>
          </a:bodyPr>
          <a:lstStyle/>
          <a:p>
            <a:pPr algn="l" indent="0" marL="0">
              <a:lnSpc>
                <a:spcPct val="120000"/>
              </a:lnSpc>
              <a:buNone/>
            </a:pPr>
            <a:r>
              <a:rPr lang="en-US" sz="750" dirty="0">
                <a:solidFill>
                  <a:srgbClr val="2B4150"/>
                </a:solidFill>
                <a:latin typeface="Source Sans 3" pitchFamily="34" charset="0"/>
                <a:ea typeface="Source Sans 3" pitchFamily="34" charset="-122"/>
                <a:cs typeface="Source Sans 3" pitchFamily="34" charset="-120"/>
              </a:rPr>
              <a:t>How well-defined is the integration scope and resource plan?</a:t>
            </a:r>
            <a:endParaRPr lang="en-US" sz="750" dirty="0"/>
          </a:p>
        </p:txBody>
      </p:sp>
      <p:sp>
        <p:nvSpPr>
          <p:cNvPr id="28" name="Shape 24"/>
          <p:cNvSpPr/>
          <p:nvPr/>
        </p:nvSpPr>
        <p:spPr>
          <a:xfrm>
            <a:off x="5368677" y="4057204"/>
            <a:ext cx="3283893" cy="572839"/>
          </a:xfrm>
          <a:prstGeom prst="roundRect">
            <a:avLst>
              <a:gd name="adj" fmla="val 2588"/>
            </a:avLst>
          </a:prstGeom>
          <a:solidFill>
            <a:srgbClr val="F3EEE3"/>
          </a:solidFill>
          <a:ln/>
        </p:spPr>
      </p:sp>
      <p:sp>
        <p:nvSpPr>
          <p:cNvPr id="29" name="Text 25"/>
          <p:cNvSpPr/>
          <p:nvPr/>
        </p:nvSpPr>
        <p:spPr>
          <a:xfrm>
            <a:off x="5467499" y="4156025"/>
            <a:ext cx="3086249" cy="154409"/>
          </a:xfrm>
          <a:prstGeom prst="rect">
            <a:avLst/>
          </a:prstGeom>
          <a:noFill/>
          <a:ln/>
        </p:spPr>
        <p:txBody>
          <a:bodyPr wrap="none" lIns="0" tIns="0" rIns="0" bIns="0" rtlCol="0" anchor="t"/>
          <a:lstStyle/>
          <a:p>
            <a:pPr algn="l" indent="0" marL="0">
              <a:lnSpc>
                <a:spcPct val="104000"/>
              </a:lnSpc>
              <a:buNone/>
            </a:pPr>
            <a:r>
              <a:rPr lang="en-US" sz="950" dirty="0">
                <a:solidFill>
                  <a:srgbClr val="2B4150"/>
                </a:solidFill>
                <a:latin typeface="MuseoModerno Medium" pitchFamily="34" charset="0"/>
                <a:ea typeface="MuseoModerno Medium" pitchFamily="34" charset="-122"/>
                <a:cs typeface="MuseoModerno Medium" pitchFamily="34" charset="-120"/>
              </a:rPr>
              <a:t>Partner Execution Confidence</a:t>
            </a:r>
            <a:endParaRPr lang="en-US" sz="950" dirty="0"/>
          </a:p>
        </p:txBody>
      </p:sp>
      <p:sp>
        <p:nvSpPr>
          <p:cNvPr id="30" name="Text 26"/>
          <p:cNvSpPr/>
          <p:nvPr/>
        </p:nvSpPr>
        <p:spPr>
          <a:xfrm>
            <a:off x="5467499" y="4389165"/>
            <a:ext cx="3086249" cy="142056"/>
          </a:xfrm>
          <a:prstGeom prst="rect">
            <a:avLst/>
          </a:prstGeom>
          <a:noFill/>
          <a:ln/>
        </p:spPr>
        <p:txBody>
          <a:bodyPr wrap="none" lIns="0" tIns="0" rIns="0" bIns="0" rtlCol="0" anchor="t"/>
          <a:lstStyle/>
          <a:p>
            <a:pPr algn="l" indent="0" marL="0">
              <a:lnSpc>
                <a:spcPct val="120000"/>
              </a:lnSpc>
              <a:buNone/>
            </a:pPr>
            <a:r>
              <a:rPr lang="en-US" sz="750" dirty="0">
                <a:solidFill>
                  <a:srgbClr val="2B4150"/>
                </a:solidFill>
                <a:latin typeface="Source Sans 3" pitchFamily="34" charset="0"/>
                <a:ea typeface="Source Sans 3" pitchFamily="34" charset="-122"/>
                <a:cs typeface="Source Sans 3" pitchFamily="34" charset="-120"/>
              </a:rPr>
              <a:t>What is the evidence base for partner delivery track record?</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96119" y="426765"/>
            <a:ext cx="1639565" cy="141387"/>
          </a:xfrm>
          <a:prstGeom prst="roundRect">
            <a:avLst>
              <a:gd name="adj" fmla="val 7896"/>
            </a:avLst>
          </a:prstGeom>
          <a:noFill/>
          <a:ln w="4763">
            <a:solidFill>
              <a:srgbClr val="325F7B"/>
            </a:solidFill>
            <a:prstDash val="solid"/>
          </a:ln>
        </p:spPr>
      </p:sp>
      <p:sp>
        <p:nvSpPr>
          <p:cNvPr id="3" name="Text 1"/>
          <p:cNvSpPr/>
          <p:nvPr/>
        </p:nvSpPr>
        <p:spPr>
          <a:xfrm>
            <a:off x="551929" y="454670"/>
            <a:ext cx="1985144" cy="85576"/>
          </a:xfrm>
          <a:prstGeom prst="rect">
            <a:avLst/>
          </a:prstGeom>
          <a:noFill/>
          <a:ln/>
        </p:spPr>
        <p:txBody>
          <a:bodyPr wrap="none" lIns="0" tIns="0" rIns="0" bIns="0" rtlCol="0" anchor="t"/>
          <a:lstStyle/>
          <a:p>
            <a:pPr algn="l" indent="0" marL="0">
              <a:lnSpc>
                <a:spcPct val="96000"/>
              </a:lnSpc>
              <a:buNone/>
            </a:pPr>
            <a:r>
              <a:rPr lang="en-US" sz="550" dirty="0">
                <a:solidFill>
                  <a:srgbClr val="325F7B"/>
                </a:solidFill>
                <a:latin typeface="Source Sans 3" pitchFamily="34" charset="0"/>
                <a:ea typeface="Source Sans 3" pitchFamily="34" charset="-122"/>
                <a:cs typeface="Source Sans 3" pitchFamily="34" charset="-120"/>
              </a:rPr>
              <a:t>SYNTHETIC CASE — ATLAS KNOWLEDGE SYSTEMS</a:t>
            </a:r>
            <a:endParaRPr lang="en-US" sz="550" dirty="0"/>
          </a:p>
        </p:txBody>
      </p:sp>
      <p:sp>
        <p:nvSpPr>
          <p:cNvPr id="4" name="Text 2"/>
          <p:cNvSpPr/>
          <p:nvPr/>
        </p:nvSpPr>
        <p:spPr>
          <a:xfrm>
            <a:off x="496119" y="596057"/>
            <a:ext cx="8151763" cy="290736"/>
          </a:xfrm>
          <a:prstGeom prst="rect">
            <a:avLst/>
          </a:prstGeom>
          <a:noFill/>
          <a:ln/>
        </p:spPr>
        <p:txBody>
          <a:bodyPr wrap="none" lIns="0" tIns="0" rIns="0" bIns="0" rtlCol="0" anchor="t"/>
          <a:lstStyle/>
          <a:p>
            <a:pPr algn="l" indent="0" marL="0">
              <a:lnSpc>
                <a:spcPct val="104000"/>
              </a:lnSpc>
              <a:buNone/>
            </a:pPr>
            <a:r>
              <a:rPr lang="en-US" sz="1800" dirty="0">
                <a:solidFill>
                  <a:srgbClr val="124E73"/>
                </a:solidFill>
                <a:latin typeface="MuseoModerno Medium" pitchFamily="34" charset="0"/>
                <a:ea typeface="MuseoModerno Medium" pitchFamily="34" charset="-122"/>
                <a:cs typeface="MuseoModerno Medium" pitchFamily="34" charset="-120"/>
              </a:rPr>
              <a:t>Atlas Proposal: Attractive Upside, Expensive Commitment</a:t>
            </a:r>
            <a:endParaRPr lang="en-US" sz="1800" dirty="0"/>
          </a:p>
        </p:txBody>
      </p:sp>
      <p:sp>
        <p:nvSpPr>
          <p:cNvPr id="5" name="Text 3"/>
          <p:cNvSpPr/>
          <p:nvPr/>
        </p:nvSpPr>
        <p:spPr>
          <a:xfrm>
            <a:off x="496119" y="991419"/>
            <a:ext cx="8151763" cy="260449"/>
          </a:xfrm>
          <a:prstGeom prst="rect">
            <a:avLst/>
          </a:prstGeom>
          <a:noFill/>
          <a:ln/>
        </p:spPr>
        <p:txBody>
          <a:bodyPr wrap="square" lIns="0" tIns="0" rIns="0" bIns="0" rtlCol="0" anchor="t">
            <a:normAutofit/>
          </a:bodyPr>
          <a:lstStyle/>
          <a:p>
            <a:pPr algn="l" indent="0" marL="0">
              <a:lnSpc>
                <a:spcPct val="117000"/>
              </a:lnSpc>
              <a:buNone/>
            </a:pPr>
            <a:r>
              <a:rPr lang="en-US" sz="700" dirty="0">
                <a:solidFill>
                  <a:srgbClr val="2B4150"/>
                </a:solidFill>
                <a:latin typeface="Source Sans 3" pitchFamily="34" charset="0"/>
                <a:ea typeface="Source Sans 3" pitchFamily="34" charset="-122"/>
                <a:cs typeface="Source Sans 3" pitchFamily="34" charset="-120"/>
              </a:rPr>
              <a:t>The Atlas proposal bundles four distinct partnership archetypes — data license, API integration, product integration, and enterprise distribution — into a single 36-month term. That bundling creates valuation complexity: each component carries different risk, different evidence quality, and different confidence levels. The total proposed economic cost to our organization over the term is </a:t>
            </a:r>
            <a:pPr algn="l" indent="0" marL="0">
              <a:lnSpc>
                <a:spcPct val="117000"/>
              </a:lnSpc>
              <a:buNone/>
            </a:pPr>
            <a:r>
              <a:rPr lang="en-US" sz="700" b="1" dirty="0">
                <a:solidFill>
                  <a:srgbClr val="2B4150"/>
                </a:solidFill>
                <a:latin typeface="Source Sans 3 Bold" pitchFamily="34" charset="0"/>
                <a:ea typeface="Source Sans 3 Bold" pitchFamily="34" charset="-122"/>
                <a:cs typeface="Source Sans 3 Bold" pitchFamily="34" charset="-120"/>
              </a:rPr>
              <a:t>$31.0M</a:t>
            </a:r>
            <a:pPr algn="l" indent="0" marL="0">
              <a:lnSpc>
                <a:spcPct val="117000"/>
              </a:lnSpc>
              <a:buNone/>
            </a:pPr>
            <a:r>
              <a:rPr lang="en-US" sz="700" dirty="0">
                <a:solidFill>
                  <a:srgbClr val="2B4150"/>
                </a:solidFill>
                <a:latin typeface="Source Sans 3" pitchFamily="34" charset="0"/>
                <a:ea typeface="Source Sans 3" pitchFamily="34" charset="-122"/>
                <a:cs typeface="Source Sans 3" pitchFamily="34" charset="-120"/>
              </a:rPr>
              <a:t>.</a:t>
            </a:r>
            <a:endParaRPr lang="en-US" sz="700" dirty="0"/>
          </a:p>
        </p:txBody>
      </p:sp>
      <p:sp>
        <p:nvSpPr>
          <p:cNvPr id="6" name="Text 4"/>
          <p:cNvSpPr/>
          <p:nvPr/>
        </p:nvSpPr>
        <p:spPr>
          <a:xfrm>
            <a:off x="496119" y="1400026"/>
            <a:ext cx="3962400" cy="145331"/>
          </a:xfrm>
          <a:prstGeom prst="rect">
            <a:avLst/>
          </a:prstGeom>
          <a:noFill/>
          <a:ln/>
        </p:spPr>
        <p:txBody>
          <a:bodyPr wrap="none" lIns="0" tIns="0" rIns="0" bIns="0" rtlCol="0" anchor="t"/>
          <a:lstStyle/>
          <a:p>
            <a:pPr algn="l" indent="0" marL="0">
              <a:lnSpc>
                <a:spcPct val="104000"/>
              </a:lnSpc>
              <a:buNone/>
            </a:pPr>
            <a:r>
              <a:rPr lang="en-US" sz="900" dirty="0">
                <a:solidFill>
                  <a:srgbClr val="124E73"/>
                </a:solidFill>
                <a:latin typeface="MuseoModerno Medium" pitchFamily="34" charset="0"/>
                <a:ea typeface="MuseoModerno Medium" pitchFamily="34" charset="-122"/>
                <a:cs typeface="MuseoModerno Medium" pitchFamily="34" charset="-120"/>
              </a:rPr>
              <a:t>Synthetic Deal Terms</a:t>
            </a:r>
            <a:endParaRPr lang="en-US" sz="900" dirty="0"/>
          </a:p>
        </p:txBody>
      </p:sp>
      <p:sp>
        <p:nvSpPr>
          <p:cNvPr id="7" name="Shape 5"/>
          <p:cNvSpPr/>
          <p:nvPr/>
        </p:nvSpPr>
        <p:spPr>
          <a:xfrm>
            <a:off x="496119" y="1623789"/>
            <a:ext cx="3962400" cy="2286298"/>
          </a:xfrm>
          <a:prstGeom prst="roundRect">
            <a:avLst>
              <a:gd name="adj" fmla="val 610"/>
            </a:avLst>
          </a:prstGeom>
          <a:noFill/>
          <a:ln w="4763">
            <a:solidFill>
              <a:srgbClr val="000000">
                <a:alpha val="8000"/>
              </a:srgbClr>
            </a:solidFill>
            <a:prstDash val="solid"/>
          </a:ln>
        </p:spPr>
      </p:sp>
      <p:sp>
        <p:nvSpPr>
          <p:cNvPr id="8" name="Shape 6"/>
          <p:cNvSpPr/>
          <p:nvPr/>
        </p:nvSpPr>
        <p:spPr>
          <a:xfrm>
            <a:off x="496119" y="1854324"/>
            <a:ext cx="3962400" cy="5815"/>
          </a:xfrm>
          <a:prstGeom prst="rect">
            <a:avLst/>
          </a:prstGeom>
          <a:solidFill>
            <a:srgbClr val="000000">
              <a:alpha val="8000"/>
            </a:srgbClr>
          </a:solidFill>
          <a:ln/>
        </p:spPr>
      </p:sp>
      <p:sp>
        <p:nvSpPr>
          <p:cNvPr id="9" name="Shape 7"/>
          <p:cNvSpPr/>
          <p:nvPr/>
        </p:nvSpPr>
        <p:spPr>
          <a:xfrm>
            <a:off x="496119" y="2082478"/>
            <a:ext cx="3962400" cy="5815"/>
          </a:xfrm>
          <a:prstGeom prst="rect">
            <a:avLst/>
          </a:prstGeom>
          <a:solidFill>
            <a:srgbClr val="000000">
              <a:alpha val="8000"/>
            </a:srgbClr>
          </a:solidFill>
          <a:ln/>
        </p:spPr>
      </p:sp>
      <p:sp>
        <p:nvSpPr>
          <p:cNvPr id="10" name="Shape 8"/>
          <p:cNvSpPr/>
          <p:nvPr/>
        </p:nvSpPr>
        <p:spPr>
          <a:xfrm>
            <a:off x="496119" y="2310631"/>
            <a:ext cx="3962400" cy="5815"/>
          </a:xfrm>
          <a:prstGeom prst="rect">
            <a:avLst/>
          </a:prstGeom>
          <a:solidFill>
            <a:srgbClr val="000000">
              <a:alpha val="8000"/>
            </a:srgbClr>
          </a:solidFill>
          <a:ln/>
        </p:spPr>
      </p:sp>
      <p:sp>
        <p:nvSpPr>
          <p:cNvPr id="11" name="Shape 9"/>
          <p:cNvSpPr/>
          <p:nvPr/>
        </p:nvSpPr>
        <p:spPr>
          <a:xfrm>
            <a:off x="496119" y="2538785"/>
            <a:ext cx="3962400" cy="5815"/>
          </a:xfrm>
          <a:prstGeom prst="rect">
            <a:avLst/>
          </a:prstGeom>
          <a:solidFill>
            <a:srgbClr val="000000">
              <a:alpha val="8000"/>
            </a:srgbClr>
          </a:solidFill>
          <a:ln/>
        </p:spPr>
      </p:sp>
      <p:sp>
        <p:nvSpPr>
          <p:cNvPr id="12" name="Shape 10"/>
          <p:cNvSpPr/>
          <p:nvPr/>
        </p:nvSpPr>
        <p:spPr>
          <a:xfrm>
            <a:off x="496119" y="2766938"/>
            <a:ext cx="3962400" cy="5815"/>
          </a:xfrm>
          <a:prstGeom prst="rect">
            <a:avLst/>
          </a:prstGeom>
          <a:solidFill>
            <a:srgbClr val="000000">
              <a:alpha val="8000"/>
            </a:srgbClr>
          </a:solidFill>
          <a:ln/>
        </p:spPr>
      </p:sp>
      <p:sp>
        <p:nvSpPr>
          <p:cNvPr id="13" name="Shape 11"/>
          <p:cNvSpPr/>
          <p:nvPr/>
        </p:nvSpPr>
        <p:spPr>
          <a:xfrm>
            <a:off x="496119" y="2995092"/>
            <a:ext cx="3962400" cy="5815"/>
          </a:xfrm>
          <a:prstGeom prst="rect">
            <a:avLst/>
          </a:prstGeom>
          <a:solidFill>
            <a:srgbClr val="000000">
              <a:alpha val="8000"/>
            </a:srgbClr>
          </a:solidFill>
          <a:ln/>
        </p:spPr>
      </p:sp>
      <p:sp>
        <p:nvSpPr>
          <p:cNvPr id="14" name="Shape 12"/>
          <p:cNvSpPr/>
          <p:nvPr/>
        </p:nvSpPr>
        <p:spPr>
          <a:xfrm>
            <a:off x="496119" y="3223245"/>
            <a:ext cx="3962400" cy="5815"/>
          </a:xfrm>
          <a:prstGeom prst="rect">
            <a:avLst/>
          </a:prstGeom>
          <a:solidFill>
            <a:srgbClr val="000000">
              <a:alpha val="8000"/>
            </a:srgbClr>
          </a:solidFill>
          <a:ln/>
        </p:spPr>
      </p:sp>
      <p:sp>
        <p:nvSpPr>
          <p:cNvPr id="15" name="Shape 13"/>
          <p:cNvSpPr/>
          <p:nvPr/>
        </p:nvSpPr>
        <p:spPr>
          <a:xfrm>
            <a:off x="496119" y="3451399"/>
            <a:ext cx="3962400" cy="5815"/>
          </a:xfrm>
          <a:prstGeom prst="rect">
            <a:avLst/>
          </a:prstGeom>
          <a:solidFill>
            <a:srgbClr val="000000">
              <a:alpha val="8000"/>
            </a:srgbClr>
          </a:solidFill>
          <a:ln/>
        </p:spPr>
      </p:sp>
      <p:sp>
        <p:nvSpPr>
          <p:cNvPr id="16" name="Shape 14"/>
          <p:cNvSpPr/>
          <p:nvPr/>
        </p:nvSpPr>
        <p:spPr>
          <a:xfrm>
            <a:off x="496119" y="3679552"/>
            <a:ext cx="3962400" cy="5815"/>
          </a:xfrm>
          <a:prstGeom prst="rect">
            <a:avLst/>
          </a:prstGeom>
          <a:solidFill>
            <a:srgbClr val="000000">
              <a:alpha val="8000"/>
            </a:srgbClr>
          </a:solidFill>
          <a:ln/>
        </p:spPr>
      </p:sp>
      <p:sp>
        <p:nvSpPr>
          <p:cNvPr id="17" name="Shape 15"/>
          <p:cNvSpPr/>
          <p:nvPr/>
        </p:nvSpPr>
        <p:spPr>
          <a:xfrm>
            <a:off x="500881" y="1628552"/>
            <a:ext cx="1976437" cy="225772"/>
          </a:xfrm>
          <a:custGeom>
            <a:avLst/>
            <a:gdLst/>
            <a:ahLst/>
            <a:cxnLst/>
            <a:rect l="l" t="t" r="r" b="b"/>
            <a:pathLst>
              <a:path w="1976437" h="225772">
                <a:moveTo>
                  <a:pt x="11629" y="0"/>
                </a:moveTo>
                <a:lnTo>
                  <a:pt x="1976437" y="0"/>
                </a:lnTo>
                <a:lnTo>
                  <a:pt x="1976437" y="225772"/>
                </a:lnTo>
                <a:lnTo>
                  <a:pt x="0" y="225772"/>
                </a:lnTo>
                <a:lnTo>
                  <a:pt x="0" y="11629"/>
                </a:lnTo>
                <a:arcTo hR="11629" wR="11629" stAng="10800000" swAng="5400000"/>
                <a:close/>
              </a:path>
            </a:pathLst>
          </a:custGeom>
          <a:solidFill>
            <a:srgbClr val="325F7B"/>
          </a:solidFill>
          <a:ln/>
        </p:spPr>
      </p:sp>
      <p:sp>
        <p:nvSpPr>
          <p:cNvPr id="18" name="Text 16"/>
          <p:cNvSpPr/>
          <p:nvPr/>
        </p:nvSpPr>
        <p:spPr>
          <a:xfrm>
            <a:off x="593899" y="1675135"/>
            <a:ext cx="2247602" cy="130225"/>
          </a:xfrm>
          <a:prstGeom prst="rect">
            <a:avLst/>
          </a:prstGeom>
          <a:noFill/>
          <a:ln/>
        </p:spPr>
        <p:txBody>
          <a:bodyPr wrap="none" lIns="0" tIns="0" rIns="0" bIns="0" rtlCol="0" anchor="t"/>
          <a:lstStyle/>
          <a:p>
            <a:pPr algn="l" indent="0" marL="0">
              <a:lnSpc>
                <a:spcPct val="117000"/>
              </a:lnSpc>
              <a:buNone/>
            </a:pPr>
            <a:r>
              <a:rPr lang="en-US" sz="700" b="1" dirty="0">
                <a:solidFill>
                  <a:srgbClr val="FFFFFF"/>
                </a:solidFill>
                <a:latin typeface="Source Sans 3 Bold" pitchFamily="34" charset="0"/>
                <a:ea typeface="Source Sans 3 Bold" pitchFamily="34" charset="-122"/>
                <a:cs typeface="Source Sans 3 Bold" pitchFamily="34" charset="-120"/>
              </a:rPr>
              <a:t>Term Element</a:t>
            </a:r>
            <a:endParaRPr lang="en-US" sz="700" dirty="0"/>
          </a:p>
        </p:txBody>
      </p:sp>
      <p:sp>
        <p:nvSpPr>
          <p:cNvPr id="19" name="Shape 17"/>
          <p:cNvSpPr/>
          <p:nvPr/>
        </p:nvSpPr>
        <p:spPr>
          <a:xfrm>
            <a:off x="2477319" y="1628552"/>
            <a:ext cx="1976437" cy="225772"/>
          </a:xfrm>
          <a:custGeom>
            <a:avLst/>
            <a:gdLst/>
            <a:ahLst/>
            <a:cxnLst/>
            <a:rect l="l" t="t" r="r" b="b"/>
            <a:pathLst>
              <a:path w="1976437" h="225772">
                <a:moveTo>
                  <a:pt x="0" y="0"/>
                </a:moveTo>
                <a:lnTo>
                  <a:pt x="1964808" y="0"/>
                </a:lnTo>
                <a:arcTo hR="11629" wR="11629" stAng="16200000" swAng="5400000"/>
                <a:lnTo>
                  <a:pt x="1976437" y="225772"/>
                </a:lnTo>
                <a:lnTo>
                  <a:pt x="0" y="225772"/>
                </a:lnTo>
                <a:lnTo>
                  <a:pt x="0" y="0"/>
                </a:lnTo>
                <a:close/>
              </a:path>
            </a:pathLst>
          </a:custGeom>
          <a:solidFill>
            <a:srgbClr val="325F7B"/>
          </a:solidFill>
          <a:ln/>
        </p:spPr>
      </p:sp>
      <p:sp>
        <p:nvSpPr>
          <p:cNvPr id="20" name="Text 18"/>
          <p:cNvSpPr/>
          <p:nvPr/>
        </p:nvSpPr>
        <p:spPr>
          <a:xfrm>
            <a:off x="2570336" y="1675135"/>
            <a:ext cx="2247602" cy="130225"/>
          </a:xfrm>
          <a:prstGeom prst="rect">
            <a:avLst/>
          </a:prstGeom>
          <a:noFill/>
          <a:ln/>
        </p:spPr>
        <p:txBody>
          <a:bodyPr wrap="none" lIns="0" tIns="0" rIns="0" bIns="0" rtlCol="0" anchor="t"/>
          <a:lstStyle/>
          <a:p>
            <a:pPr algn="l" indent="0" marL="0">
              <a:lnSpc>
                <a:spcPct val="117000"/>
              </a:lnSpc>
              <a:buNone/>
            </a:pPr>
            <a:r>
              <a:rPr lang="en-US" sz="700" b="1" dirty="0">
                <a:solidFill>
                  <a:srgbClr val="FFFFFF"/>
                </a:solidFill>
                <a:latin typeface="Source Sans 3 Bold" pitchFamily="34" charset="0"/>
                <a:ea typeface="Source Sans 3 Bold" pitchFamily="34" charset="-122"/>
                <a:cs typeface="Source Sans 3 Bold" pitchFamily="34" charset="-120"/>
              </a:rPr>
              <a:t>Proposed Value</a:t>
            </a:r>
            <a:endParaRPr lang="en-US" sz="700" dirty="0"/>
          </a:p>
        </p:txBody>
      </p:sp>
      <p:sp>
        <p:nvSpPr>
          <p:cNvPr id="21" name="Text 19"/>
          <p:cNvSpPr/>
          <p:nvPr/>
        </p:nvSpPr>
        <p:spPr>
          <a:xfrm>
            <a:off x="593899" y="1903288"/>
            <a:ext cx="2247602" cy="130225"/>
          </a:xfrm>
          <a:prstGeom prst="rect">
            <a:avLst/>
          </a:prstGeom>
          <a:noFill/>
          <a:ln/>
        </p:spPr>
        <p:txBody>
          <a:bodyPr wrap="none" lIns="0" tIns="0" rIns="0" bIns="0" rtlCol="0" anchor="t"/>
          <a:lstStyle/>
          <a:p>
            <a:pPr algn="l" indent="0" marL="0">
              <a:lnSpc>
                <a:spcPct val="117000"/>
              </a:lnSpc>
              <a:buNone/>
            </a:pPr>
            <a:r>
              <a:rPr lang="en-US" sz="700" dirty="0">
                <a:solidFill>
                  <a:srgbClr val="2B4150"/>
                </a:solidFill>
                <a:latin typeface="Source Sans 3" pitchFamily="34" charset="0"/>
                <a:ea typeface="Source Sans 3" pitchFamily="34" charset="-122"/>
                <a:cs typeface="Source Sans 3" pitchFamily="34" charset="-120"/>
              </a:rPr>
              <a:t>Contract term</a:t>
            </a:r>
            <a:endParaRPr lang="en-US" sz="700" dirty="0"/>
          </a:p>
        </p:txBody>
      </p:sp>
      <p:sp>
        <p:nvSpPr>
          <p:cNvPr id="22" name="Text 20"/>
          <p:cNvSpPr/>
          <p:nvPr/>
        </p:nvSpPr>
        <p:spPr>
          <a:xfrm>
            <a:off x="2570336" y="1903288"/>
            <a:ext cx="2247602" cy="130225"/>
          </a:xfrm>
          <a:prstGeom prst="rect">
            <a:avLst/>
          </a:prstGeom>
          <a:noFill/>
          <a:ln/>
        </p:spPr>
        <p:txBody>
          <a:bodyPr wrap="none" lIns="0" tIns="0" rIns="0" bIns="0" rtlCol="0" anchor="t"/>
          <a:lstStyle/>
          <a:p>
            <a:pPr algn="l" indent="0" marL="0">
              <a:lnSpc>
                <a:spcPct val="117000"/>
              </a:lnSpc>
              <a:buNone/>
            </a:pPr>
            <a:r>
              <a:rPr lang="en-US" sz="700" dirty="0">
                <a:solidFill>
                  <a:srgbClr val="2B4150"/>
                </a:solidFill>
                <a:latin typeface="Source Sans 3" pitchFamily="34" charset="0"/>
                <a:ea typeface="Source Sans 3" pitchFamily="34" charset="-122"/>
                <a:cs typeface="Source Sans 3" pitchFamily="34" charset="-120"/>
              </a:rPr>
              <a:t>36 months</a:t>
            </a:r>
            <a:endParaRPr lang="en-US" sz="700" dirty="0"/>
          </a:p>
        </p:txBody>
      </p:sp>
      <p:sp>
        <p:nvSpPr>
          <p:cNvPr id="23" name="Text 21"/>
          <p:cNvSpPr/>
          <p:nvPr/>
        </p:nvSpPr>
        <p:spPr>
          <a:xfrm>
            <a:off x="593899" y="2131442"/>
            <a:ext cx="2247602" cy="130225"/>
          </a:xfrm>
          <a:prstGeom prst="rect">
            <a:avLst/>
          </a:prstGeom>
          <a:noFill/>
          <a:ln/>
        </p:spPr>
        <p:txBody>
          <a:bodyPr wrap="none" lIns="0" tIns="0" rIns="0" bIns="0" rtlCol="0" anchor="t"/>
          <a:lstStyle/>
          <a:p>
            <a:pPr algn="l" indent="0" marL="0">
              <a:lnSpc>
                <a:spcPct val="117000"/>
              </a:lnSpc>
              <a:buNone/>
            </a:pPr>
            <a:r>
              <a:rPr lang="en-US" sz="700" dirty="0">
                <a:solidFill>
                  <a:srgbClr val="2B4150"/>
                </a:solidFill>
                <a:latin typeface="Source Sans 3" pitchFamily="34" charset="0"/>
                <a:ea typeface="Source Sans 3" pitchFamily="34" charset="-122"/>
                <a:cs typeface="Source Sans 3" pitchFamily="34" charset="-120"/>
              </a:rPr>
              <a:t>Upfront payment</a:t>
            </a:r>
            <a:endParaRPr lang="en-US" sz="700" dirty="0"/>
          </a:p>
        </p:txBody>
      </p:sp>
      <p:sp>
        <p:nvSpPr>
          <p:cNvPr id="24" name="Text 22"/>
          <p:cNvSpPr/>
          <p:nvPr/>
        </p:nvSpPr>
        <p:spPr>
          <a:xfrm>
            <a:off x="2570336" y="2131442"/>
            <a:ext cx="2247602" cy="130225"/>
          </a:xfrm>
          <a:prstGeom prst="rect">
            <a:avLst/>
          </a:prstGeom>
          <a:noFill/>
          <a:ln/>
        </p:spPr>
        <p:txBody>
          <a:bodyPr wrap="none" lIns="0" tIns="0" rIns="0" bIns="0" rtlCol="0" anchor="t"/>
          <a:lstStyle/>
          <a:p>
            <a:pPr algn="l" indent="0" marL="0">
              <a:lnSpc>
                <a:spcPct val="117000"/>
              </a:lnSpc>
              <a:buNone/>
            </a:pPr>
            <a:r>
              <a:rPr lang="en-US" sz="700" dirty="0">
                <a:solidFill>
                  <a:srgbClr val="2B4150"/>
                </a:solidFill>
                <a:latin typeface="Source Sans 3" pitchFamily="34" charset="0"/>
                <a:ea typeface="Source Sans 3" pitchFamily="34" charset="-122"/>
                <a:cs typeface="Source Sans 3" pitchFamily="34" charset="-120"/>
              </a:rPr>
              <a:t>$4.0M</a:t>
            </a:r>
            <a:endParaRPr lang="en-US" sz="700" dirty="0"/>
          </a:p>
        </p:txBody>
      </p:sp>
      <p:sp>
        <p:nvSpPr>
          <p:cNvPr id="25" name="Text 23"/>
          <p:cNvSpPr/>
          <p:nvPr/>
        </p:nvSpPr>
        <p:spPr>
          <a:xfrm>
            <a:off x="593899" y="2359596"/>
            <a:ext cx="2247602" cy="130225"/>
          </a:xfrm>
          <a:prstGeom prst="rect">
            <a:avLst/>
          </a:prstGeom>
          <a:noFill/>
          <a:ln/>
        </p:spPr>
        <p:txBody>
          <a:bodyPr wrap="none" lIns="0" tIns="0" rIns="0" bIns="0" rtlCol="0" anchor="t"/>
          <a:lstStyle/>
          <a:p>
            <a:pPr algn="l" indent="0" marL="0">
              <a:lnSpc>
                <a:spcPct val="117000"/>
              </a:lnSpc>
              <a:buNone/>
            </a:pPr>
            <a:r>
              <a:rPr lang="en-US" sz="700" dirty="0">
                <a:solidFill>
                  <a:srgbClr val="2B4150"/>
                </a:solidFill>
                <a:latin typeface="Source Sans 3" pitchFamily="34" charset="0"/>
                <a:ea typeface="Source Sans 3" pitchFamily="34" charset="-122"/>
                <a:cs typeface="Source Sans 3" pitchFamily="34" charset="-120"/>
              </a:rPr>
              <a:t>Annual license fee</a:t>
            </a:r>
            <a:endParaRPr lang="en-US" sz="700" dirty="0"/>
          </a:p>
        </p:txBody>
      </p:sp>
      <p:sp>
        <p:nvSpPr>
          <p:cNvPr id="26" name="Text 24"/>
          <p:cNvSpPr/>
          <p:nvPr/>
        </p:nvSpPr>
        <p:spPr>
          <a:xfrm>
            <a:off x="2570336" y="2359596"/>
            <a:ext cx="2247602" cy="130225"/>
          </a:xfrm>
          <a:prstGeom prst="rect">
            <a:avLst/>
          </a:prstGeom>
          <a:noFill/>
          <a:ln/>
        </p:spPr>
        <p:txBody>
          <a:bodyPr wrap="none" lIns="0" tIns="0" rIns="0" bIns="0" rtlCol="0" anchor="t"/>
          <a:lstStyle/>
          <a:p>
            <a:pPr algn="l" indent="0" marL="0">
              <a:lnSpc>
                <a:spcPct val="117000"/>
              </a:lnSpc>
              <a:buNone/>
            </a:pPr>
            <a:r>
              <a:rPr lang="en-US" sz="700" dirty="0">
                <a:solidFill>
                  <a:srgbClr val="2B4150"/>
                </a:solidFill>
                <a:latin typeface="Source Sans 3" pitchFamily="34" charset="0"/>
                <a:ea typeface="Source Sans 3" pitchFamily="34" charset="-122"/>
                <a:cs typeface="Source Sans 3" pitchFamily="34" charset="-120"/>
              </a:rPr>
              <a:t>$6.0M / year</a:t>
            </a:r>
            <a:endParaRPr lang="en-US" sz="700" dirty="0"/>
          </a:p>
        </p:txBody>
      </p:sp>
      <p:sp>
        <p:nvSpPr>
          <p:cNvPr id="27" name="Text 25"/>
          <p:cNvSpPr/>
          <p:nvPr/>
        </p:nvSpPr>
        <p:spPr>
          <a:xfrm>
            <a:off x="593899" y="2587749"/>
            <a:ext cx="2247602" cy="130225"/>
          </a:xfrm>
          <a:prstGeom prst="rect">
            <a:avLst/>
          </a:prstGeom>
          <a:noFill/>
          <a:ln/>
        </p:spPr>
        <p:txBody>
          <a:bodyPr wrap="none" lIns="0" tIns="0" rIns="0" bIns="0" rtlCol="0" anchor="t"/>
          <a:lstStyle/>
          <a:p>
            <a:pPr algn="l" indent="0" marL="0">
              <a:lnSpc>
                <a:spcPct val="117000"/>
              </a:lnSpc>
              <a:buNone/>
            </a:pPr>
            <a:r>
              <a:rPr lang="en-US" sz="700" dirty="0">
                <a:solidFill>
                  <a:srgbClr val="2B4150"/>
                </a:solidFill>
                <a:latin typeface="Source Sans 3" pitchFamily="34" charset="0"/>
                <a:ea typeface="Source Sans 3" pitchFamily="34" charset="-122"/>
                <a:cs typeface="Source Sans 3" pitchFamily="34" charset="-120"/>
              </a:rPr>
              <a:t>Annual minimum usage</a:t>
            </a:r>
            <a:endParaRPr lang="en-US" sz="700" dirty="0"/>
          </a:p>
        </p:txBody>
      </p:sp>
      <p:sp>
        <p:nvSpPr>
          <p:cNvPr id="28" name="Text 26"/>
          <p:cNvSpPr/>
          <p:nvPr/>
        </p:nvSpPr>
        <p:spPr>
          <a:xfrm>
            <a:off x="2570336" y="2587749"/>
            <a:ext cx="2247602" cy="130225"/>
          </a:xfrm>
          <a:prstGeom prst="rect">
            <a:avLst/>
          </a:prstGeom>
          <a:noFill/>
          <a:ln/>
        </p:spPr>
        <p:txBody>
          <a:bodyPr wrap="none" lIns="0" tIns="0" rIns="0" bIns="0" rtlCol="0" anchor="t"/>
          <a:lstStyle/>
          <a:p>
            <a:pPr algn="l" indent="0" marL="0">
              <a:lnSpc>
                <a:spcPct val="117000"/>
              </a:lnSpc>
              <a:buNone/>
            </a:pPr>
            <a:r>
              <a:rPr lang="en-US" sz="700" dirty="0">
                <a:solidFill>
                  <a:srgbClr val="2B4150"/>
                </a:solidFill>
                <a:latin typeface="Source Sans 3" pitchFamily="34" charset="0"/>
                <a:ea typeface="Source Sans 3" pitchFamily="34" charset="-122"/>
                <a:cs typeface="Source Sans 3" pitchFamily="34" charset="-120"/>
              </a:rPr>
              <a:t>$3.0M / year</a:t>
            </a:r>
            <a:endParaRPr lang="en-US" sz="700" dirty="0"/>
          </a:p>
        </p:txBody>
      </p:sp>
      <p:sp>
        <p:nvSpPr>
          <p:cNvPr id="29" name="Text 27"/>
          <p:cNvSpPr/>
          <p:nvPr/>
        </p:nvSpPr>
        <p:spPr>
          <a:xfrm>
            <a:off x="593899" y="2815903"/>
            <a:ext cx="2247602" cy="130225"/>
          </a:xfrm>
          <a:prstGeom prst="rect">
            <a:avLst/>
          </a:prstGeom>
          <a:noFill/>
          <a:ln/>
        </p:spPr>
        <p:txBody>
          <a:bodyPr wrap="none" lIns="0" tIns="0" rIns="0" bIns="0" rtlCol="0" anchor="t"/>
          <a:lstStyle/>
          <a:p>
            <a:pPr algn="l" indent="0" marL="0">
              <a:lnSpc>
                <a:spcPct val="117000"/>
              </a:lnSpc>
              <a:buNone/>
            </a:pPr>
            <a:r>
              <a:rPr lang="en-US" sz="700" dirty="0">
                <a:solidFill>
                  <a:srgbClr val="2B4150"/>
                </a:solidFill>
                <a:latin typeface="Source Sans 3" pitchFamily="34" charset="0"/>
                <a:ea typeface="Source Sans 3" pitchFamily="34" charset="-122"/>
                <a:cs typeface="Source Sans 3" pitchFamily="34" charset="-120"/>
              </a:rPr>
              <a:t>Implementation support</a:t>
            </a:r>
            <a:endParaRPr lang="en-US" sz="700" dirty="0"/>
          </a:p>
        </p:txBody>
      </p:sp>
      <p:sp>
        <p:nvSpPr>
          <p:cNvPr id="30" name="Text 28"/>
          <p:cNvSpPr/>
          <p:nvPr/>
        </p:nvSpPr>
        <p:spPr>
          <a:xfrm>
            <a:off x="2570336" y="2815903"/>
            <a:ext cx="2247602" cy="130225"/>
          </a:xfrm>
          <a:prstGeom prst="rect">
            <a:avLst/>
          </a:prstGeom>
          <a:noFill/>
          <a:ln/>
        </p:spPr>
        <p:txBody>
          <a:bodyPr wrap="none" lIns="0" tIns="0" rIns="0" bIns="0" rtlCol="0" anchor="t"/>
          <a:lstStyle/>
          <a:p>
            <a:pPr algn="l" indent="0" marL="0">
              <a:lnSpc>
                <a:spcPct val="117000"/>
              </a:lnSpc>
              <a:buNone/>
            </a:pPr>
            <a:r>
              <a:rPr lang="en-US" sz="700" dirty="0">
                <a:solidFill>
                  <a:srgbClr val="2B4150"/>
                </a:solidFill>
                <a:latin typeface="Source Sans 3" pitchFamily="34" charset="0"/>
                <a:ea typeface="Source Sans 3" pitchFamily="34" charset="-122"/>
                <a:cs typeface="Source Sans 3" pitchFamily="34" charset="-120"/>
              </a:rPr>
              <a:t>$1.5M (one-time)</a:t>
            </a:r>
            <a:endParaRPr lang="en-US" sz="700" dirty="0"/>
          </a:p>
        </p:txBody>
      </p:sp>
      <p:sp>
        <p:nvSpPr>
          <p:cNvPr id="31" name="Text 29"/>
          <p:cNvSpPr/>
          <p:nvPr/>
        </p:nvSpPr>
        <p:spPr>
          <a:xfrm>
            <a:off x="593899" y="3044056"/>
            <a:ext cx="2247602" cy="130225"/>
          </a:xfrm>
          <a:prstGeom prst="rect">
            <a:avLst/>
          </a:prstGeom>
          <a:noFill/>
          <a:ln/>
        </p:spPr>
        <p:txBody>
          <a:bodyPr wrap="none" lIns="0" tIns="0" rIns="0" bIns="0" rtlCol="0" anchor="t"/>
          <a:lstStyle/>
          <a:p>
            <a:pPr algn="l" indent="0" marL="0">
              <a:lnSpc>
                <a:spcPct val="117000"/>
              </a:lnSpc>
              <a:buNone/>
            </a:pPr>
            <a:r>
              <a:rPr lang="en-US" sz="700" dirty="0">
                <a:solidFill>
                  <a:srgbClr val="2B4150"/>
                </a:solidFill>
                <a:latin typeface="Source Sans 3" pitchFamily="34" charset="0"/>
                <a:ea typeface="Source Sans 3" pitchFamily="34" charset="-122"/>
                <a:cs typeface="Source Sans 3" pitchFamily="34" charset="-120"/>
              </a:rPr>
              <a:t>Exclusivity</a:t>
            </a:r>
            <a:endParaRPr lang="en-US" sz="700" dirty="0"/>
          </a:p>
        </p:txBody>
      </p:sp>
      <p:sp>
        <p:nvSpPr>
          <p:cNvPr id="32" name="Text 30"/>
          <p:cNvSpPr/>
          <p:nvPr/>
        </p:nvSpPr>
        <p:spPr>
          <a:xfrm>
            <a:off x="2570336" y="3044056"/>
            <a:ext cx="2247602" cy="130225"/>
          </a:xfrm>
          <a:prstGeom prst="rect">
            <a:avLst/>
          </a:prstGeom>
          <a:noFill/>
          <a:ln/>
        </p:spPr>
        <p:txBody>
          <a:bodyPr wrap="none" lIns="0" tIns="0" rIns="0" bIns="0" rtlCol="0" anchor="t"/>
          <a:lstStyle/>
          <a:p>
            <a:pPr algn="l" indent="0" marL="0">
              <a:lnSpc>
                <a:spcPct val="117000"/>
              </a:lnSpc>
              <a:buNone/>
            </a:pPr>
            <a:r>
              <a:rPr lang="en-US" sz="700" dirty="0">
                <a:solidFill>
                  <a:srgbClr val="2B4150"/>
                </a:solidFill>
                <a:latin typeface="Source Sans 3" pitchFamily="34" charset="0"/>
                <a:ea typeface="Source Sans 3" pitchFamily="34" charset="-122"/>
                <a:cs typeface="Source Sans 3" pitchFamily="34" charset="-120"/>
              </a:rPr>
              <a:t>Limited category; 24 months</a:t>
            </a:r>
            <a:endParaRPr lang="en-US" sz="700" dirty="0"/>
          </a:p>
        </p:txBody>
      </p:sp>
      <p:sp>
        <p:nvSpPr>
          <p:cNvPr id="33" name="Text 31"/>
          <p:cNvSpPr/>
          <p:nvPr/>
        </p:nvSpPr>
        <p:spPr>
          <a:xfrm>
            <a:off x="593899" y="3272210"/>
            <a:ext cx="2247602" cy="130225"/>
          </a:xfrm>
          <a:prstGeom prst="rect">
            <a:avLst/>
          </a:prstGeom>
          <a:noFill/>
          <a:ln/>
        </p:spPr>
        <p:txBody>
          <a:bodyPr wrap="none" lIns="0" tIns="0" rIns="0" bIns="0" rtlCol="0" anchor="t"/>
          <a:lstStyle/>
          <a:p>
            <a:pPr algn="l" indent="0" marL="0">
              <a:lnSpc>
                <a:spcPct val="117000"/>
              </a:lnSpc>
              <a:buNone/>
            </a:pPr>
            <a:r>
              <a:rPr lang="en-US" sz="700" dirty="0">
                <a:solidFill>
                  <a:srgbClr val="2B4150"/>
                </a:solidFill>
                <a:latin typeface="Source Sans 3" pitchFamily="34" charset="0"/>
                <a:ea typeface="Source Sans 3" pitchFamily="34" charset="-122"/>
                <a:cs typeface="Source Sans 3" pitchFamily="34" charset="-120"/>
              </a:rPr>
              <a:t>Distribution commitment</a:t>
            </a:r>
            <a:endParaRPr lang="en-US" sz="700" dirty="0"/>
          </a:p>
        </p:txBody>
      </p:sp>
      <p:sp>
        <p:nvSpPr>
          <p:cNvPr id="34" name="Text 32"/>
          <p:cNvSpPr/>
          <p:nvPr/>
        </p:nvSpPr>
        <p:spPr>
          <a:xfrm>
            <a:off x="2570336" y="3272210"/>
            <a:ext cx="2247602" cy="130225"/>
          </a:xfrm>
          <a:prstGeom prst="rect">
            <a:avLst/>
          </a:prstGeom>
          <a:noFill/>
          <a:ln/>
        </p:spPr>
        <p:txBody>
          <a:bodyPr wrap="none" lIns="0" tIns="0" rIns="0" bIns="0" rtlCol="0" anchor="t"/>
          <a:lstStyle/>
          <a:p>
            <a:pPr algn="l" indent="0" marL="0">
              <a:lnSpc>
                <a:spcPct val="117000"/>
              </a:lnSpc>
              <a:buNone/>
            </a:pPr>
            <a:r>
              <a:rPr lang="en-US" sz="700" dirty="0">
                <a:solidFill>
                  <a:srgbClr val="2B4150"/>
                </a:solidFill>
                <a:latin typeface="Source Sans 3" pitchFamily="34" charset="0"/>
                <a:ea typeface="Source Sans 3" pitchFamily="34" charset="-122"/>
                <a:cs typeface="Source Sans 3" pitchFamily="34" charset="-120"/>
              </a:rPr>
              <a:t>Joint enterprise GTM</a:t>
            </a:r>
            <a:endParaRPr lang="en-US" sz="700" dirty="0"/>
          </a:p>
        </p:txBody>
      </p:sp>
      <p:sp>
        <p:nvSpPr>
          <p:cNvPr id="35" name="Text 33"/>
          <p:cNvSpPr/>
          <p:nvPr/>
        </p:nvSpPr>
        <p:spPr>
          <a:xfrm>
            <a:off x="593899" y="3500363"/>
            <a:ext cx="2247602" cy="130225"/>
          </a:xfrm>
          <a:prstGeom prst="rect">
            <a:avLst/>
          </a:prstGeom>
          <a:noFill/>
          <a:ln/>
        </p:spPr>
        <p:txBody>
          <a:bodyPr wrap="none" lIns="0" tIns="0" rIns="0" bIns="0" rtlCol="0" anchor="t"/>
          <a:lstStyle/>
          <a:p>
            <a:pPr algn="l" indent="0" marL="0">
              <a:lnSpc>
                <a:spcPct val="117000"/>
              </a:lnSpc>
              <a:buNone/>
            </a:pPr>
            <a:r>
              <a:rPr lang="en-US" sz="700" dirty="0">
                <a:solidFill>
                  <a:srgbClr val="2B4150"/>
                </a:solidFill>
                <a:latin typeface="Source Sans 3" pitchFamily="34" charset="0"/>
                <a:ea typeface="Source Sans 3" pitchFamily="34" charset="-122"/>
                <a:cs typeface="Source Sans 3" pitchFamily="34" charset="-120"/>
              </a:rPr>
              <a:t>Renewal option</a:t>
            </a:r>
            <a:endParaRPr lang="en-US" sz="700" dirty="0"/>
          </a:p>
        </p:txBody>
      </p:sp>
      <p:sp>
        <p:nvSpPr>
          <p:cNvPr id="36" name="Text 34"/>
          <p:cNvSpPr/>
          <p:nvPr/>
        </p:nvSpPr>
        <p:spPr>
          <a:xfrm>
            <a:off x="2570336" y="3500363"/>
            <a:ext cx="2247602" cy="130225"/>
          </a:xfrm>
          <a:prstGeom prst="rect">
            <a:avLst/>
          </a:prstGeom>
          <a:noFill/>
          <a:ln/>
        </p:spPr>
        <p:txBody>
          <a:bodyPr wrap="none" lIns="0" tIns="0" rIns="0" bIns="0" rtlCol="0" anchor="t"/>
          <a:lstStyle/>
          <a:p>
            <a:pPr algn="l" indent="0" marL="0">
              <a:lnSpc>
                <a:spcPct val="117000"/>
              </a:lnSpc>
              <a:buNone/>
            </a:pPr>
            <a:r>
              <a:rPr lang="en-US" sz="700" dirty="0">
                <a:solidFill>
                  <a:srgbClr val="2B4150"/>
                </a:solidFill>
                <a:latin typeface="Source Sans 3" pitchFamily="34" charset="0"/>
                <a:ea typeface="Source Sans 3" pitchFamily="34" charset="-122"/>
                <a:cs typeface="Source Sans 3" pitchFamily="34" charset="-120"/>
              </a:rPr>
              <a:t>Mutual; triggers at Month 33</a:t>
            </a:r>
            <a:endParaRPr lang="en-US" sz="700" dirty="0"/>
          </a:p>
        </p:txBody>
      </p:sp>
      <p:sp>
        <p:nvSpPr>
          <p:cNvPr id="37" name="Text 35"/>
          <p:cNvSpPr/>
          <p:nvPr/>
        </p:nvSpPr>
        <p:spPr>
          <a:xfrm>
            <a:off x="593899" y="3728517"/>
            <a:ext cx="2247602" cy="130225"/>
          </a:xfrm>
          <a:prstGeom prst="rect">
            <a:avLst/>
          </a:prstGeom>
          <a:noFill/>
          <a:ln/>
        </p:spPr>
        <p:txBody>
          <a:bodyPr wrap="none" lIns="0" tIns="0" rIns="0" bIns="0" rtlCol="0" anchor="t"/>
          <a:lstStyle/>
          <a:p>
            <a:pPr algn="l" indent="0" marL="0">
              <a:lnSpc>
                <a:spcPct val="117000"/>
              </a:lnSpc>
              <a:buNone/>
            </a:pPr>
            <a:r>
              <a:rPr lang="en-US" sz="700" b="1" dirty="0">
                <a:solidFill>
                  <a:srgbClr val="2B4150"/>
                </a:solidFill>
                <a:latin typeface="Source Sans 3 Bold" pitchFamily="34" charset="0"/>
                <a:ea typeface="Source Sans 3 Bold" pitchFamily="34" charset="-122"/>
                <a:cs typeface="Source Sans 3 Bold" pitchFamily="34" charset="-120"/>
              </a:rPr>
              <a:t>Total proposed economic cost</a:t>
            </a:r>
            <a:endParaRPr lang="en-US" sz="700" dirty="0"/>
          </a:p>
        </p:txBody>
      </p:sp>
      <p:sp>
        <p:nvSpPr>
          <p:cNvPr id="38" name="Text 36"/>
          <p:cNvSpPr/>
          <p:nvPr/>
        </p:nvSpPr>
        <p:spPr>
          <a:xfrm>
            <a:off x="2570336" y="3728517"/>
            <a:ext cx="2247602" cy="130225"/>
          </a:xfrm>
          <a:prstGeom prst="rect">
            <a:avLst/>
          </a:prstGeom>
          <a:noFill/>
          <a:ln/>
        </p:spPr>
        <p:txBody>
          <a:bodyPr wrap="none" lIns="0" tIns="0" rIns="0" bIns="0" rtlCol="0" anchor="t"/>
          <a:lstStyle/>
          <a:p>
            <a:pPr algn="l" indent="0" marL="0">
              <a:lnSpc>
                <a:spcPct val="117000"/>
              </a:lnSpc>
              <a:buNone/>
            </a:pPr>
            <a:r>
              <a:rPr lang="en-US" sz="700" b="1" dirty="0">
                <a:solidFill>
                  <a:srgbClr val="2B4150"/>
                </a:solidFill>
                <a:latin typeface="Source Sans 3 Bold" pitchFamily="34" charset="0"/>
                <a:ea typeface="Source Sans 3 Bold" pitchFamily="34" charset="-122"/>
                <a:cs typeface="Source Sans 3 Bold" pitchFamily="34" charset="-120"/>
              </a:rPr>
              <a:t>$31.0M</a:t>
            </a:r>
            <a:endParaRPr lang="en-US" sz="700" dirty="0"/>
          </a:p>
        </p:txBody>
      </p:sp>
      <p:sp>
        <p:nvSpPr>
          <p:cNvPr id="39" name="Shape 37"/>
          <p:cNvSpPr/>
          <p:nvPr/>
        </p:nvSpPr>
        <p:spPr>
          <a:xfrm>
            <a:off x="496119" y="3988519"/>
            <a:ext cx="3962400" cy="432346"/>
          </a:xfrm>
          <a:prstGeom prst="roundRect">
            <a:avLst>
              <a:gd name="adj" fmla="val 3228"/>
            </a:avLst>
          </a:prstGeom>
          <a:solidFill>
            <a:srgbClr val="DBE8F0"/>
          </a:solidFill>
          <a:ln/>
        </p:spPr>
      </p:sp>
      <p:pic>
        <p:nvPicPr>
          <p:cNvPr id="40" name="Image 0" descr="preencoded.png">    </p:cNvPr>
          <p:cNvPicPr>
            <a:picLocks noChangeAspect="1"/>
          </p:cNvPicPr>
          <p:nvPr/>
        </p:nvPicPr>
        <p:blipFill>
          <a:blip r:embed="rId1"/>
          <a:stretch>
            <a:fillRect/>
          </a:stretch>
        </p:blipFill>
        <p:spPr>
          <a:xfrm>
            <a:off x="589136" y="4113833"/>
            <a:ext cx="116235" cy="93018"/>
          </a:xfrm>
          <a:prstGeom prst="rect">
            <a:avLst/>
          </a:prstGeom>
        </p:spPr>
      </p:pic>
      <p:sp>
        <p:nvSpPr>
          <p:cNvPr id="41" name="Text 38"/>
          <p:cNvSpPr/>
          <p:nvPr/>
        </p:nvSpPr>
        <p:spPr>
          <a:xfrm>
            <a:off x="798388" y="4074468"/>
            <a:ext cx="3567112" cy="260449"/>
          </a:xfrm>
          <a:prstGeom prst="rect">
            <a:avLst/>
          </a:prstGeom>
          <a:noFill/>
          <a:ln/>
        </p:spPr>
        <p:txBody>
          <a:bodyPr wrap="square" lIns="0" tIns="0" rIns="0" bIns="0" rtlCol="0" anchor="t">
            <a:normAutofit/>
          </a:bodyPr>
          <a:lstStyle/>
          <a:p>
            <a:pPr algn="l" indent="0" marL="0">
              <a:lnSpc>
                <a:spcPct val="117000"/>
              </a:lnSpc>
              <a:buNone/>
            </a:pPr>
            <a:r>
              <a:rPr lang="en-US" sz="700" dirty="0">
                <a:solidFill>
                  <a:srgbClr val="000000"/>
                </a:solidFill>
                <a:latin typeface="Source Sans 3" pitchFamily="34" charset="0"/>
                <a:ea typeface="Source Sans 3" pitchFamily="34" charset="-122"/>
                <a:cs typeface="Source Sans 3" pitchFamily="34" charset="-120"/>
              </a:rPr>
              <a:t>All companies, terms, and economics in this case are fictional and used solely to demonstrate methodology. </a:t>
            </a:r>
            <a:pPr algn="l" indent="0" marL="0">
              <a:lnSpc>
                <a:spcPct val="117000"/>
              </a:lnSpc>
              <a:buNone/>
            </a:pPr>
            <a:r>
              <a:rPr lang="en-US" sz="700" b="1" dirty="0">
                <a:solidFill>
                  <a:srgbClr val="000000"/>
                </a:solidFill>
                <a:latin typeface="Source Sans 3 Bold" pitchFamily="34" charset="0"/>
                <a:ea typeface="Source Sans 3 Bold" pitchFamily="34" charset="-122"/>
                <a:cs typeface="Source Sans 3 Bold" pitchFamily="34" charset="-120"/>
              </a:rPr>
              <a:t>Synthetic case.</a:t>
            </a:r>
            <a:endParaRPr lang="en-US" sz="700" dirty="0"/>
          </a:p>
        </p:txBody>
      </p:sp>
      <p:sp>
        <p:nvSpPr>
          <p:cNvPr id="42" name="Text 39"/>
          <p:cNvSpPr/>
          <p:nvPr/>
        </p:nvSpPr>
        <p:spPr>
          <a:xfrm>
            <a:off x="4690244" y="1400026"/>
            <a:ext cx="3962400" cy="145331"/>
          </a:xfrm>
          <a:prstGeom prst="rect">
            <a:avLst/>
          </a:prstGeom>
          <a:noFill/>
          <a:ln/>
        </p:spPr>
        <p:txBody>
          <a:bodyPr wrap="none" lIns="0" tIns="0" rIns="0" bIns="0" rtlCol="0" anchor="t"/>
          <a:lstStyle/>
          <a:p>
            <a:pPr algn="l" indent="0" marL="0">
              <a:lnSpc>
                <a:spcPct val="104000"/>
              </a:lnSpc>
              <a:buNone/>
            </a:pPr>
            <a:r>
              <a:rPr lang="en-US" sz="900" dirty="0">
                <a:solidFill>
                  <a:srgbClr val="124E73"/>
                </a:solidFill>
                <a:latin typeface="MuseoModerno Medium" pitchFamily="34" charset="0"/>
                <a:ea typeface="MuseoModerno Medium" pitchFamily="34" charset="-122"/>
                <a:cs typeface="MuseoModerno Medium" pitchFamily="34" charset="-120"/>
              </a:rPr>
              <a:t>Four Unresolved Questions Before Proceeding</a:t>
            </a:r>
            <a:endParaRPr lang="en-US" sz="900" dirty="0"/>
          </a:p>
        </p:txBody>
      </p:sp>
      <p:pic>
        <p:nvPicPr>
          <p:cNvPr id="43"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90244" y="1623789"/>
            <a:ext cx="1946300" cy="1472357"/>
          </a:xfrm>
          <a:prstGeom prst="rect">
            <a:avLst/>
          </a:prstGeom>
        </p:spPr>
      </p:pic>
      <p:sp>
        <p:nvSpPr>
          <p:cNvPr id="44" name="Text 40"/>
          <p:cNvSpPr/>
          <p:nvPr/>
        </p:nvSpPr>
        <p:spPr>
          <a:xfrm>
            <a:off x="5593631" y="1685627"/>
            <a:ext cx="139526" cy="174427"/>
          </a:xfrm>
          <a:prstGeom prst="rect">
            <a:avLst/>
          </a:prstGeom>
          <a:noFill/>
          <a:ln/>
        </p:spPr>
        <p:txBody>
          <a:bodyPr wrap="none" lIns="0" tIns="0" rIns="0" bIns="0" rtlCol="0" anchor="ctr"/>
          <a:lstStyle/>
          <a:p>
            <a:pPr algn="ctr" indent="0" marL="0">
              <a:lnSpc>
                <a:spcPct val="100000"/>
              </a:lnSpc>
              <a:buNone/>
            </a:pPr>
            <a:r>
              <a:rPr lang="en-US" sz="1050" dirty="0">
                <a:solidFill>
                  <a:srgbClr val="2B4150"/>
                </a:solidFill>
                <a:latin typeface="MuseoModerno Medium" pitchFamily="34" charset="0"/>
                <a:ea typeface="MuseoModerno Medium" pitchFamily="34" charset="-122"/>
                <a:cs typeface="MuseoModerno Medium" pitchFamily="34" charset="-120"/>
              </a:rPr>
              <a:t>1</a:t>
            </a:r>
            <a:endParaRPr lang="en-US" sz="1050" dirty="0"/>
          </a:p>
        </p:txBody>
      </p:sp>
      <p:sp>
        <p:nvSpPr>
          <p:cNvPr id="45" name="Text 41"/>
          <p:cNvSpPr/>
          <p:nvPr/>
        </p:nvSpPr>
        <p:spPr>
          <a:xfrm>
            <a:off x="4792787" y="1982093"/>
            <a:ext cx="1741215" cy="290661"/>
          </a:xfrm>
          <a:prstGeom prst="rect">
            <a:avLst/>
          </a:prstGeom>
          <a:noFill/>
          <a:ln/>
        </p:spPr>
        <p:txBody>
          <a:bodyPr wrap="square" lIns="0" tIns="0" rIns="0" bIns="0" rtlCol="0" anchor="t">
            <a:normAutofit/>
          </a:bodyPr>
          <a:lstStyle/>
          <a:p>
            <a:pPr algn="l" indent="0" marL="0">
              <a:lnSpc>
                <a:spcPct val="104000"/>
              </a:lnSpc>
              <a:buNone/>
            </a:pPr>
            <a:r>
              <a:rPr lang="en-US" sz="900" dirty="0">
                <a:solidFill>
                  <a:srgbClr val="2B4150"/>
                </a:solidFill>
                <a:latin typeface="MuseoModerno Medium" pitchFamily="34" charset="0"/>
                <a:ea typeface="MuseoModerno Medium" pitchFamily="34" charset="-122"/>
                <a:cs typeface="MuseoModerno Medium" pitchFamily="34" charset="-120"/>
              </a:rPr>
              <a:t>Data Uniqueness &amp; Replaceability</a:t>
            </a:r>
            <a:endParaRPr lang="en-US" sz="900" dirty="0"/>
          </a:p>
        </p:txBody>
      </p:sp>
      <p:sp>
        <p:nvSpPr>
          <p:cNvPr id="46" name="Text 42"/>
          <p:cNvSpPr/>
          <p:nvPr/>
        </p:nvSpPr>
        <p:spPr>
          <a:xfrm>
            <a:off x="4792787" y="2342480"/>
            <a:ext cx="1741215" cy="651123"/>
          </a:xfrm>
          <a:prstGeom prst="rect">
            <a:avLst/>
          </a:prstGeom>
          <a:noFill/>
          <a:ln/>
        </p:spPr>
        <p:txBody>
          <a:bodyPr wrap="square" lIns="0" tIns="0" rIns="0" bIns="0" rtlCol="0" anchor="t">
            <a:normAutofit/>
          </a:bodyPr>
          <a:lstStyle/>
          <a:p>
            <a:pPr algn="l" indent="0" marL="0">
              <a:lnSpc>
                <a:spcPct val="117000"/>
              </a:lnSpc>
              <a:buNone/>
            </a:pPr>
            <a:r>
              <a:rPr lang="en-US" sz="700" dirty="0">
                <a:solidFill>
                  <a:srgbClr val="2B4150"/>
                </a:solidFill>
                <a:latin typeface="Source Sans 3" pitchFamily="34" charset="0"/>
                <a:ea typeface="Source Sans 3" pitchFamily="34" charset="-122"/>
                <a:cs typeface="Source Sans 3" pitchFamily="34" charset="-120"/>
              </a:rPr>
              <a:t>Is the Atlas dataset genuinely proprietary, or can it be replicated through alternative sources, synthetic generation, or public data assembly? The answer drives the learning value component significantly.</a:t>
            </a:r>
            <a:endParaRPr lang="en-US" sz="700" dirty="0"/>
          </a:p>
        </p:txBody>
      </p:sp>
      <p:pic>
        <p:nvPicPr>
          <p:cNvPr id="4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06270" y="1623789"/>
            <a:ext cx="1946374" cy="1472357"/>
          </a:xfrm>
          <a:prstGeom prst="rect">
            <a:avLst/>
          </a:prstGeom>
        </p:spPr>
      </p:pic>
      <p:sp>
        <p:nvSpPr>
          <p:cNvPr id="48" name="Text 43"/>
          <p:cNvSpPr/>
          <p:nvPr/>
        </p:nvSpPr>
        <p:spPr>
          <a:xfrm>
            <a:off x="7609656" y="1685627"/>
            <a:ext cx="139526" cy="174427"/>
          </a:xfrm>
          <a:prstGeom prst="rect">
            <a:avLst/>
          </a:prstGeom>
          <a:noFill/>
          <a:ln/>
        </p:spPr>
        <p:txBody>
          <a:bodyPr wrap="none" lIns="0" tIns="0" rIns="0" bIns="0" rtlCol="0" anchor="ctr"/>
          <a:lstStyle/>
          <a:p>
            <a:pPr algn="ctr" indent="0" marL="0">
              <a:lnSpc>
                <a:spcPct val="100000"/>
              </a:lnSpc>
              <a:buNone/>
            </a:pPr>
            <a:r>
              <a:rPr lang="en-US" sz="1050" dirty="0">
                <a:solidFill>
                  <a:srgbClr val="2B4150"/>
                </a:solidFill>
                <a:latin typeface="MuseoModerno Medium" pitchFamily="34" charset="0"/>
                <a:ea typeface="MuseoModerno Medium" pitchFamily="34" charset="-122"/>
                <a:cs typeface="MuseoModerno Medium" pitchFamily="34" charset="-120"/>
              </a:rPr>
              <a:t>2</a:t>
            </a:r>
            <a:endParaRPr lang="en-US" sz="1050" dirty="0"/>
          </a:p>
        </p:txBody>
      </p:sp>
      <p:sp>
        <p:nvSpPr>
          <p:cNvPr id="49" name="Text 44"/>
          <p:cNvSpPr/>
          <p:nvPr/>
        </p:nvSpPr>
        <p:spPr>
          <a:xfrm>
            <a:off x="6808812" y="1982093"/>
            <a:ext cx="1741289" cy="290661"/>
          </a:xfrm>
          <a:prstGeom prst="rect">
            <a:avLst/>
          </a:prstGeom>
          <a:noFill/>
          <a:ln/>
        </p:spPr>
        <p:txBody>
          <a:bodyPr wrap="square" lIns="0" tIns="0" rIns="0" bIns="0" rtlCol="0" anchor="t">
            <a:normAutofit/>
          </a:bodyPr>
          <a:lstStyle/>
          <a:p>
            <a:pPr algn="l" indent="0" marL="0">
              <a:lnSpc>
                <a:spcPct val="104000"/>
              </a:lnSpc>
              <a:buNone/>
            </a:pPr>
            <a:r>
              <a:rPr lang="en-US" sz="900" dirty="0">
                <a:solidFill>
                  <a:srgbClr val="2B4150"/>
                </a:solidFill>
                <a:latin typeface="MuseoModerno Medium" pitchFamily="34" charset="0"/>
                <a:ea typeface="MuseoModerno Medium" pitchFamily="34" charset="-122"/>
                <a:cs typeface="MuseoModerno Medium" pitchFamily="34" charset="-120"/>
              </a:rPr>
              <a:t>Enterprise Distribution Evidence</a:t>
            </a:r>
            <a:endParaRPr lang="en-US" sz="900" dirty="0"/>
          </a:p>
        </p:txBody>
      </p:sp>
      <p:sp>
        <p:nvSpPr>
          <p:cNvPr id="50" name="Text 45"/>
          <p:cNvSpPr/>
          <p:nvPr/>
        </p:nvSpPr>
        <p:spPr>
          <a:xfrm>
            <a:off x="6808812" y="2342480"/>
            <a:ext cx="1741289" cy="651123"/>
          </a:xfrm>
          <a:prstGeom prst="rect">
            <a:avLst/>
          </a:prstGeom>
          <a:noFill/>
          <a:ln/>
        </p:spPr>
        <p:txBody>
          <a:bodyPr wrap="square" lIns="0" tIns="0" rIns="0" bIns="0" rtlCol="0" anchor="t">
            <a:normAutofit/>
          </a:bodyPr>
          <a:lstStyle/>
          <a:p>
            <a:pPr algn="l" indent="0" marL="0">
              <a:lnSpc>
                <a:spcPct val="117000"/>
              </a:lnSpc>
              <a:buNone/>
            </a:pPr>
            <a:r>
              <a:rPr lang="en-US" sz="700" dirty="0">
                <a:solidFill>
                  <a:srgbClr val="2B4150"/>
                </a:solidFill>
                <a:latin typeface="Source Sans 3" pitchFamily="34" charset="0"/>
                <a:ea typeface="Source Sans 3" pitchFamily="34" charset="-122"/>
                <a:cs typeface="Source Sans 3" pitchFamily="34" charset="-120"/>
              </a:rPr>
              <a:t>What verified evidence supports Atlas's claimed enterprise distribution capability? Pipeline data, existing channel partnerships, and customer reference calls are required before attributing distribution value.</a:t>
            </a:r>
            <a:endParaRPr lang="en-US" sz="700" dirty="0"/>
          </a:p>
        </p:txBody>
      </p:sp>
      <p:pic>
        <p:nvPicPr>
          <p:cNvPr id="5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690244" y="3165872"/>
            <a:ext cx="1946300" cy="1472357"/>
          </a:xfrm>
          <a:prstGeom prst="rect">
            <a:avLst/>
          </a:prstGeom>
        </p:spPr>
      </p:pic>
      <p:sp>
        <p:nvSpPr>
          <p:cNvPr id="52" name="Text 46"/>
          <p:cNvSpPr/>
          <p:nvPr/>
        </p:nvSpPr>
        <p:spPr>
          <a:xfrm>
            <a:off x="5593631" y="3227710"/>
            <a:ext cx="139526" cy="174427"/>
          </a:xfrm>
          <a:prstGeom prst="rect">
            <a:avLst/>
          </a:prstGeom>
          <a:noFill/>
          <a:ln/>
        </p:spPr>
        <p:txBody>
          <a:bodyPr wrap="none" lIns="0" tIns="0" rIns="0" bIns="0" rtlCol="0" anchor="ctr"/>
          <a:lstStyle/>
          <a:p>
            <a:pPr algn="ctr" indent="0" marL="0">
              <a:lnSpc>
                <a:spcPct val="100000"/>
              </a:lnSpc>
              <a:buNone/>
            </a:pPr>
            <a:r>
              <a:rPr lang="en-US" sz="1050" dirty="0">
                <a:solidFill>
                  <a:srgbClr val="2B4150"/>
                </a:solidFill>
                <a:latin typeface="MuseoModerno Medium" pitchFamily="34" charset="0"/>
                <a:ea typeface="MuseoModerno Medium" pitchFamily="34" charset="-122"/>
                <a:cs typeface="MuseoModerno Medium" pitchFamily="34" charset="-120"/>
              </a:rPr>
              <a:t>3</a:t>
            </a:r>
            <a:endParaRPr lang="en-US" sz="1050" dirty="0"/>
          </a:p>
        </p:txBody>
      </p:sp>
      <p:sp>
        <p:nvSpPr>
          <p:cNvPr id="53" name="Text 47"/>
          <p:cNvSpPr/>
          <p:nvPr/>
        </p:nvSpPr>
        <p:spPr>
          <a:xfrm>
            <a:off x="4792787" y="3524176"/>
            <a:ext cx="1741215" cy="290661"/>
          </a:xfrm>
          <a:prstGeom prst="rect">
            <a:avLst/>
          </a:prstGeom>
          <a:noFill/>
          <a:ln/>
        </p:spPr>
        <p:txBody>
          <a:bodyPr wrap="square" lIns="0" tIns="0" rIns="0" bIns="0" rtlCol="0" anchor="t">
            <a:normAutofit/>
          </a:bodyPr>
          <a:lstStyle/>
          <a:p>
            <a:pPr algn="l" indent="0" marL="0">
              <a:lnSpc>
                <a:spcPct val="104000"/>
              </a:lnSpc>
              <a:buNone/>
            </a:pPr>
            <a:r>
              <a:rPr lang="en-US" sz="900" dirty="0">
                <a:solidFill>
                  <a:srgbClr val="2B4150"/>
                </a:solidFill>
                <a:latin typeface="MuseoModerno Medium" pitchFamily="34" charset="0"/>
                <a:ea typeface="MuseoModerno Medium" pitchFamily="34" charset="-122"/>
                <a:cs typeface="MuseoModerno Medium" pitchFamily="34" charset="-120"/>
              </a:rPr>
              <a:t>Implementation Resource Commitment</a:t>
            </a:r>
            <a:endParaRPr lang="en-US" sz="900" dirty="0"/>
          </a:p>
        </p:txBody>
      </p:sp>
      <p:sp>
        <p:nvSpPr>
          <p:cNvPr id="54" name="Text 48"/>
          <p:cNvSpPr/>
          <p:nvPr/>
        </p:nvSpPr>
        <p:spPr>
          <a:xfrm>
            <a:off x="4792787" y="3884563"/>
            <a:ext cx="1741215" cy="651123"/>
          </a:xfrm>
          <a:prstGeom prst="rect">
            <a:avLst/>
          </a:prstGeom>
          <a:noFill/>
          <a:ln/>
        </p:spPr>
        <p:txBody>
          <a:bodyPr wrap="square" lIns="0" tIns="0" rIns="0" bIns="0" rtlCol="0" anchor="t">
            <a:normAutofit/>
          </a:bodyPr>
          <a:lstStyle/>
          <a:p>
            <a:pPr algn="l" indent="0" marL="0">
              <a:lnSpc>
                <a:spcPct val="117000"/>
              </a:lnSpc>
              <a:buNone/>
            </a:pPr>
            <a:r>
              <a:rPr lang="en-US" sz="700" dirty="0">
                <a:solidFill>
                  <a:srgbClr val="2B4150"/>
                </a:solidFill>
                <a:latin typeface="Source Sans 3" pitchFamily="34" charset="0"/>
                <a:ea typeface="Source Sans 3" pitchFamily="34" charset="-122"/>
                <a:cs typeface="Source Sans 3" pitchFamily="34" charset="-120"/>
              </a:rPr>
              <a:t>What internal engineering, product, and legal bandwidth is required? Is the $1.5M support payment sufficient, or does it undercount the true internal cost of integration?</a:t>
            </a:r>
            <a:endParaRPr lang="en-US" sz="700" dirty="0"/>
          </a:p>
        </p:txBody>
      </p:sp>
      <p:pic>
        <p:nvPicPr>
          <p:cNvPr id="55"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706270" y="3165872"/>
            <a:ext cx="1946374" cy="1472357"/>
          </a:xfrm>
          <a:prstGeom prst="rect">
            <a:avLst/>
          </a:prstGeom>
        </p:spPr>
      </p:pic>
      <p:sp>
        <p:nvSpPr>
          <p:cNvPr id="56" name="Text 49"/>
          <p:cNvSpPr/>
          <p:nvPr/>
        </p:nvSpPr>
        <p:spPr>
          <a:xfrm>
            <a:off x="7609656" y="3227710"/>
            <a:ext cx="139526" cy="174427"/>
          </a:xfrm>
          <a:prstGeom prst="rect">
            <a:avLst/>
          </a:prstGeom>
          <a:noFill/>
          <a:ln/>
        </p:spPr>
        <p:txBody>
          <a:bodyPr wrap="none" lIns="0" tIns="0" rIns="0" bIns="0" rtlCol="0" anchor="ctr"/>
          <a:lstStyle/>
          <a:p>
            <a:pPr algn="ctr" indent="0" marL="0">
              <a:lnSpc>
                <a:spcPct val="100000"/>
              </a:lnSpc>
              <a:buNone/>
            </a:pPr>
            <a:r>
              <a:rPr lang="en-US" sz="1050" dirty="0">
                <a:solidFill>
                  <a:srgbClr val="2B4150"/>
                </a:solidFill>
                <a:latin typeface="MuseoModerno Medium" pitchFamily="34" charset="0"/>
                <a:ea typeface="MuseoModerno Medium" pitchFamily="34" charset="-122"/>
                <a:cs typeface="MuseoModerno Medium" pitchFamily="34" charset="-120"/>
              </a:rPr>
              <a:t>4</a:t>
            </a:r>
            <a:endParaRPr lang="en-US" sz="1050" dirty="0"/>
          </a:p>
        </p:txBody>
      </p:sp>
      <p:sp>
        <p:nvSpPr>
          <p:cNvPr id="57" name="Text 50"/>
          <p:cNvSpPr/>
          <p:nvPr/>
        </p:nvSpPr>
        <p:spPr>
          <a:xfrm>
            <a:off x="6808812" y="3524176"/>
            <a:ext cx="1741289" cy="290661"/>
          </a:xfrm>
          <a:prstGeom prst="rect">
            <a:avLst/>
          </a:prstGeom>
          <a:noFill/>
          <a:ln/>
        </p:spPr>
        <p:txBody>
          <a:bodyPr wrap="square" lIns="0" tIns="0" rIns="0" bIns="0" rtlCol="0" anchor="t">
            <a:normAutofit/>
          </a:bodyPr>
          <a:lstStyle/>
          <a:p>
            <a:pPr algn="l" indent="0" marL="0">
              <a:lnSpc>
                <a:spcPct val="104000"/>
              </a:lnSpc>
              <a:buNone/>
            </a:pPr>
            <a:r>
              <a:rPr lang="en-US" sz="900" dirty="0">
                <a:solidFill>
                  <a:srgbClr val="2B4150"/>
                </a:solidFill>
                <a:latin typeface="MuseoModerno Medium" pitchFamily="34" charset="0"/>
                <a:ea typeface="MuseoModerno Medium" pitchFamily="34" charset="-122"/>
                <a:cs typeface="MuseoModerno Medium" pitchFamily="34" charset="-120"/>
              </a:rPr>
              <a:t>Opportunity Cost of Exclusivity</a:t>
            </a:r>
            <a:endParaRPr lang="en-US" sz="900" dirty="0"/>
          </a:p>
        </p:txBody>
      </p:sp>
      <p:sp>
        <p:nvSpPr>
          <p:cNvPr id="58" name="Text 51"/>
          <p:cNvSpPr/>
          <p:nvPr/>
        </p:nvSpPr>
        <p:spPr>
          <a:xfrm>
            <a:off x="6808812" y="3884563"/>
            <a:ext cx="1741289" cy="651123"/>
          </a:xfrm>
          <a:prstGeom prst="rect">
            <a:avLst/>
          </a:prstGeom>
          <a:noFill/>
          <a:ln/>
        </p:spPr>
        <p:txBody>
          <a:bodyPr wrap="square" lIns="0" tIns="0" rIns="0" bIns="0" rtlCol="0" anchor="t">
            <a:normAutofit/>
          </a:bodyPr>
          <a:lstStyle/>
          <a:p>
            <a:pPr algn="l" indent="0" marL="0">
              <a:lnSpc>
                <a:spcPct val="117000"/>
              </a:lnSpc>
              <a:buNone/>
            </a:pPr>
            <a:r>
              <a:rPr lang="en-US" sz="700" dirty="0">
                <a:solidFill>
                  <a:srgbClr val="2B4150"/>
                </a:solidFill>
                <a:latin typeface="Source Sans 3" pitchFamily="34" charset="0"/>
                <a:ea typeface="Source Sans 3" pitchFamily="34" charset="-122"/>
                <a:cs typeface="Source Sans 3" pitchFamily="34" charset="-120"/>
              </a:rPr>
              <a:t>Which alternative partnerships are foreclosed by the category exclusivity? Has the strategy team mapped the competitive landscape of deals in the same category over a 24-month horizon?</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96119" y="341114"/>
            <a:ext cx="944166" cy="94283"/>
          </a:xfrm>
          <a:prstGeom prst="roundRect">
            <a:avLst>
              <a:gd name="adj" fmla="val 7894"/>
            </a:avLst>
          </a:prstGeom>
          <a:noFill/>
          <a:ln w="4763">
            <a:solidFill>
              <a:srgbClr val="325F7B"/>
            </a:solidFill>
            <a:prstDash val="solid"/>
          </a:ln>
        </p:spPr>
      </p:sp>
      <p:sp>
        <p:nvSpPr>
          <p:cNvPr id="3" name="Text 1"/>
          <p:cNvSpPr/>
          <p:nvPr/>
        </p:nvSpPr>
        <p:spPr>
          <a:xfrm>
            <a:off x="533326" y="359718"/>
            <a:ext cx="1326952" cy="57076"/>
          </a:xfrm>
          <a:prstGeom prst="rect">
            <a:avLst/>
          </a:prstGeom>
          <a:noFill/>
          <a:ln/>
        </p:spPr>
        <p:txBody>
          <a:bodyPr wrap="none" lIns="0" tIns="0" rIns="0" bIns="0" rtlCol="0" anchor="t"/>
          <a:lstStyle/>
          <a:p>
            <a:pPr algn="l" indent="0" marL="0">
              <a:lnSpc>
                <a:spcPct val="96000"/>
              </a:lnSpc>
              <a:buNone/>
            </a:pPr>
            <a:r>
              <a:rPr lang="en-US" sz="350" dirty="0">
                <a:solidFill>
                  <a:srgbClr val="325F7B"/>
                </a:solidFill>
                <a:latin typeface="Source Sans 3" pitchFamily="34" charset="0"/>
                <a:ea typeface="Source Sans 3" pitchFamily="34" charset="-122"/>
                <a:cs typeface="Source Sans 3" pitchFamily="34" charset="-120"/>
              </a:rPr>
              <a:t>SCENARIO VALUATION — SYNTHETIC CASE</a:t>
            </a:r>
            <a:endParaRPr lang="en-US" sz="350" dirty="0"/>
          </a:p>
        </p:txBody>
      </p:sp>
      <p:sp>
        <p:nvSpPr>
          <p:cNvPr id="4" name="Text 2"/>
          <p:cNvSpPr/>
          <p:nvPr/>
        </p:nvSpPr>
        <p:spPr>
          <a:xfrm>
            <a:off x="496119" y="447749"/>
            <a:ext cx="8151763" cy="193849"/>
          </a:xfrm>
          <a:prstGeom prst="rect">
            <a:avLst/>
          </a:prstGeom>
          <a:noFill/>
          <a:ln/>
        </p:spPr>
        <p:txBody>
          <a:bodyPr wrap="none" lIns="0" tIns="0" rIns="0" bIns="0" rtlCol="0" anchor="t"/>
          <a:lstStyle/>
          <a:p>
            <a:pPr algn="l" indent="0" marL="0">
              <a:lnSpc>
                <a:spcPct val="104000"/>
              </a:lnSpc>
              <a:buNone/>
            </a:pPr>
            <a:r>
              <a:rPr lang="en-US" sz="1200" dirty="0">
                <a:solidFill>
                  <a:srgbClr val="124E73"/>
                </a:solidFill>
                <a:latin typeface="MuseoModerno Medium" pitchFamily="34" charset="0"/>
                <a:ea typeface="MuseoModerno Medium" pitchFamily="34" charset="-122"/>
                <a:cs typeface="MuseoModerno Medium" pitchFamily="34" charset="-120"/>
              </a:rPr>
              <a:t>The Base Case Does Not Clear the Proposed Economics</a:t>
            </a:r>
            <a:endParaRPr lang="en-US" sz="1200" dirty="0"/>
          </a:p>
        </p:txBody>
      </p:sp>
      <p:sp>
        <p:nvSpPr>
          <p:cNvPr id="5" name="Text 3"/>
          <p:cNvSpPr/>
          <p:nvPr/>
        </p:nvSpPr>
        <p:spPr>
          <a:xfrm>
            <a:off x="496119" y="688107"/>
            <a:ext cx="8151763" cy="148679"/>
          </a:xfrm>
          <a:prstGeom prst="rect">
            <a:avLst/>
          </a:prstGeom>
          <a:noFill/>
          <a:ln/>
        </p:spPr>
        <p:txBody>
          <a:bodyPr wrap="square" lIns="0" tIns="0" rIns="0" bIns="0" rtlCol="0" anchor="t">
            <a:normAutofit/>
          </a:bodyPr>
          <a:lstStyle/>
          <a:p>
            <a:pPr algn="l" indent="0" marL="0">
              <a:lnSpc>
                <a:spcPct val="100000"/>
              </a:lnSpc>
              <a:buNone/>
            </a:pPr>
            <a:r>
              <a:rPr lang="en-US" sz="450" dirty="0">
                <a:solidFill>
                  <a:srgbClr val="2B4150"/>
                </a:solidFill>
                <a:latin typeface="Source Sans 3" pitchFamily="34" charset="0"/>
                <a:ea typeface="Source Sans 3" pitchFamily="34" charset="-122"/>
                <a:cs typeface="Source Sans 3" pitchFamily="34" charset="-120"/>
              </a:rPr>
              <a:t>Scenario analysis is not a formality — it is the primary tool for surfacing whether the deal makes sense across the realistic range of outcomes. In the Atlas case, only the upside scenario produces a confidence-adjusted value that exceeds the proposed economic cost of $31.0M. The base case shows a gap of </a:t>
            </a:r>
            <a:pPr algn="l" indent="0" marL="0">
              <a:lnSpc>
                <a:spcPct val="100000"/>
              </a:lnSpc>
              <a:buNone/>
            </a:pPr>
            <a:r>
              <a:rPr lang="en-US" sz="450" b="1" dirty="0">
                <a:solidFill>
                  <a:srgbClr val="2B4150"/>
                </a:solidFill>
                <a:latin typeface="Source Sans 3 Bold" pitchFamily="34" charset="0"/>
                <a:ea typeface="Source Sans 3 Bold" pitchFamily="34" charset="-122"/>
                <a:cs typeface="Source Sans 3 Bold" pitchFamily="34" charset="-120"/>
              </a:rPr>
              <a:t>–$5.8M</a:t>
            </a:r>
            <a:pPr algn="l" indent="0" marL="0">
              <a:lnSpc>
                <a:spcPct val="100000"/>
              </a:lnSpc>
              <a:buNone/>
            </a:pPr>
            <a:r>
              <a:rPr lang="en-US" sz="450" dirty="0">
                <a:solidFill>
                  <a:srgbClr val="2B4150"/>
                </a:solidFill>
                <a:latin typeface="Source Sans 3" pitchFamily="34" charset="0"/>
                <a:ea typeface="Source Sans 3" pitchFamily="34" charset="-122"/>
                <a:cs typeface="Source Sans 3" pitchFamily="34" charset="-120"/>
              </a:rPr>
              <a:t>. The deal requires either restructuring or material upside evidence before it can be recommended.</a:t>
            </a:r>
            <a:endParaRPr lang="en-US" sz="450" dirty="0"/>
          </a:p>
        </p:txBody>
      </p:sp>
      <p:sp>
        <p:nvSpPr>
          <p:cNvPr id="6" name="Shape 4"/>
          <p:cNvSpPr/>
          <p:nvPr/>
        </p:nvSpPr>
        <p:spPr>
          <a:xfrm>
            <a:off x="496119" y="871612"/>
            <a:ext cx="8151763" cy="508099"/>
          </a:xfrm>
          <a:prstGeom prst="roundRect">
            <a:avLst>
              <a:gd name="adj" fmla="val 1831"/>
            </a:avLst>
          </a:prstGeom>
          <a:noFill/>
          <a:ln w="4763">
            <a:solidFill>
              <a:srgbClr val="000000">
                <a:alpha val="8000"/>
              </a:srgbClr>
            </a:solidFill>
            <a:prstDash val="solid"/>
          </a:ln>
        </p:spPr>
      </p:sp>
      <p:sp>
        <p:nvSpPr>
          <p:cNvPr id="7" name="Shape 5"/>
          <p:cNvSpPr/>
          <p:nvPr/>
        </p:nvSpPr>
        <p:spPr>
          <a:xfrm>
            <a:off x="496119" y="999827"/>
            <a:ext cx="8151763" cy="4763"/>
          </a:xfrm>
          <a:prstGeom prst="rect">
            <a:avLst/>
          </a:prstGeom>
          <a:solidFill>
            <a:srgbClr val="000000">
              <a:alpha val="8000"/>
            </a:srgbClr>
          </a:solidFill>
          <a:ln/>
        </p:spPr>
      </p:sp>
      <p:sp>
        <p:nvSpPr>
          <p:cNvPr id="8" name="Shape 6"/>
          <p:cNvSpPr/>
          <p:nvPr/>
        </p:nvSpPr>
        <p:spPr>
          <a:xfrm>
            <a:off x="496119" y="1125662"/>
            <a:ext cx="8151763" cy="4763"/>
          </a:xfrm>
          <a:prstGeom prst="rect">
            <a:avLst/>
          </a:prstGeom>
          <a:solidFill>
            <a:srgbClr val="000000">
              <a:alpha val="8000"/>
            </a:srgbClr>
          </a:solidFill>
          <a:ln/>
        </p:spPr>
      </p:sp>
      <p:sp>
        <p:nvSpPr>
          <p:cNvPr id="9" name="Shape 7"/>
          <p:cNvSpPr/>
          <p:nvPr/>
        </p:nvSpPr>
        <p:spPr>
          <a:xfrm>
            <a:off x="496119" y="1251496"/>
            <a:ext cx="8151763" cy="4763"/>
          </a:xfrm>
          <a:prstGeom prst="rect">
            <a:avLst/>
          </a:prstGeom>
          <a:solidFill>
            <a:srgbClr val="000000">
              <a:alpha val="8000"/>
            </a:srgbClr>
          </a:solidFill>
          <a:ln/>
        </p:spPr>
      </p:sp>
      <p:sp>
        <p:nvSpPr>
          <p:cNvPr id="10" name="Shape 8"/>
          <p:cNvSpPr/>
          <p:nvPr/>
        </p:nvSpPr>
        <p:spPr>
          <a:xfrm>
            <a:off x="2129507" y="871612"/>
            <a:ext cx="4763" cy="508099"/>
          </a:xfrm>
          <a:prstGeom prst="rect">
            <a:avLst/>
          </a:prstGeom>
          <a:solidFill>
            <a:srgbClr val="000000">
              <a:alpha val="8000"/>
            </a:srgbClr>
          </a:solidFill>
          <a:ln/>
        </p:spPr>
      </p:sp>
      <p:sp>
        <p:nvSpPr>
          <p:cNvPr id="11" name="Shape 9"/>
          <p:cNvSpPr/>
          <p:nvPr/>
        </p:nvSpPr>
        <p:spPr>
          <a:xfrm>
            <a:off x="3757910" y="871612"/>
            <a:ext cx="4763" cy="508099"/>
          </a:xfrm>
          <a:prstGeom prst="rect">
            <a:avLst/>
          </a:prstGeom>
          <a:solidFill>
            <a:srgbClr val="000000">
              <a:alpha val="8000"/>
            </a:srgbClr>
          </a:solidFill>
          <a:ln/>
        </p:spPr>
      </p:sp>
      <p:sp>
        <p:nvSpPr>
          <p:cNvPr id="12" name="Shape 10"/>
          <p:cNvSpPr/>
          <p:nvPr/>
        </p:nvSpPr>
        <p:spPr>
          <a:xfrm>
            <a:off x="5386313" y="871612"/>
            <a:ext cx="4763" cy="508099"/>
          </a:xfrm>
          <a:prstGeom prst="rect">
            <a:avLst/>
          </a:prstGeom>
          <a:solidFill>
            <a:srgbClr val="000000">
              <a:alpha val="8000"/>
            </a:srgbClr>
          </a:solidFill>
          <a:ln/>
        </p:spPr>
      </p:sp>
      <p:sp>
        <p:nvSpPr>
          <p:cNvPr id="13" name="Shape 11"/>
          <p:cNvSpPr/>
          <p:nvPr/>
        </p:nvSpPr>
        <p:spPr>
          <a:xfrm>
            <a:off x="7014716" y="871612"/>
            <a:ext cx="4763" cy="508099"/>
          </a:xfrm>
          <a:prstGeom prst="rect">
            <a:avLst/>
          </a:prstGeom>
          <a:solidFill>
            <a:srgbClr val="000000">
              <a:alpha val="8000"/>
            </a:srgbClr>
          </a:solidFill>
          <a:ln/>
        </p:spPr>
      </p:sp>
      <p:sp>
        <p:nvSpPr>
          <p:cNvPr id="14" name="Shape 12"/>
          <p:cNvSpPr/>
          <p:nvPr/>
        </p:nvSpPr>
        <p:spPr>
          <a:xfrm>
            <a:off x="501104" y="876374"/>
            <a:ext cx="1628403" cy="123453"/>
          </a:xfrm>
          <a:custGeom>
            <a:avLst/>
            <a:gdLst/>
            <a:ahLst/>
            <a:cxnLst/>
            <a:rect l="l" t="t" r="r" b="b"/>
            <a:pathLst>
              <a:path w="1628403" h="123453">
                <a:moveTo>
                  <a:pt x="7753" y="0"/>
                </a:moveTo>
                <a:lnTo>
                  <a:pt x="1628403" y="0"/>
                </a:lnTo>
                <a:lnTo>
                  <a:pt x="1628403" y="123453"/>
                </a:lnTo>
                <a:lnTo>
                  <a:pt x="0" y="123453"/>
                </a:lnTo>
                <a:lnTo>
                  <a:pt x="0" y="7753"/>
                </a:lnTo>
                <a:arcTo hR="7753" wR="7753" stAng="10800000" swAng="5400000"/>
                <a:close/>
              </a:path>
            </a:pathLst>
          </a:custGeom>
          <a:solidFill>
            <a:srgbClr val="325F7B"/>
          </a:solidFill>
          <a:ln/>
        </p:spPr>
      </p:sp>
      <p:sp>
        <p:nvSpPr>
          <p:cNvPr id="15" name="Text 13"/>
          <p:cNvSpPr/>
          <p:nvPr/>
        </p:nvSpPr>
        <p:spPr>
          <a:xfrm>
            <a:off x="563091" y="899740"/>
            <a:ext cx="1959248" cy="74340"/>
          </a:xfrm>
          <a:prstGeom prst="rect">
            <a:avLst/>
          </a:prstGeom>
          <a:noFill/>
          <a:ln/>
        </p:spPr>
        <p:txBody>
          <a:bodyPr wrap="none" lIns="0" tIns="0" rIns="0" bIns="0" rtlCol="0" anchor="t"/>
          <a:lstStyle/>
          <a:p>
            <a:pPr algn="l" indent="0" marL="0">
              <a:lnSpc>
                <a:spcPct val="100000"/>
              </a:lnSpc>
              <a:buNone/>
            </a:pPr>
            <a:r>
              <a:rPr lang="en-US" sz="450" b="1" dirty="0">
                <a:solidFill>
                  <a:srgbClr val="FFFFFF"/>
                </a:solidFill>
                <a:latin typeface="Source Sans 3 Bold" pitchFamily="34" charset="0"/>
                <a:ea typeface="Source Sans 3 Bold" pitchFamily="34" charset="-122"/>
                <a:cs typeface="Source Sans 3 Bold" pitchFamily="34" charset="-120"/>
              </a:rPr>
              <a:t>Scenario</a:t>
            </a:r>
            <a:endParaRPr lang="en-US" sz="450" dirty="0"/>
          </a:p>
        </p:txBody>
      </p:sp>
      <p:sp>
        <p:nvSpPr>
          <p:cNvPr id="16" name="Shape 14"/>
          <p:cNvSpPr/>
          <p:nvPr/>
        </p:nvSpPr>
        <p:spPr>
          <a:xfrm>
            <a:off x="2129507" y="876374"/>
            <a:ext cx="1628403" cy="123453"/>
          </a:xfrm>
          <a:prstGeom prst="rect">
            <a:avLst/>
          </a:prstGeom>
          <a:solidFill>
            <a:srgbClr val="325F7B"/>
          </a:solidFill>
          <a:ln/>
        </p:spPr>
      </p:sp>
      <p:sp>
        <p:nvSpPr>
          <p:cNvPr id="17" name="Text 15"/>
          <p:cNvSpPr/>
          <p:nvPr/>
        </p:nvSpPr>
        <p:spPr>
          <a:xfrm>
            <a:off x="2193875" y="899740"/>
            <a:ext cx="1956867" cy="74340"/>
          </a:xfrm>
          <a:prstGeom prst="rect">
            <a:avLst/>
          </a:prstGeom>
          <a:noFill/>
          <a:ln/>
        </p:spPr>
        <p:txBody>
          <a:bodyPr wrap="none" lIns="0" tIns="0" rIns="0" bIns="0" rtlCol="0" anchor="t"/>
          <a:lstStyle/>
          <a:p>
            <a:pPr algn="l" indent="0" marL="0">
              <a:lnSpc>
                <a:spcPct val="100000"/>
              </a:lnSpc>
              <a:buNone/>
            </a:pPr>
            <a:r>
              <a:rPr lang="en-US" sz="450" b="1" dirty="0">
                <a:solidFill>
                  <a:srgbClr val="FFFFFF"/>
                </a:solidFill>
                <a:latin typeface="Source Sans 3 Bold" pitchFamily="34" charset="0"/>
                <a:ea typeface="Source Sans 3 Bold" pitchFamily="34" charset="-122"/>
                <a:cs typeface="Source Sans 3 Bold" pitchFamily="34" charset="-120"/>
              </a:rPr>
              <a:t>Gross Value</a:t>
            </a:r>
            <a:endParaRPr lang="en-US" sz="450" dirty="0"/>
          </a:p>
        </p:txBody>
      </p:sp>
      <p:sp>
        <p:nvSpPr>
          <p:cNvPr id="18" name="Shape 16"/>
          <p:cNvSpPr/>
          <p:nvPr/>
        </p:nvSpPr>
        <p:spPr>
          <a:xfrm>
            <a:off x="3757910" y="876374"/>
            <a:ext cx="1628403" cy="123453"/>
          </a:xfrm>
          <a:prstGeom prst="rect">
            <a:avLst/>
          </a:prstGeom>
          <a:solidFill>
            <a:srgbClr val="325F7B"/>
          </a:solidFill>
          <a:ln/>
        </p:spPr>
      </p:sp>
      <p:sp>
        <p:nvSpPr>
          <p:cNvPr id="19" name="Text 17"/>
          <p:cNvSpPr/>
          <p:nvPr/>
        </p:nvSpPr>
        <p:spPr>
          <a:xfrm>
            <a:off x="3822278" y="899740"/>
            <a:ext cx="1956867" cy="74340"/>
          </a:xfrm>
          <a:prstGeom prst="rect">
            <a:avLst/>
          </a:prstGeom>
          <a:noFill/>
          <a:ln/>
        </p:spPr>
        <p:txBody>
          <a:bodyPr wrap="none" lIns="0" tIns="0" rIns="0" bIns="0" rtlCol="0" anchor="t"/>
          <a:lstStyle/>
          <a:p>
            <a:pPr algn="l" indent="0" marL="0">
              <a:lnSpc>
                <a:spcPct val="100000"/>
              </a:lnSpc>
              <a:buNone/>
            </a:pPr>
            <a:r>
              <a:rPr lang="en-US" sz="450" b="1" dirty="0">
                <a:solidFill>
                  <a:srgbClr val="FFFFFF"/>
                </a:solidFill>
                <a:latin typeface="Source Sans 3 Bold" pitchFamily="34" charset="0"/>
                <a:ea typeface="Source Sans 3 Bold" pitchFamily="34" charset="-122"/>
                <a:cs typeface="Source Sans 3 Bold" pitchFamily="34" charset="-120"/>
              </a:rPr>
              <a:t>Confidence Factor</a:t>
            </a:r>
            <a:endParaRPr lang="en-US" sz="450" dirty="0"/>
          </a:p>
        </p:txBody>
      </p:sp>
      <p:sp>
        <p:nvSpPr>
          <p:cNvPr id="20" name="Shape 18"/>
          <p:cNvSpPr/>
          <p:nvPr/>
        </p:nvSpPr>
        <p:spPr>
          <a:xfrm>
            <a:off x="5386313" y="876374"/>
            <a:ext cx="1628403" cy="123453"/>
          </a:xfrm>
          <a:prstGeom prst="rect">
            <a:avLst/>
          </a:prstGeom>
          <a:solidFill>
            <a:srgbClr val="325F7B"/>
          </a:solidFill>
          <a:ln/>
        </p:spPr>
      </p:sp>
      <p:sp>
        <p:nvSpPr>
          <p:cNvPr id="21" name="Text 19"/>
          <p:cNvSpPr/>
          <p:nvPr/>
        </p:nvSpPr>
        <p:spPr>
          <a:xfrm>
            <a:off x="5450681" y="899740"/>
            <a:ext cx="1956867" cy="74340"/>
          </a:xfrm>
          <a:prstGeom prst="rect">
            <a:avLst/>
          </a:prstGeom>
          <a:noFill/>
          <a:ln/>
        </p:spPr>
        <p:txBody>
          <a:bodyPr wrap="none" lIns="0" tIns="0" rIns="0" bIns="0" rtlCol="0" anchor="t"/>
          <a:lstStyle/>
          <a:p>
            <a:pPr algn="l" indent="0" marL="0">
              <a:lnSpc>
                <a:spcPct val="100000"/>
              </a:lnSpc>
              <a:buNone/>
            </a:pPr>
            <a:r>
              <a:rPr lang="en-US" sz="450" b="1" dirty="0">
                <a:solidFill>
                  <a:srgbClr val="FFFFFF"/>
                </a:solidFill>
                <a:latin typeface="Source Sans 3 Bold" pitchFamily="34" charset="0"/>
                <a:ea typeface="Source Sans 3 Bold" pitchFamily="34" charset="-122"/>
                <a:cs typeface="Source Sans 3 Bold" pitchFamily="34" charset="-120"/>
              </a:rPr>
              <a:t>Confidence-Adjusted Value</a:t>
            </a:r>
            <a:endParaRPr lang="en-US" sz="450" dirty="0"/>
          </a:p>
        </p:txBody>
      </p:sp>
      <p:sp>
        <p:nvSpPr>
          <p:cNvPr id="22" name="Shape 20"/>
          <p:cNvSpPr/>
          <p:nvPr/>
        </p:nvSpPr>
        <p:spPr>
          <a:xfrm>
            <a:off x="7014716" y="876374"/>
            <a:ext cx="1628403" cy="123453"/>
          </a:xfrm>
          <a:custGeom>
            <a:avLst/>
            <a:gdLst/>
            <a:ahLst/>
            <a:cxnLst/>
            <a:rect l="l" t="t" r="r" b="b"/>
            <a:pathLst>
              <a:path w="1628403" h="123453">
                <a:moveTo>
                  <a:pt x="0" y="0"/>
                </a:moveTo>
                <a:lnTo>
                  <a:pt x="1620650" y="0"/>
                </a:lnTo>
                <a:arcTo hR="7753" wR="7753" stAng="16200000" swAng="5400000"/>
                <a:lnTo>
                  <a:pt x="1628403" y="123453"/>
                </a:lnTo>
                <a:lnTo>
                  <a:pt x="0" y="123453"/>
                </a:lnTo>
                <a:lnTo>
                  <a:pt x="0" y="0"/>
                </a:lnTo>
                <a:close/>
              </a:path>
            </a:pathLst>
          </a:custGeom>
          <a:solidFill>
            <a:srgbClr val="325F7B"/>
          </a:solidFill>
          <a:ln/>
        </p:spPr>
      </p:sp>
      <p:sp>
        <p:nvSpPr>
          <p:cNvPr id="23" name="Text 21"/>
          <p:cNvSpPr/>
          <p:nvPr/>
        </p:nvSpPr>
        <p:spPr>
          <a:xfrm>
            <a:off x="7079084" y="899740"/>
            <a:ext cx="1959248" cy="74340"/>
          </a:xfrm>
          <a:prstGeom prst="rect">
            <a:avLst/>
          </a:prstGeom>
          <a:noFill/>
          <a:ln/>
        </p:spPr>
        <p:txBody>
          <a:bodyPr wrap="none" lIns="0" tIns="0" rIns="0" bIns="0" rtlCol="0" anchor="t"/>
          <a:lstStyle/>
          <a:p>
            <a:pPr algn="l" indent="0" marL="0">
              <a:lnSpc>
                <a:spcPct val="100000"/>
              </a:lnSpc>
              <a:buNone/>
            </a:pPr>
            <a:r>
              <a:rPr lang="en-US" sz="450" b="1" dirty="0">
                <a:solidFill>
                  <a:srgbClr val="FFFFFF"/>
                </a:solidFill>
                <a:latin typeface="Source Sans 3 Bold" pitchFamily="34" charset="0"/>
                <a:ea typeface="Source Sans 3 Bold" pitchFamily="34" charset="-122"/>
                <a:cs typeface="Source Sans 3 Bold" pitchFamily="34" charset="-120"/>
              </a:rPr>
              <a:t>vs. $31.0M Cost</a:t>
            </a:r>
            <a:endParaRPr lang="en-US" sz="450" dirty="0"/>
          </a:p>
        </p:txBody>
      </p:sp>
      <p:sp>
        <p:nvSpPr>
          <p:cNvPr id="24" name="Text 22"/>
          <p:cNvSpPr/>
          <p:nvPr/>
        </p:nvSpPr>
        <p:spPr>
          <a:xfrm>
            <a:off x="563091" y="1025575"/>
            <a:ext cx="1959248" cy="74340"/>
          </a:xfrm>
          <a:prstGeom prst="rect">
            <a:avLst/>
          </a:prstGeom>
          <a:noFill/>
          <a:ln/>
        </p:spPr>
        <p:txBody>
          <a:bodyPr wrap="none" lIns="0" tIns="0" rIns="0" bIns="0" rtlCol="0" anchor="t"/>
          <a:lstStyle/>
          <a:p>
            <a:pPr algn="l" indent="0" marL="0">
              <a:lnSpc>
                <a:spcPct val="100000"/>
              </a:lnSpc>
              <a:buNone/>
            </a:pPr>
            <a:r>
              <a:rPr lang="en-US" sz="450" dirty="0">
                <a:solidFill>
                  <a:srgbClr val="2B4150"/>
                </a:solidFill>
                <a:latin typeface="Source Sans 3" pitchFamily="34" charset="0"/>
                <a:ea typeface="Source Sans 3" pitchFamily="34" charset="-122"/>
                <a:cs typeface="Source Sans 3" pitchFamily="34" charset="-120"/>
              </a:rPr>
              <a:t>Downside</a:t>
            </a:r>
            <a:endParaRPr lang="en-US" sz="450" dirty="0"/>
          </a:p>
        </p:txBody>
      </p:sp>
      <p:sp>
        <p:nvSpPr>
          <p:cNvPr id="25" name="Text 23"/>
          <p:cNvSpPr/>
          <p:nvPr/>
        </p:nvSpPr>
        <p:spPr>
          <a:xfrm>
            <a:off x="2193875" y="1025575"/>
            <a:ext cx="1956867" cy="74340"/>
          </a:xfrm>
          <a:prstGeom prst="rect">
            <a:avLst/>
          </a:prstGeom>
          <a:noFill/>
          <a:ln/>
        </p:spPr>
        <p:txBody>
          <a:bodyPr wrap="none" lIns="0" tIns="0" rIns="0" bIns="0" rtlCol="0" anchor="t"/>
          <a:lstStyle/>
          <a:p>
            <a:pPr algn="l" indent="0" marL="0">
              <a:lnSpc>
                <a:spcPct val="100000"/>
              </a:lnSpc>
              <a:buNone/>
            </a:pPr>
            <a:r>
              <a:rPr lang="en-US" sz="450" dirty="0">
                <a:solidFill>
                  <a:srgbClr val="2B4150"/>
                </a:solidFill>
                <a:latin typeface="Source Sans 3" pitchFamily="34" charset="0"/>
                <a:ea typeface="Source Sans 3" pitchFamily="34" charset="-122"/>
                <a:cs typeface="Source Sans 3" pitchFamily="34" charset="-120"/>
              </a:rPr>
              <a:t>$14.0M</a:t>
            </a:r>
            <a:endParaRPr lang="en-US" sz="450" dirty="0"/>
          </a:p>
        </p:txBody>
      </p:sp>
      <p:sp>
        <p:nvSpPr>
          <p:cNvPr id="26" name="Text 24"/>
          <p:cNvSpPr/>
          <p:nvPr/>
        </p:nvSpPr>
        <p:spPr>
          <a:xfrm>
            <a:off x="3822278" y="1025575"/>
            <a:ext cx="1956867" cy="74340"/>
          </a:xfrm>
          <a:prstGeom prst="rect">
            <a:avLst/>
          </a:prstGeom>
          <a:noFill/>
          <a:ln/>
        </p:spPr>
        <p:txBody>
          <a:bodyPr wrap="none" lIns="0" tIns="0" rIns="0" bIns="0" rtlCol="0" anchor="t"/>
          <a:lstStyle/>
          <a:p>
            <a:pPr algn="l" indent="0" marL="0">
              <a:lnSpc>
                <a:spcPct val="100000"/>
              </a:lnSpc>
              <a:buNone/>
            </a:pPr>
            <a:r>
              <a:rPr lang="en-US" sz="450" dirty="0">
                <a:solidFill>
                  <a:srgbClr val="2B4150"/>
                </a:solidFill>
                <a:latin typeface="Source Sans 3" pitchFamily="34" charset="0"/>
                <a:ea typeface="Source Sans 3" pitchFamily="34" charset="-122"/>
                <a:cs typeface="Source Sans 3" pitchFamily="34" charset="-120"/>
              </a:rPr>
              <a:t>0.55</a:t>
            </a:r>
            <a:endParaRPr lang="en-US" sz="450" dirty="0"/>
          </a:p>
        </p:txBody>
      </p:sp>
      <p:sp>
        <p:nvSpPr>
          <p:cNvPr id="27" name="Text 25"/>
          <p:cNvSpPr/>
          <p:nvPr/>
        </p:nvSpPr>
        <p:spPr>
          <a:xfrm>
            <a:off x="5450681" y="1025575"/>
            <a:ext cx="1956867" cy="74340"/>
          </a:xfrm>
          <a:prstGeom prst="rect">
            <a:avLst/>
          </a:prstGeom>
          <a:noFill/>
          <a:ln/>
        </p:spPr>
        <p:txBody>
          <a:bodyPr wrap="none" lIns="0" tIns="0" rIns="0" bIns="0" rtlCol="0" anchor="t"/>
          <a:lstStyle/>
          <a:p>
            <a:pPr algn="l" indent="0" marL="0">
              <a:lnSpc>
                <a:spcPct val="100000"/>
              </a:lnSpc>
              <a:buNone/>
            </a:pPr>
            <a:r>
              <a:rPr lang="en-US" sz="450" dirty="0">
                <a:solidFill>
                  <a:srgbClr val="2B4150"/>
                </a:solidFill>
                <a:latin typeface="Source Sans 3" pitchFamily="34" charset="0"/>
                <a:ea typeface="Source Sans 3" pitchFamily="34" charset="-122"/>
                <a:cs typeface="Source Sans 3" pitchFamily="34" charset="-120"/>
              </a:rPr>
              <a:t>$7.7M</a:t>
            </a:r>
            <a:endParaRPr lang="en-US" sz="450" dirty="0"/>
          </a:p>
        </p:txBody>
      </p:sp>
      <p:sp>
        <p:nvSpPr>
          <p:cNvPr id="28" name="Text 26"/>
          <p:cNvSpPr/>
          <p:nvPr/>
        </p:nvSpPr>
        <p:spPr>
          <a:xfrm>
            <a:off x="7079084" y="1025575"/>
            <a:ext cx="1959248" cy="74340"/>
          </a:xfrm>
          <a:prstGeom prst="rect">
            <a:avLst/>
          </a:prstGeom>
          <a:noFill/>
          <a:ln/>
        </p:spPr>
        <p:txBody>
          <a:bodyPr wrap="none" lIns="0" tIns="0" rIns="0" bIns="0" rtlCol="0" anchor="t"/>
          <a:lstStyle/>
          <a:p>
            <a:pPr algn="l" indent="0" marL="0">
              <a:lnSpc>
                <a:spcPct val="100000"/>
              </a:lnSpc>
              <a:buNone/>
            </a:pPr>
            <a:r>
              <a:rPr lang="en-US" sz="450" b="1" dirty="0">
                <a:solidFill>
                  <a:srgbClr val="51738C"/>
                </a:solidFill>
                <a:latin typeface="Source Sans 3 Bold" pitchFamily="34" charset="0"/>
                <a:ea typeface="Source Sans 3 Bold" pitchFamily="34" charset="-122"/>
                <a:cs typeface="Source Sans 3 Bold" pitchFamily="34" charset="-120"/>
              </a:rPr>
              <a:t>–$23.3M</a:t>
            </a:r>
            <a:endParaRPr lang="en-US" sz="450" dirty="0"/>
          </a:p>
        </p:txBody>
      </p:sp>
      <p:sp>
        <p:nvSpPr>
          <p:cNvPr id="29" name="Text 27"/>
          <p:cNvSpPr/>
          <p:nvPr/>
        </p:nvSpPr>
        <p:spPr>
          <a:xfrm>
            <a:off x="563091" y="1151409"/>
            <a:ext cx="1959248" cy="74340"/>
          </a:xfrm>
          <a:prstGeom prst="rect">
            <a:avLst/>
          </a:prstGeom>
          <a:noFill/>
          <a:ln/>
        </p:spPr>
        <p:txBody>
          <a:bodyPr wrap="none" lIns="0" tIns="0" rIns="0" bIns="0" rtlCol="0" anchor="t"/>
          <a:lstStyle/>
          <a:p>
            <a:pPr algn="l" indent="0" marL="0">
              <a:lnSpc>
                <a:spcPct val="100000"/>
              </a:lnSpc>
              <a:buNone/>
            </a:pPr>
            <a:r>
              <a:rPr lang="en-US" sz="450" dirty="0">
                <a:solidFill>
                  <a:srgbClr val="2B4150"/>
                </a:solidFill>
                <a:latin typeface="Source Sans 3" pitchFamily="34" charset="0"/>
                <a:ea typeface="Source Sans 3" pitchFamily="34" charset="-122"/>
                <a:cs typeface="Source Sans 3" pitchFamily="34" charset="-120"/>
              </a:rPr>
              <a:t>Base</a:t>
            </a:r>
            <a:endParaRPr lang="en-US" sz="450" dirty="0"/>
          </a:p>
        </p:txBody>
      </p:sp>
      <p:sp>
        <p:nvSpPr>
          <p:cNvPr id="30" name="Text 28"/>
          <p:cNvSpPr/>
          <p:nvPr/>
        </p:nvSpPr>
        <p:spPr>
          <a:xfrm>
            <a:off x="2193875" y="1151409"/>
            <a:ext cx="1956867" cy="74340"/>
          </a:xfrm>
          <a:prstGeom prst="rect">
            <a:avLst/>
          </a:prstGeom>
          <a:noFill/>
          <a:ln/>
        </p:spPr>
        <p:txBody>
          <a:bodyPr wrap="none" lIns="0" tIns="0" rIns="0" bIns="0" rtlCol="0" anchor="t"/>
          <a:lstStyle/>
          <a:p>
            <a:pPr algn="l" indent="0" marL="0">
              <a:lnSpc>
                <a:spcPct val="100000"/>
              </a:lnSpc>
              <a:buNone/>
            </a:pPr>
            <a:r>
              <a:rPr lang="en-US" sz="450" dirty="0">
                <a:solidFill>
                  <a:srgbClr val="2B4150"/>
                </a:solidFill>
                <a:latin typeface="Source Sans 3" pitchFamily="34" charset="0"/>
                <a:ea typeface="Source Sans 3" pitchFamily="34" charset="-122"/>
                <a:cs typeface="Source Sans 3" pitchFamily="34" charset="-120"/>
              </a:rPr>
              <a:t>$35.0M</a:t>
            </a:r>
            <a:endParaRPr lang="en-US" sz="450" dirty="0"/>
          </a:p>
        </p:txBody>
      </p:sp>
      <p:sp>
        <p:nvSpPr>
          <p:cNvPr id="31" name="Text 29"/>
          <p:cNvSpPr/>
          <p:nvPr/>
        </p:nvSpPr>
        <p:spPr>
          <a:xfrm>
            <a:off x="3822278" y="1151409"/>
            <a:ext cx="1956867" cy="74340"/>
          </a:xfrm>
          <a:prstGeom prst="rect">
            <a:avLst/>
          </a:prstGeom>
          <a:noFill/>
          <a:ln/>
        </p:spPr>
        <p:txBody>
          <a:bodyPr wrap="none" lIns="0" tIns="0" rIns="0" bIns="0" rtlCol="0" anchor="t"/>
          <a:lstStyle/>
          <a:p>
            <a:pPr algn="l" indent="0" marL="0">
              <a:lnSpc>
                <a:spcPct val="100000"/>
              </a:lnSpc>
              <a:buNone/>
            </a:pPr>
            <a:r>
              <a:rPr lang="en-US" sz="450" dirty="0">
                <a:solidFill>
                  <a:srgbClr val="2B4150"/>
                </a:solidFill>
                <a:latin typeface="Source Sans 3" pitchFamily="34" charset="0"/>
                <a:ea typeface="Source Sans 3" pitchFamily="34" charset="-122"/>
                <a:cs typeface="Source Sans 3" pitchFamily="34" charset="-120"/>
              </a:rPr>
              <a:t>0.72</a:t>
            </a:r>
            <a:endParaRPr lang="en-US" sz="450" dirty="0"/>
          </a:p>
        </p:txBody>
      </p:sp>
      <p:sp>
        <p:nvSpPr>
          <p:cNvPr id="32" name="Text 30"/>
          <p:cNvSpPr/>
          <p:nvPr/>
        </p:nvSpPr>
        <p:spPr>
          <a:xfrm>
            <a:off x="5450681" y="1151409"/>
            <a:ext cx="1956867" cy="74340"/>
          </a:xfrm>
          <a:prstGeom prst="rect">
            <a:avLst/>
          </a:prstGeom>
          <a:noFill/>
          <a:ln/>
        </p:spPr>
        <p:txBody>
          <a:bodyPr wrap="none" lIns="0" tIns="0" rIns="0" bIns="0" rtlCol="0" anchor="t"/>
          <a:lstStyle/>
          <a:p>
            <a:pPr algn="l" indent="0" marL="0">
              <a:lnSpc>
                <a:spcPct val="100000"/>
              </a:lnSpc>
              <a:buNone/>
            </a:pPr>
            <a:r>
              <a:rPr lang="en-US" sz="450" dirty="0">
                <a:solidFill>
                  <a:srgbClr val="2B4150"/>
                </a:solidFill>
                <a:latin typeface="Source Sans 3" pitchFamily="34" charset="0"/>
                <a:ea typeface="Source Sans 3" pitchFamily="34" charset="-122"/>
                <a:cs typeface="Source Sans 3" pitchFamily="34" charset="-120"/>
              </a:rPr>
              <a:t>$25.2M</a:t>
            </a:r>
            <a:endParaRPr lang="en-US" sz="450" dirty="0"/>
          </a:p>
        </p:txBody>
      </p:sp>
      <p:sp>
        <p:nvSpPr>
          <p:cNvPr id="33" name="Text 31"/>
          <p:cNvSpPr/>
          <p:nvPr/>
        </p:nvSpPr>
        <p:spPr>
          <a:xfrm>
            <a:off x="7079084" y="1151409"/>
            <a:ext cx="1959248" cy="74340"/>
          </a:xfrm>
          <a:prstGeom prst="rect">
            <a:avLst/>
          </a:prstGeom>
          <a:noFill/>
          <a:ln/>
        </p:spPr>
        <p:txBody>
          <a:bodyPr wrap="none" lIns="0" tIns="0" rIns="0" bIns="0" rtlCol="0" anchor="t"/>
          <a:lstStyle/>
          <a:p>
            <a:pPr algn="l" indent="0" marL="0">
              <a:lnSpc>
                <a:spcPct val="100000"/>
              </a:lnSpc>
              <a:buNone/>
            </a:pPr>
            <a:r>
              <a:rPr lang="en-US" sz="450" b="1" dirty="0">
                <a:solidFill>
                  <a:srgbClr val="51738C"/>
                </a:solidFill>
                <a:latin typeface="Source Sans 3 Bold" pitchFamily="34" charset="0"/>
                <a:ea typeface="Source Sans 3 Bold" pitchFamily="34" charset="-122"/>
                <a:cs typeface="Source Sans 3 Bold" pitchFamily="34" charset="-120"/>
              </a:rPr>
              <a:t>–$5.8M</a:t>
            </a:r>
            <a:endParaRPr lang="en-US" sz="450" dirty="0"/>
          </a:p>
        </p:txBody>
      </p:sp>
      <p:sp>
        <p:nvSpPr>
          <p:cNvPr id="34" name="Text 32"/>
          <p:cNvSpPr/>
          <p:nvPr/>
        </p:nvSpPr>
        <p:spPr>
          <a:xfrm>
            <a:off x="563091" y="1277243"/>
            <a:ext cx="1959248" cy="74340"/>
          </a:xfrm>
          <a:prstGeom prst="rect">
            <a:avLst/>
          </a:prstGeom>
          <a:noFill/>
          <a:ln/>
        </p:spPr>
        <p:txBody>
          <a:bodyPr wrap="none" lIns="0" tIns="0" rIns="0" bIns="0" rtlCol="0" anchor="t"/>
          <a:lstStyle/>
          <a:p>
            <a:pPr algn="l" indent="0" marL="0">
              <a:lnSpc>
                <a:spcPct val="100000"/>
              </a:lnSpc>
              <a:buNone/>
            </a:pPr>
            <a:r>
              <a:rPr lang="en-US" sz="450" dirty="0">
                <a:solidFill>
                  <a:srgbClr val="2B4150"/>
                </a:solidFill>
                <a:latin typeface="Source Sans 3" pitchFamily="34" charset="0"/>
                <a:ea typeface="Source Sans 3" pitchFamily="34" charset="-122"/>
                <a:cs typeface="Source Sans 3" pitchFamily="34" charset="-120"/>
              </a:rPr>
              <a:t>Upside</a:t>
            </a:r>
            <a:endParaRPr lang="en-US" sz="450" dirty="0"/>
          </a:p>
        </p:txBody>
      </p:sp>
      <p:sp>
        <p:nvSpPr>
          <p:cNvPr id="35" name="Text 33"/>
          <p:cNvSpPr/>
          <p:nvPr/>
        </p:nvSpPr>
        <p:spPr>
          <a:xfrm>
            <a:off x="2193875" y="1277243"/>
            <a:ext cx="1956867" cy="74340"/>
          </a:xfrm>
          <a:prstGeom prst="rect">
            <a:avLst/>
          </a:prstGeom>
          <a:noFill/>
          <a:ln/>
        </p:spPr>
        <p:txBody>
          <a:bodyPr wrap="none" lIns="0" tIns="0" rIns="0" bIns="0" rtlCol="0" anchor="t"/>
          <a:lstStyle/>
          <a:p>
            <a:pPr algn="l" indent="0" marL="0">
              <a:lnSpc>
                <a:spcPct val="100000"/>
              </a:lnSpc>
              <a:buNone/>
            </a:pPr>
            <a:r>
              <a:rPr lang="en-US" sz="450" dirty="0">
                <a:solidFill>
                  <a:srgbClr val="2B4150"/>
                </a:solidFill>
                <a:latin typeface="Source Sans 3" pitchFamily="34" charset="0"/>
                <a:ea typeface="Source Sans 3" pitchFamily="34" charset="-122"/>
                <a:cs typeface="Source Sans 3" pitchFamily="34" charset="-120"/>
              </a:rPr>
              <a:t>$62.0M</a:t>
            </a:r>
            <a:endParaRPr lang="en-US" sz="450" dirty="0"/>
          </a:p>
        </p:txBody>
      </p:sp>
      <p:sp>
        <p:nvSpPr>
          <p:cNvPr id="36" name="Text 34"/>
          <p:cNvSpPr/>
          <p:nvPr/>
        </p:nvSpPr>
        <p:spPr>
          <a:xfrm>
            <a:off x="3822278" y="1277243"/>
            <a:ext cx="1956867" cy="74340"/>
          </a:xfrm>
          <a:prstGeom prst="rect">
            <a:avLst/>
          </a:prstGeom>
          <a:noFill/>
          <a:ln/>
        </p:spPr>
        <p:txBody>
          <a:bodyPr wrap="none" lIns="0" tIns="0" rIns="0" bIns="0" rtlCol="0" anchor="t"/>
          <a:lstStyle/>
          <a:p>
            <a:pPr algn="l" indent="0" marL="0">
              <a:lnSpc>
                <a:spcPct val="100000"/>
              </a:lnSpc>
              <a:buNone/>
            </a:pPr>
            <a:r>
              <a:rPr lang="en-US" sz="450" dirty="0">
                <a:solidFill>
                  <a:srgbClr val="2B4150"/>
                </a:solidFill>
                <a:latin typeface="Source Sans 3" pitchFamily="34" charset="0"/>
                <a:ea typeface="Source Sans 3" pitchFamily="34" charset="-122"/>
                <a:cs typeface="Source Sans 3" pitchFamily="34" charset="-120"/>
              </a:rPr>
              <a:t>0.78</a:t>
            </a:r>
            <a:endParaRPr lang="en-US" sz="450" dirty="0"/>
          </a:p>
        </p:txBody>
      </p:sp>
      <p:sp>
        <p:nvSpPr>
          <p:cNvPr id="37" name="Text 35"/>
          <p:cNvSpPr/>
          <p:nvPr/>
        </p:nvSpPr>
        <p:spPr>
          <a:xfrm>
            <a:off x="5450681" y="1277243"/>
            <a:ext cx="1956867" cy="74340"/>
          </a:xfrm>
          <a:prstGeom prst="rect">
            <a:avLst/>
          </a:prstGeom>
          <a:noFill/>
          <a:ln/>
        </p:spPr>
        <p:txBody>
          <a:bodyPr wrap="none" lIns="0" tIns="0" rIns="0" bIns="0" rtlCol="0" anchor="t"/>
          <a:lstStyle/>
          <a:p>
            <a:pPr algn="l" indent="0" marL="0">
              <a:lnSpc>
                <a:spcPct val="100000"/>
              </a:lnSpc>
              <a:buNone/>
            </a:pPr>
            <a:r>
              <a:rPr lang="en-US" sz="450" dirty="0">
                <a:solidFill>
                  <a:srgbClr val="2B4150"/>
                </a:solidFill>
                <a:latin typeface="Source Sans 3" pitchFamily="34" charset="0"/>
                <a:ea typeface="Source Sans 3" pitchFamily="34" charset="-122"/>
                <a:cs typeface="Source Sans 3" pitchFamily="34" charset="-120"/>
              </a:rPr>
              <a:t>$48.4M</a:t>
            </a:r>
            <a:endParaRPr lang="en-US" sz="450" dirty="0"/>
          </a:p>
        </p:txBody>
      </p:sp>
      <p:sp>
        <p:nvSpPr>
          <p:cNvPr id="38" name="Text 36"/>
          <p:cNvSpPr/>
          <p:nvPr/>
        </p:nvSpPr>
        <p:spPr>
          <a:xfrm>
            <a:off x="7079084" y="1277243"/>
            <a:ext cx="1959248" cy="74340"/>
          </a:xfrm>
          <a:prstGeom prst="rect">
            <a:avLst/>
          </a:prstGeom>
          <a:noFill/>
          <a:ln/>
        </p:spPr>
        <p:txBody>
          <a:bodyPr wrap="none" lIns="0" tIns="0" rIns="0" bIns="0" rtlCol="0" anchor="t"/>
          <a:lstStyle/>
          <a:p>
            <a:pPr algn="l" indent="0" marL="0">
              <a:lnSpc>
                <a:spcPct val="100000"/>
              </a:lnSpc>
              <a:buNone/>
            </a:pPr>
            <a:r>
              <a:rPr lang="en-US" sz="450" b="1" dirty="0">
                <a:solidFill>
                  <a:srgbClr val="2B4150"/>
                </a:solidFill>
                <a:latin typeface="Source Sans 3 Bold" pitchFamily="34" charset="0"/>
                <a:ea typeface="Source Sans 3 Bold" pitchFamily="34" charset="-122"/>
                <a:cs typeface="Source Sans 3 Bold" pitchFamily="34" charset="-120"/>
              </a:rPr>
              <a:t>+$17.4M</a:t>
            </a:r>
            <a:endParaRPr lang="en-US" sz="450" dirty="0"/>
          </a:p>
        </p:txBody>
      </p:sp>
      <p:sp>
        <p:nvSpPr>
          <p:cNvPr id="39" name="Text 37"/>
          <p:cNvSpPr/>
          <p:nvPr/>
        </p:nvSpPr>
        <p:spPr>
          <a:xfrm>
            <a:off x="496119" y="1426220"/>
            <a:ext cx="8151763" cy="96887"/>
          </a:xfrm>
          <a:prstGeom prst="rect">
            <a:avLst/>
          </a:prstGeom>
          <a:noFill/>
          <a:ln/>
        </p:spPr>
        <p:txBody>
          <a:bodyPr wrap="none" lIns="0" tIns="0" rIns="0" bIns="0" rtlCol="0" anchor="t"/>
          <a:lstStyle/>
          <a:p>
            <a:pPr algn="l" indent="0" marL="0">
              <a:lnSpc>
                <a:spcPct val="104000"/>
              </a:lnSpc>
              <a:buNone/>
            </a:pPr>
            <a:r>
              <a:rPr lang="en-US" sz="600" dirty="0">
                <a:solidFill>
                  <a:srgbClr val="124E73"/>
                </a:solidFill>
                <a:latin typeface="MuseoModerno Medium" pitchFamily="34" charset="0"/>
                <a:ea typeface="MuseoModerno Medium" pitchFamily="34" charset="-122"/>
                <a:cs typeface="MuseoModerno Medium" pitchFamily="34" charset="-120"/>
              </a:rPr>
              <a:t>Base Case Value Waterfall — Synthetic</a:t>
            </a:r>
            <a:endParaRPr lang="en-US" sz="600" dirty="0"/>
          </a:p>
        </p:txBody>
      </p:sp>
      <p:pic>
        <p:nvPicPr>
          <p:cNvPr id="40" name="Image 0" descr="preencoded.png">    </p:cNvPr>
          <p:cNvPicPr>
            <a:picLocks noChangeAspect="1"/>
          </p:cNvPicPr>
          <p:nvPr/>
        </p:nvPicPr>
        <p:blipFill>
          <a:blip r:embed="rId1"/>
          <a:stretch>
            <a:fillRect/>
          </a:stretch>
        </p:blipFill>
        <p:spPr>
          <a:xfrm>
            <a:off x="935757" y="1569616"/>
            <a:ext cx="7272486" cy="3974009"/>
          </a:xfrm>
          <a:prstGeom prst="rect">
            <a:avLst/>
          </a:prstGeom>
        </p:spPr>
      </p:pic>
      <p:sp>
        <p:nvSpPr>
          <p:cNvPr id="41" name="Text 38"/>
          <p:cNvSpPr/>
          <p:nvPr/>
        </p:nvSpPr>
        <p:spPr>
          <a:xfrm>
            <a:off x="1894731" y="3431675"/>
            <a:ext cx="1685107" cy="229266"/>
          </a:xfrm>
          <a:prstGeom prst="rect">
            <a:avLst/>
          </a:prstGeom>
          <a:noFill/>
          <a:ln/>
        </p:spPr>
        <p:txBody>
          <a:bodyPr wrap="none" lIns="0" tIns="0" rIns="0" bIns="0" rtlCol="0" anchor="t"/>
          <a:lstStyle/>
          <a:p>
            <a:pPr algn="ctr" indent="0" marL="0">
              <a:lnSpc>
                <a:spcPct val="104000"/>
              </a:lnSpc>
              <a:buNone/>
            </a:pPr>
            <a:r>
              <a:rPr lang="en-US" sz="1400" dirty="0">
                <a:solidFill>
                  <a:srgbClr val="124E73"/>
                </a:solidFill>
                <a:latin typeface="MuseoModerno Medium" pitchFamily="34" charset="0"/>
                <a:ea typeface="MuseoModerno Medium" pitchFamily="34" charset="-122"/>
                <a:cs typeface="MuseoModerno Medium" pitchFamily="34" charset="-120"/>
              </a:rPr>
              <a:t>Gross Value $35M</a:t>
            </a:r>
            <a:endParaRPr lang="en-US" sz="1400" dirty="0"/>
          </a:p>
        </p:txBody>
      </p:sp>
      <p:sp>
        <p:nvSpPr>
          <p:cNvPr id="42" name="Text 39"/>
          <p:cNvSpPr/>
          <p:nvPr/>
        </p:nvSpPr>
        <p:spPr>
          <a:xfrm>
            <a:off x="6149912" y="3405819"/>
            <a:ext cx="1685107" cy="229266"/>
          </a:xfrm>
          <a:prstGeom prst="rect">
            <a:avLst/>
          </a:prstGeom>
          <a:noFill/>
          <a:ln/>
        </p:spPr>
        <p:txBody>
          <a:bodyPr wrap="none" lIns="0" tIns="0" rIns="0" bIns="0" rtlCol="0" anchor="t"/>
          <a:lstStyle/>
          <a:p>
            <a:pPr algn="ctr" indent="0" marL="0">
              <a:lnSpc>
                <a:spcPct val="104000"/>
              </a:lnSpc>
              <a:buNone/>
            </a:pPr>
            <a:r>
              <a:rPr lang="en-US" sz="1400" dirty="0">
                <a:solidFill>
                  <a:srgbClr val="124E73"/>
                </a:solidFill>
                <a:latin typeface="MuseoModerno Medium" pitchFamily="34" charset="0"/>
                <a:ea typeface="MuseoModerno Medium" pitchFamily="34" charset="-122"/>
                <a:cs typeface="MuseoModerno Medium" pitchFamily="34" charset="-120"/>
              </a:rPr>
              <a:t>Costs -$10M</a:t>
            </a:r>
            <a:endParaRPr lang="en-US" sz="1400" dirty="0"/>
          </a:p>
        </p:txBody>
      </p:sp>
      <p:sp>
        <p:nvSpPr>
          <p:cNvPr id="43" name="Text 40"/>
          <p:cNvSpPr/>
          <p:nvPr/>
        </p:nvSpPr>
        <p:spPr>
          <a:xfrm>
            <a:off x="4071232" y="3299465"/>
            <a:ext cx="1685107" cy="458532"/>
          </a:xfrm>
          <a:prstGeom prst="rect">
            <a:avLst/>
          </a:prstGeom>
          <a:noFill/>
          <a:ln/>
        </p:spPr>
        <p:txBody>
          <a:bodyPr wrap="square" lIns="0" tIns="0" rIns="0" bIns="0" rtlCol="0" anchor="t">
            <a:normAutofit/>
          </a:bodyPr>
          <a:lstStyle/>
          <a:p>
            <a:pPr algn="ctr" indent="0" marL="0">
              <a:lnSpc>
                <a:spcPct val="104000"/>
              </a:lnSpc>
              <a:buNone/>
            </a:pPr>
            <a:r>
              <a:rPr lang="en-US" sz="1400" dirty="0">
                <a:solidFill>
                  <a:srgbClr val="124E73"/>
                </a:solidFill>
                <a:latin typeface="MuseoModerno Medium" pitchFamily="34" charset="0"/>
                <a:ea typeface="MuseoModerno Medium" pitchFamily="34" charset="-122"/>
                <a:cs typeface="MuseoModerno Medium" pitchFamily="34" charset="-120"/>
              </a:rPr>
              <a:t>Confidence-Adjusted $25.2M</a:t>
            </a:r>
            <a:endParaRPr lang="en-US" sz="1400" dirty="0"/>
          </a:p>
        </p:txBody>
      </p:sp>
      <p:sp>
        <p:nvSpPr>
          <p:cNvPr id="44" name="Text 41"/>
          <p:cNvSpPr/>
          <p:nvPr/>
        </p:nvSpPr>
        <p:spPr>
          <a:xfrm>
            <a:off x="496119" y="5578450"/>
            <a:ext cx="8151763" cy="148679"/>
          </a:xfrm>
          <a:prstGeom prst="rect">
            <a:avLst/>
          </a:prstGeom>
          <a:noFill/>
          <a:ln/>
        </p:spPr>
        <p:txBody>
          <a:bodyPr wrap="square" lIns="0" tIns="0" rIns="0" bIns="0" rtlCol="0" anchor="t">
            <a:normAutofit/>
          </a:bodyPr>
          <a:lstStyle/>
          <a:p>
            <a:pPr algn="l" indent="0" marL="0">
              <a:lnSpc>
                <a:spcPct val="100000"/>
              </a:lnSpc>
              <a:buNone/>
            </a:pPr>
            <a:r>
              <a:rPr lang="en-US" sz="450" b="1" dirty="0">
                <a:solidFill>
                  <a:srgbClr val="2B4150"/>
                </a:solidFill>
                <a:latin typeface="Source Sans 3 Bold" pitchFamily="34" charset="0"/>
                <a:ea typeface="Source Sans 3 Bold" pitchFamily="34" charset="-122"/>
                <a:cs typeface="Source Sans 3 Bold" pitchFamily="34" charset="-120"/>
              </a:rPr>
              <a:t>Reading the waterfall:</a:t>
            </a:r>
            <a:pPr algn="l" indent="0" marL="0">
              <a:lnSpc>
                <a:spcPct val="100000"/>
              </a:lnSpc>
              <a:buNone/>
            </a:pPr>
            <a:r>
              <a:rPr lang="en-US" sz="450" dirty="0">
                <a:solidFill>
                  <a:srgbClr val="2B4150"/>
                </a:solidFill>
                <a:latin typeface="Source Sans 3" pitchFamily="34" charset="0"/>
                <a:ea typeface="Source Sans 3" pitchFamily="34" charset="-122"/>
                <a:cs typeface="Source Sans 3" pitchFamily="34" charset="-120"/>
              </a:rPr>
              <a:t> Capability, distribution, and learning value collectively drive approximately 60% of gross value in the base case. Cost deductions — implementation, exclusivity, risk, and lock-in — reduce gross value by $10M before the confidence haircut is applied. The 0.72 confidence factor reflects meaningful uncertainty in distribution evidence and data uniqueness claims. </a:t>
            </a:r>
            <a:pPr algn="l" indent="0" marL="0">
              <a:lnSpc>
                <a:spcPct val="100000"/>
              </a:lnSpc>
              <a:buNone/>
            </a:pPr>
            <a:r>
              <a:rPr lang="en-US" sz="450" i="1" dirty="0">
                <a:solidFill>
                  <a:srgbClr val="2B4150"/>
                </a:solidFill>
                <a:latin typeface="Source Sans 3" pitchFamily="34" charset="0"/>
                <a:ea typeface="Source Sans 3" pitchFamily="34" charset="-122"/>
                <a:cs typeface="Source Sans 3" pitchFamily="34" charset="-120"/>
              </a:rPr>
              <a:t>All figures synthetic.</a:t>
            </a:r>
            <a:endParaRPr lang="en-US" sz="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96119" y="398636"/>
            <a:ext cx="1284759" cy="132457"/>
          </a:xfrm>
          <a:prstGeom prst="roundRect">
            <a:avLst>
              <a:gd name="adj" fmla="val 7902"/>
            </a:avLst>
          </a:prstGeom>
          <a:noFill/>
          <a:ln w="4763">
            <a:solidFill>
              <a:srgbClr val="325F7B"/>
            </a:solidFill>
            <a:prstDash val="solid"/>
          </a:ln>
        </p:spPr>
      </p:sp>
      <p:sp>
        <p:nvSpPr>
          <p:cNvPr id="3" name="Text 1"/>
          <p:cNvSpPr/>
          <p:nvPr/>
        </p:nvSpPr>
        <p:spPr>
          <a:xfrm>
            <a:off x="548432" y="424755"/>
            <a:ext cx="1637333" cy="80218"/>
          </a:xfrm>
          <a:prstGeom prst="rect">
            <a:avLst/>
          </a:prstGeom>
          <a:noFill/>
          <a:ln/>
        </p:spPr>
        <p:txBody>
          <a:bodyPr wrap="none" lIns="0" tIns="0" rIns="0" bIns="0" rtlCol="0" anchor="t"/>
          <a:lstStyle/>
          <a:p>
            <a:pPr algn="l" indent="0" marL="0">
              <a:lnSpc>
                <a:spcPct val="96000"/>
              </a:lnSpc>
              <a:buNone/>
            </a:pPr>
            <a:r>
              <a:rPr lang="en-US" sz="500" dirty="0">
                <a:solidFill>
                  <a:srgbClr val="325F7B"/>
                </a:solidFill>
                <a:latin typeface="Source Sans 3" pitchFamily="34" charset="0"/>
                <a:ea typeface="Source Sans 3" pitchFamily="34" charset="-122"/>
                <a:cs typeface="Source Sans 3" pitchFamily="34" charset="-120"/>
              </a:rPr>
              <a:t>COMPARABLE-TRANSACTION DISCIPLINE</a:t>
            </a:r>
            <a:endParaRPr lang="en-US" sz="500" dirty="0"/>
          </a:p>
        </p:txBody>
      </p:sp>
      <p:sp>
        <p:nvSpPr>
          <p:cNvPr id="4" name="Text 2"/>
          <p:cNvSpPr/>
          <p:nvPr/>
        </p:nvSpPr>
        <p:spPr>
          <a:xfrm>
            <a:off x="496119" y="555575"/>
            <a:ext cx="8151763" cy="272504"/>
          </a:xfrm>
          <a:prstGeom prst="rect">
            <a:avLst/>
          </a:prstGeom>
          <a:noFill/>
          <a:ln/>
        </p:spPr>
        <p:txBody>
          <a:bodyPr wrap="none" lIns="0" tIns="0" rIns="0" bIns="0" rtlCol="0" anchor="t"/>
          <a:lstStyle/>
          <a:p>
            <a:pPr algn="l" indent="0" marL="0">
              <a:lnSpc>
                <a:spcPct val="104000"/>
              </a:lnSpc>
              <a:buNone/>
            </a:pPr>
            <a:r>
              <a:rPr lang="en-US" sz="1700" dirty="0">
                <a:solidFill>
                  <a:srgbClr val="124E73"/>
                </a:solidFill>
                <a:latin typeface="MuseoModerno Medium" pitchFamily="34" charset="0"/>
                <a:ea typeface="MuseoModerno Medium" pitchFamily="34" charset="-122"/>
                <a:cs typeface="MuseoModerno Medium" pitchFamily="34" charset="-120"/>
              </a:rPr>
              <a:t>Normalize Imperfect Comparables Instead of Pretending They Match</a:t>
            </a:r>
            <a:endParaRPr lang="en-US" sz="1700" dirty="0"/>
          </a:p>
        </p:txBody>
      </p:sp>
      <p:sp>
        <p:nvSpPr>
          <p:cNvPr id="5" name="Text 3"/>
          <p:cNvSpPr/>
          <p:nvPr/>
        </p:nvSpPr>
        <p:spPr>
          <a:xfrm>
            <a:off x="496119" y="920055"/>
            <a:ext cx="8151763" cy="544041"/>
          </a:xfrm>
          <a:prstGeom prst="rect">
            <a:avLst/>
          </a:prstGeom>
          <a:noFill/>
          <a:ln/>
        </p:spPr>
        <p:txBody>
          <a:bodyPr wrap="square" lIns="0" tIns="0" rIns="0" bIns="0" rtlCol="0" anchor="t">
            <a:normAutofit/>
          </a:bodyPr>
          <a:lstStyle/>
          <a:p>
            <a:pPr algn="l" indent="0" marL="0">
              <a:lnSpc>
                <a:spcPct val="114000"/>
              </a:lnSpc>
              <a:spcAft>
                <a:spcPts val="500"/>
              </a:spcAft>
              <a:buNone/>
            </a:pPr>
            <a:r>
              <a:rPr lang="en-US" sz="650" dirty="0">
                <a:solidFill>
                  <a:srgbClr val="2B4150"/>
                </a:solidFill>
                <a:latin typeface="Source Sans 3" pitchFamily="34" charset="0"/>
                <a:ea typeface="Source Sans 3" pitchFamily="34" charset="-122"/>
                <a:cs typeface="Source Sans 3" pitchFamily="34" charset="-120"/>
              </a:rPr>
              <a:t>Comparable transactions in AI partnerships are rarely clean. Disclosed economics are partial; structural differences in exclusivity, integration depth, and term length make direct comparison unreliable. The discipline is systematic normalization — scoring each comparable on structural similarity and applying explicit adjustment notes rather than averaging raw numbers. The table below contains five synthetic comparables used to calibrate the Atlas valuation range.</a:t>
            </a:r>
            <a:endParaRPr lang="en-US" sz="650" dirty="0"/>
          </a:p>
          <a:p>
            <a:pPr algn="l" indent="0" marL="0">
              <a:lnSpc>
                <a:spcPct val="114000"/>
              </a:lnSpc>
              <a:buNone/>
            </a:pPr>
            <a:r>
              <a:rPr lang="en-US" sz="650" b="1" dirty="0">
                <a:solidFill>
                  <a:srgbClr val="2B4150"/>
                </a:solidFill>
                <a:latin typeface="Source Sans 3 Bold" pitchFamily="34" charset="0"/>
                <a:ea typeface="Source Sans 3 Bold" pitchFamily="34" charset="-122"/>
                <a:cs typeface="Source Sans 3 Bold" pitchFamily="34" charset="-120"/>
              </a:rPr>
              <a:t>Table 1: Deal Comparables</a:t>
            </a:r>
            <a:endParaRPr lang="en-US" sz="650" dirty="0"/>
          </a:p>
        </p:txBody>
      </p:sp>
      <p:sp>
        <p:nvSpPr>
          <p:cNvPr id="6" name="Shape 4"/>
          <p:cNvSpPr/>
          <p:nvPr/>
        </p:nvSpPr>
        <p:spPr>
          <a:xfrm>
            <a:off x="496119" y="1533079"/>
            <a:ext cx="8151763" cy="1244203"/>
          </a:xfrm>
          <a:prstGeom prst="roundRect">
            <a:avLst>
              <a:gd name="adj" fmla="val 1052"/>
            </a:avLst>
          </a:prstGeom>
          <a:noFill/>
          <a:ln w="4763">
            <a:solidFill>
              <a:srgbClr val="000000">
                <a:alpha val="8000"/>
              </a:srgbClr>
            </a:solidFill>
            <a:prstDash val="solid"/>
          </a:ln>
        </p:spPr>
      </p:sp>
      <p:sp>
        <p:nvSpPr>
          <p:cNvPr id="7" name="Shape 5"/>
          <p:cNvSpPr/>
          <p:nvPr/>
        </p:nvSpPr>
        <p:spPr>
          <a:xfrm>
            <a:off x="496119" y="1742033"/>
            <a:ext cx="8151763" cy="5451"/>
          </a:xfrm>
          <a:prstGeom prst="rect">
            <a:avLst/>
          </a:prstGeom>
          <a:solidFill>
            <a:srgbClr val="000000">
              <a:alpha val="8000"/>
            </a:srgbClr>
          </a:solidFill>
          <a:ln/>
        </p:spPr>
      </p:sp>
      <p:sp>
        <p:nvSpPr>
          <p:cNvPr id="8" name="Shape 6"/>
          <p:cNvSpPr/>
          <p:nvPr/>
        </p:nvSpPr>
        <p:spPr>
          <a:xfrm>
            <a:off x="496119" y="1948607"/>
            <a:ext cx="8151763" cy="5451"/>
          </a:xfrm>
          <a:prstGeom prst="rect">
            <a:avLst/>
          </a:prstGeom>
          <a:solidFill>
            <a:srgbClr val="000000">
              <a:alpha val="8000"/>
            </a:srgbClr>
          </a:solidFill>
          <a:ln/>
        </p:spPr>
      </p:sp>
      <p:sp>
        <p:nvSpPr>
          <p:cNvPr id="9" name="Shape 7"/>
          <p:cNvSpPr/>
          <p:nvPr/>
        </p:nvSpPr>
        <p:spPr>
          <a:xfrm>
            <a:off x="496119" y="2155180"/>
            <a:ext cx="8151763" cy="5451"/>
          </a:xfrm>
          <a:prstGeom prst="rect">
            <a:avLst/>
          </a:prstGeom>
          <a:solidFill>
            <a:srgbClr val="000000">
              <a:alpha val="8000"/>
            </a:srgbClr>
          </a:solidFill>
          <a:ln/>
        </p:spPr>
      </p:sp>
      <p:sp>
        <p:nvSpPr>
          <p:cNvPr id="10" name="Shape 8"/>
          <p:cNvSpPr/>
          <p:nvPr/>
        </p:nvSpPr>
        <p:spPr>
          <a:xfrm>
            <a:off x="496119" y="2361754"/>
            <a:ext cx="8151763" cy="5451"/>
          </a:xfrm>
          <a:prstGeom prst="rect">
            <a:avLst/>
          </a:prstGeom>
          <a:solidFill>
            <a:srgbClr val="000000">
              <a:alpha val="8000"/>
            </a:srgbClr>
          </a:solidFill>
          <a:ln/>
        </p:spPr>
      </p:sp>
      <p:sp>
        <p:nvSpPr>
          <p:cNvPr id="11" name="Shape 9"/>
          <p:cNvSpPr/>
          <p:nvPr/>
        </p:nvSpPr>
        <p:spPr>
          <a:xfrm>
            <a:off x="496119" y="2568327"/>
            <a:ext cx="8151763" cy="5451"/>
          </a:xfrm>
          <a:prstGeom prst="rect">
            <a:avLst/>
          </a:prstGeom>
          <a:solidFill>
            <a:srgbClr val="000000">
              <a:alpha val="8000"/>
            </a:srgbClr>
          </a:solidFill>
          <a:ln/>
        </p:spPr>
      </p:sp>
      <p:sp>
        <p:nvSpPr>
          <p:cNvPr id="12" name="Shape 10"/>
          <p:cNvSpPr/>
          <p:nvPr/>
        </p:nvSpPr>
        <p:spPr>
          <a:xfrm>
            <a:off x="500955" y="1537841"/>
            <a:ext cx="1465585" cy="204192"/>
          </a:xfrm>
          <a:custGeom>
            <a:avLst/>
            <a:gdLst/>
            <a:ahLst/>
            <a:cxnLst/>
            <a:rect l="l" t="t" r="r" b="b"/>
            <a:pathLst>
              <a:path w="1465585" h="204192">
                <a:moveTo>
                  <a:pt x="10903" y="0"/>
                </a:moveTo>
                <a:lnTo>
                  <a:pt x="1465585" y="0"/>
                </a:lnTo>
                <a:lnTo>
                  <a:pt x="1465585" y="204192"/>
                </a:lnTo>
                <a:lnTo>
                  <a:pt x="0" y="204192"/>
                </a:lnTo>
                <a:lnTo>
                  <a:pt x="0" y="10903"/>
                </a:lnTo>
                <a:arcTo hR="10903" wR="10903" stAng="10800000" swAng="5400000"/>
                <a:close/>
              </a:path>
            </a:pathLst>
          </a:custGeom>
          <a:solidFill>
            <a:srgbClr val="325F7B"/>
          </a:solidFill>
          <a:ln/>
        </p:spPr>
      </p:sp>
      <p:sp>
        <p:nvSpPr>
          <p:cNvPr id="13" name="Text 11"/>
          <p:cNvSpPr/>
          <p:nvPr/>
        </p:nvSpPr>
        <p:spPr>
          <a:xfrm>
            <a:off x="588169" y="1579364"/>
            <a:ext cx="1748358" cy="118765"/>
          </a:xfrm>
          <a:prstGeom prst="rect">
            <a:avLst/>
          </a:prstGeom>
          <a:noFill/>
          <a:ln/>
        </p:spPr>
        <p:txBody>
          <a:bodyPr wrap="none" lIns="0" tIns="0" rIns="0" bIns="0" rtlCol="0" anchor="t"/>
          <a:lstStyle/>
          <a:p>
            <a:pPr algn="l" indent="0" marL="0">
              <a:lnSpc>
                <a:spcPct val="114000"/>
              </a:lnSpc>
              <a:buNone/>
            </a:pPr>
            <a:r>
              <a:rPr lang="en-US" sz="650" b="1" dirty="0">
                <a:solidFill>
                  <a:srgbClr val="FFFFFF"/>
                </a:solidFill>
                <a:latin typeface="Source Sans 3 Bold" pitchFamily="34" charset="0"/>
                <a:ea typeface="Source Sans 3 Bold" pitchFamily="34" charset="-122"/>
                <a:cs typeface="Source Sans 3 Bold" pitchFamily="34" charset="-120"/>
              </a:rPr>
              <a:t>Deal Name</a:t>
            </a:r>
            <a:endParaRPr lang="en-US" sz="650" dirty="0"/>
          </a:p>
        </p:txBody>
      </p:sp>
      <p:sp>
        <p:nvSpPr>
          <p:cNvPr id="14" name="Shape 12"/>
          <p:cNvSpPr/>
          <p:nvPr/>
        </p:nvSpPr>
        <p:spPr>
          <a:xfrm>
            <a:off x="1966540" y="1537841"/>
            <a:ext cx="1384176" cy="204192"/>
          </a:xfrm>
          <a:prstGeom prst="rect">
            <a:avLst/>
          </a:prstGeom>
          <a:solidFill>
            <a:srgbClr val="325F7B"/>
          </a:solidFill>
          <a:ln/>
        </p:spPr>
      </p:sp>
      <p:sp>
        <p:nvSpPr>
          <p:cNvPr id="15" name="Text 13"/>
          <p:cNvSpPr/>
          <p:nvPr/>
        </p:nvSpPr>
        <p:spPr>
          <a:xfrm>
            <a:off x="2053754" y="1579364"/>
            <a:ext cx="1666949" cy="118765"/>
          </a:xfrm>
          <a:prstGeom prst="rect">
            <a:avLst/>
          </a:prstGeom>
          <a:noFill/>
          <a:ln/>
        </p:spPr>
        <p:txBody>
          <a:bodyPr wrap="none" lIns="0" tIns="0" rIns="0" bIns="0" rtlCol="0" anchor="t"/>
          <a:lstStyle/>
          <a:p>
            <a:pPr algn="l" indent="0" marL="0">
              <a:lnSpc>
                <a:spcPct val="114000"/>
              </a:lnSpc>
              <a:buNone/>
            </a:pPr>
            <a:r>
              <a:rPr lang="en-US" sz="650" b="1" dirty="0">
                <a:solidFill>
                  <a:srgbClr val="FFFFFF"/>
                </a:solidFill>
                <a:latin typeface="Source Sans 3 Bold" pitchFamily="34" charset="0"/>
                <a:ea typeface="Source Sans 3 Bold" pitchFamily="34" charset="-122"/>
                <a:cs typeface="Source Sans 3 Bold" pitchFamily="34" charset="-120"/>
              </a:rPr>
              <a:t>Archetype</a:t>
            </a:r>
            <a:endParaRPr lang="en-US" sz="650" dirty="0"/>
          </a:p>
        </p:txBody>
      </p:sp>
      <p:sp>
        <p:nvSpPr>
          <p:cNvPr id="16" name="Shape 14"/>
          <p:cNvSpPr/>
          <p:nvPr/>
        </p:nvSpPr>
        <p:spPr>
          <a:xfrm>
            <a:off x="3350716" y="1537841"/>
            <a:ext cx="1384176" cy="204192"/>
          </a:xfrm>
          <a:prstGeom prst="rect">
            <a:avLst/>
          </a:prstGeom>
          <a:solidFill>
            <a:srgbClr val="325F7B"/>
          </a:solidFill>
          <a:ln/>
        </p:spPr>
      </p:sp>
      <p:sp>
        <p:nvSpPr>
          <p:cNvPr id="17" name="Text 15"/>
          <p:cNvSpPr/>
          <p:nvPr/>
        </p:nvSpPr>
        <p:spPr>
          <a:xfrm>
            <a:off x="3437930" y="1579364"/>
            <a:ext cx="1666949" cy="118765"/>
          </a:xfrm>
          <a:prstGeom prst="rect">
            <a:avLst/>
          </a:prstGeom>
          <a:noFill/>
          <a:ln/>
        </p:spPr>
        <p:txBody>
          <a:bodyPr wrap="none" lIns="0" tIns="0" rIns="0" bIns="0" rtlCol="0" anchor="t"/>
          <a:lstStyle/>
          <a:p>
            <a:pPr algn="l" indent="0" marL="0">
              <a:lnSpc>
                <a:spcPct val="114000"/>
              </a:lnSpc>
              <a:buNone/>
            </a:pPr>
            <a:r>
              <a:rPr lang="en-US" sz="650" b="1" dirty="0">
                <a:solidFill>
                  <a:srgbClr val="FFFFFF"/>
                </a:solidFill>
                <a:latin typeface="Source Sans 3 Bold" pitchFamily="34" charset="0"/>
                <a:ea typeface="Source Sans 3 Bold" pitchFamily="34" charset="-122"/>
                <a:cs typeface="Source Sans 3 Bold" pitchFamily="34" charset="-120"/>
              </a:rPr>
              <a:t>Disclosed Economics</a:t>
            </a:r>
            <a:endParaRPr lang="en-US" sz="650" dirty="0"/>
          </a:p>
        </p:txBody>
      </p:sp>
      <p:sp>
        <p:nvSpPr>
          <p:cNvPr id="18" name="Shape 16"/>
          <p:cNvSpPr/>
          <p:nvPr/>
        </p:nvSpPr>
        <p:spPr>
          <a:xfrm>
            <a:off x="4734892" y="1537841"/>
            <a:ext cx="977057" cy="204192"/>
          </a:xfrm>
          <a:prstGeom prst="rect">
            <a:avLst/>
          </a:prstGeom>
          <a:solidFill>
            <a:srgbClr val="325F7B"/>
          </a:solidFill>
          <a:ln/>
        </p:spPr>
      </p:sp>
      <p:sp>
        <p:nvSpPr>
          <p:cNvPr id="19" name="Text 17"/>
          <p:cNvSpPr/>
          <p:nvPr/>
        </p:nvSpPr>
        <p:spPr>
          <a:xfrm>
            <a:off x="4822106" y="1579364"/>
            <a:ext cx="1259830" cy="118765"/>
          </a:xfrm>
          <a:prstGeom prst="rect">
            <a:avLst/>
          </a:prstGeom>
          <a:noFill/>
          <a:ln/>
        </p:spPr>
        <p:txBody>
          <a:bodyPr wrap="none" lIns="0" tIns="0" rIns="0" bIns="0" rtlCol="0" anchor="t"/>
          <a:lstStyle/>
          <a:p>
            <a:pPr algn="l" indent="0" marL="0">
              <a:lnSpc>
                <a:spcPct val="114000"/>
              </a:lnSpc>
              <a:buNone/>
            </a:pPr>
            <a:r>
              <a:rPr lang="en-US" sz="650" b="1" dirty="0">
                <a:solidFill>
                  <a:srgbClr val="FFFFFF"/>
                </a:solidFill>
                <a:latin typeface="Source Sans 3 Bold" pitchFamily="34" charset="0"/>
                <a:ea typeface="Source Sans 3 Bold" pitchFamily="34" charset="-122"/>
                <a:cs typeface="Source Sans 3 Bold" pitchFamily="34" charset="-120"/>
              </a:rPr>
              <a:t>Term</a:t>
            </a:r>
            <a:endParaRPr lang="en-US" sz="650" dirty="0"/>
          </a:p>
        </p:txBody>
      </p:sp>
      <p:sp>
        <p:nvSpPr>
          <p:cNvPr id="20" name="Shape 18"/>
          <p:cNvSpPr/>
          <p:nvPr/>
        </p:nvSpPr>
        <p:spPr>
          <a:xfrm>
            <a:off x="5711949" y="1537841"/>
            <a:ext cx="1465585" cy="204192"/>
          </a:xfrm>
          <a:prstGeom prst="rect">
            <a:avLst/>
          </a:prstGeom>
          <a:solidFill>
            <a:srgbClr val="325F7B"/>
          </a:solidFill>
          <a:ln/>
        </p:spPr>
      </p:sp>
      <p:sp>
        <p:nvSpPr>
          <p:cNvPr id="21" name="Text 19"/>
          <p:cNvSpPr/>
          <p:nvPr/>
        </p:nvSpPr>
        <p:spPr>
          <a:xfrm>
            <a:off x="5799162" y="1579364"/>
            <a:ext cx="1748358" cy="118765"/>
          </a:xfrm>
          <a:prstGeom prst="rect">
            <a:avLst/>
          </a:prstGeom>
          <a:noFill/>
          <a:ln/>
        </p:spPr>
        <p:txBody>
          <a:bodyPr wrap="none" lIns="0" tIns="0" rIns="0" bIns="0" rtlCol="0" anchor="t"/>
          <a:lstStyle/>
          <a:p>
            <a:pPr algn="l" indent="0" marL="0">
              <a:lnSpc>
                <a:spcPct val="114000"/>
              </a:lnSpc>
              <a:buNone/>
            </a:pPr>
            <a:r>
              <a:rPr lang="en-US" sz="650" b="1" dirty="0">
                <a:solidFill>
                  <a:srgbClr val="FFFFFF"/>
                </a:solidFill>
                <a:latin typeface="Source Sans 3 Bold" pitchFamily="34" charset="0"/>
                <a:ea typeface="Source Sans 3 Bold" pitchFamily="34" charset="-122"/>
                <a:cs typeface="Source Sans 3 Bold" pitchFamily="34" charset="-120"/>
              </a:rPr>
              <a:t>Exclusivity</a:t>
            </a:r>
            <a:endParaRPr lang="en-US" sz="650" dirty="0"/>
          </a:p>
        </p:txBody>
      </p:sp>
      <p:sp>
        <p:nvSpPr>
          <p:cNvPr id="22" name="Shape 20"/>
          <p:cNvSpPr/>
          <p:nvPr/>
        </p:nvSpPr>
        <p:spPr>
          <a:xfrm>
            <a:off x="7177534" y="1537841"/>
            <a:ext cx="1465585" cy="204192"/>
          </a:xfrm>
          <a:custGeom>
            <a:avLst/>
            <a:gdLst/>
            <a:ahLst/>
            <a:cxnLst/>
            <a:rect l="l" t="t" r="r" b="b"/>
            <a:pathLst>
              <a:path w="1465585" h="204192">
                <a:moveTo>
                  <a:pt x="0" y="0"/>
                </a:moveTo>
                <a:lnTo>
                  <a:pt x="1454682" y="0"/>
                </a:lnTo>
                <a:arcTo hR="10903" wR="10903" stAng="16200000" swAng="5400000"/>
                <a:lnTo>
                  <a:pt x="1465585" y="204192"/>
                </a:lnTo>
                <a:lnTo>
                  <a:pt x="0" y="204192"/>
                </a:lnTo>
                <a:lnTo>
                  <a:pt x="0" y="0"/>
                </a:lnTo>
                <a:close/>
              </a:path>
            </a:pathLst>
          </a:custGeom>
          <a:solidFill>
            <a:srgbClr val="325F7B"/>
          </a:solidFill>
          <a:ln/>
        </p:spPr>
      </p:sp>
      <p:sp>
        <p:nvSpPr>
          <p:cNvPr id="23" name="Text 21"/>
          <p:cNvSpPr/>
          <p:nvPr/>
        </p:nvSpPr>
        <p:spPr>
          <a:xfrm>
            <a:off x="7264747" y="1579364"/>
            <a:ext cx="1748358" cy="118765"/>
          </a:xfrm>
          <a:prstGeom prst="rect">
            <a:avLst/>
          </a:prstGeom>
          <a:noFill/>
          <a:ln/>
        </p:spPr>
        <p:txBody>
          <a:bodyPr wrap="none" lIns="0" tIns="0" rIns="0" bIns="0" rtlCol="0" anchor="t"/>
          <a:lstStyle/>
          <a:p>
            <a:pPr algn="l" indent="0" marL="0">
              <a:lnSpc>
                <a:spcPct val="114000"/>
              </a:lnSpc>
              <a:buNone/>
            </a:pPr>
            <a:r>
              <a:rPr lang="en-US" sz="650" b="1" dirty="0">
                <a:solidFill>
                  <a:srgbClr val="FFFFFF"/>
                </a:solidFill>
                <a:latin typeface="Source Sans 3 Bold" pitchFamily="34" charset="0"/>
                <a:ea typeface="Source Sans 3 Bold" pitchFamily="34" charset="-122"/>
                <a:cs typeface="Source Sans 3 Bold" pitchFamily="34" charset="-120"/>
              </a:rPr>
              <a:t>Comparability Score</a:t>
            </a:r>
            <a:endParaRPr lang="en-US" sz="650" dirty="0"/>
          </a:p>
        </p:txBody>
      </p:sp>
      <p:sp>
        <p:nvSpPr>
          <p:cNvPr id="24" name="Text 22"/>
          <p:cNvSpPr/>
          <p:nvPr/>
        </p:nvSpPr>
        <p:spPr>
          <a:xfrm>
            <a:off x="588169" y="1785938"/>
            <a:ext cx="1748358"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Northstar Data License</a:t>
            </a:r>
            <a:endParaRPr lang="en-US" sz="650" dirty="0"/>
          </a:p>
        </p:txBody>
      </p:sp>
      <p:sp>
        <p:nvSpPr>
          <p:cNvPr id="25" name="Text 23"/>
          <p:cNvSpPr/>
          <p:nvPr/>
        </p:nvSpPr>
        <p:spPr>
          <a:xfrm>
            <a:off x="2053754" y="1785938"/>
            <a:ext cx="1666949"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Data license</a:t>
            </a:r>
            <a:endParaRPr lang="en-US" sz="650" dirty="0"/>
          </a:p>
        </p:txBody>
      </p:sp>
      <p:sp>
        <p:nvSpPr>
          <p:cNvPr id="26" name="Text 24"/>
          <p:cNvSpPr/>
          <p:nvPr/>
        </p:nvSpPr>
        <p:spPr>
          <a:xfrm>
            <a:off x="3437930" y="1785938"/>
            <a:ext cx="1666949"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$18M / 3yr</a:t>
            </a:r>
            <a:endParaRPr lang="en-US" sz="650" dirty="0"/>
          </a:p>
        </p:txBody>
      </p:sp>
      <p:sp>
        <p:nvSpPr>
          <p:cNvPr id="27" name="Text 25"/>
          <p:cNvSpPr/>
          <p:nvPr/>
        </p:nvSpPr>
        <p:spPr>
          <a:xfrm>
            <a:off x="4822106" y="1785938"/>
            <a:ext cx="1259830"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36 mo.</a:t>
            </a:r>
            <a:endParaRPr lang="en-US" sz="650" dirty="0"/>
          </a:p>
        </p:txBody>
      </p:sp>
      <p:sp>
        <p:nvSpPr>
          <p:cNvPr id="28" name="Text 26"/>
          <p:cNvSpPr/>
          <p:nvPr/>
        </p:nvSpPr>
        <p:spPr>
          <a:xfrm>
            <a:off x="5799162" y="1785938"/>
            <a:ext cx="1748358"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None</a:t>
            </a:r>
            <a:endParaRPr lang="en-US" sz="650" dirty="0"/>
          </a:p>
        </p:txBody>
      </p:sp>
      <p:sp>
        <p:nvSpPr>
          <p:cNvPr id="29" name="Text 27"/>
          <p:cNvSpPr/>
          <p:nvPr/>
        </p:nvSpPr>
        <p:spPr>
          <a:xfrm>
            <a:off x="7264747" y="1785938"/>
            <a:ext cx="1748358"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52/100</a:t>
            </a:r>
            <a:endParaRPr lang="en-US" sz="650" dirty="0"/>
          </a:p>
        </p:txBody>
      </p:sp>
      <p:sp>
        <p:nvSpPr>
          <p:cNvPr id="30" name="Text 28"/>
          <p:cNvSpPr/>
          <p:nvPr/>
        </p:nvSpPr>
        <p:spPr>
          <a:xfrm>
            <a:off x="588169" y="1992511"/>
            <a:ext cx="1748358"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Meridian API Integration</a:t>
            </a:r>
            <a:endParaRPr lang="en-US" sz="650" dirty="0"/>
          </a:p>
        </p:txBody>
      </p:sp>
      <p:sp>
        <p:nvSpPr>
          <p:cNvPr id="31" name="Text 29"/>
          <p:cNvSpPr/>
          <p:nvPr/>
        </p:nvSpPr>
        <p:spPr>
          <a:xfrm>
            <a:off x="2053754" y="1992511"/>
            <a:ext cx="1666949"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API / product integration</a:t>
            </a:r>
            <a:endParaRPr lang="en-US" sz="650" dirty="0"/>
          </a:p>
        </p:txBody>
      </p:sp>
      <p:sp>
        <p:nvSpPr>
          <p:cNvPr id="32" name="Text 30"/>
          <p:cNvSpPr/>
          <p:nvPr/>
        </p:nvSpPr>
        <p:spPr>
          <a:xfrm>
            <a:off x="3437930" y="1992511"/>
            <a:ext cx="1666949"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$9M / 2yr</a:t>
            </a:r>
            <a:endParaRPr lang="en-US" sz="650" dirty="0"/>
          </a:p>
        </p:txBody>
      </p:sp>
      <p:sp>
        <p:nvSpPr>
          <p:cNvPr id="33" name="Text 31"/>
          <p:cNvSpPr/>
          <p:nvPr/>
        </p:nvSpPr>
        <p:spPr>
          <a:xfrm>
            <a:off x="4822106" y="1992511"/>
            <a:ext cx="1259830"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24 mo.</a:t>
            </a:r>
            <a:endParaRPr lang="en-US" sz="650" dirty="0"/>
          </a:p>
        </p:txBody>
      </p:sp>
      <p:sp>
        <p:nvSpPr>
          <p:cNvPr id="34" name="Text 32"/>
          <p:cNvSpPr/>
          <p:nvPr/>
        </p:nvSpPr>
        <p:spPr>
          <a:xfrm>
            <a:off x="5799162" y="1992511"/>
            <a:ext cx="1748358"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Partial</a:t>
            </a:r>
            <a:endParaRPr lang="en-US" sz="650" dirty="0"/>
          </a:p>
        </p:txBody>
      </p:sp>
      <p:sp>
        <p:nvSpPr>
          <p:cNvPr id="35" name="Text 33"/>
          <p:cNvSpPr/>
          <p:nvPr/>
        </p:nvSpPr>
        <p:spPr>
          <a:xfrm>
            <a:off x="7264747" y="1992511"/>
            <a:ext cx="1748358"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64/100</a:t>
            </a:r>
            <a:endParaRPr lang="en-US" sz="650" dirty="0"/>
          </a:p>
        </p:txBody>
      </p:sp>
      <p:sp>
        <p:nvSpPr>
          <p:cNvPr id="36" name="Text 34"/>
          <p:cNvSpPr/>
          <p:nvPr/>
        </p:nvSpPr>
        <p:spPr>
          <a:xfrm>
            <a:off x="588169" y="2199084"/>
            <a:ext cx="1748358"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Harbor Enterprise Channel</a:t>
            </a:r>
            <a:endParaRPr lang="en-US" sz="650" dirty="0"/>
          </a:p>
        </p:txBody>
      </p:sp>
      <p:sp>
        <p:nvSpPr>
          <p:cNvPr id="37" name="Text 35"/>
          <p:cNvSpPr/>
          <p:nvPr/>
        </p:nvSpPr>
        <p:spPr>
          <a:xfrm>
            <a:off x="2053754" y="2199084"/>
            <a:ext cx="1666949"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Distribution alliance</a:t>
            </a:r>
            <a:endParaRPr lang="en-US" sz="650" dirty="0"/>
          </a:p>
        </p:txBody>
      </p:sp>
      <p:sp>
        <p:nvSpPr>
          <p:cNvPr id="38" name="Text 36"/>
          <p:cNvSpPr/>
          <p:nvPr/>
        </p:nvSpPr>
        <p:spPr>
          <a:xfrm>
            <a:off x="3437930" y="2199084"/>
            <a:ext cx="1666949"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Undisclosed</a:t>
            </a:r>
            <a:endParaRPr lang="en-US" sz="650" dirty="0"/>
          </a:p>
        </p:txBody>
      </p:sp>
      <p:sp>
        <p:nvSpPr>
          <p:cNvPr id="39" name="Text 37"/>
          <p:cNvSpPr/>
          <p:nvPr/>
        </p:nvSpPr>
        <p:spPr>
          <a:xfrm>
            <a:off x="4822106" y="2199084"/>
            <a:ext cx="1259830"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48 mo.</a:t>
            </a:r>
            <a:endParaRPr lang="en-US" sz="650" dirty="0"/>
          </a:p>
        </p:txBody>
      </p:sp>
      <p:sp>
        <p:nvSpPr>
          <p:cNvPr id="40" name="Text 38"/>
          <p:cNvSpPr/>
          <p:nvPr/>
        </p:nvSpPr>
        <p:spPr>
          <a:xfrm>
            <a:off x="5799162" y="2199084"/>
            <a:ext cx="1748358"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None</a:t>
            </a:r>
            <a:endParaRPr lang="en-US" sz="650" dirty="0"/>
          </a:p>
        </p:txBody>
      </p:sp>
      <p:sp>
        <p:nvSpPr>
          <p:cNvPr id="41" name="Text 39"/>
          <p:cNvSpPr/>
          <p:nvPr/>
        </p:nvSpPr>
        <p:spPr>
          <a:xfrm>
            <a:off x="7264747" y="2199084"/>
            <a:ext cx="1748358"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58/100</a:t>
            </a:r>
            <a:endParaRPr lang="en-US" sz="650" dirty="0"/>
          </a:p>
        </p:txBody>
      </p:sp>
      <p:sp>
        <p:nvSpPr>
          <p:cNvPr id="42" name="Text 40"/>
          <p:cNvSpPr/>
          <p:nvPr/>
        </p:nvSpPr>
        <p:spPr>
          <a:xfrm>
            <a:off x="588169" y="2405658"/>
            <a:ext cx="1748358"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Keystone Strategic Alliance</a:t>
            </a:r>
            <a:endParaRPr lang="en-US" sz="650" dirty="0"/>
          </a:p>
        </p:txBody>
      </p:sp>
      <p:sp>
        <p:nvSpPr>
          <p:cNvPr id="43" name="Text 41"/>
          <p:cNvSpPr/>
          <p:nvPr/>
        </p:nvSpPr>
        <p:spPr>
          <a:xfrm>
            <a:off x="2053754" y="2405658"/>
            <a:ext cx="1666949"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Hybrid (data + distrib.)</a:t>
            </a:r>
            <a:endParaRPr lang="en-US" sz="650" dirty="0"/>
          </a:p>
        </p:txBody>
      </p:sp>
      <p:sp>
        <p:nvSpPr>
          <p:cNvPr id="44" name="Text 42"/>
          <p:cNvSpPr/>
          <p:nvPr/>
        </p:nvSpPr>
        <p:spPr>
          <a:xfrm>
            <a:off x="3437930" y="2405658"/>
            <a:ext cx="1666949"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$28M / 3yr</a:t>
            </a:r>
            <a:endParaRPr lang="en-US" sz="650" dirty="0"/>
          </a:p>
        </p:txBody>
      </p:sp>
      <p:sp>
        <p:nvSpPr>
          <p:cNvPr id="45" name="Text 43"/>
          <p:cNvSpPr/>
          <p:nvPr/>
        </p:nvSpPr>
        <p:spPr>
          <a:xfrm>
            <a:off x="4822106" y="2405658"/>
            <a:ext cx="1259830"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36 mo.</a:t>
            </a:r>
            <a:endParaRPr lang="en-US" sz="650" dirty="0"/>
          </a:p>
        </p:txBody>
      </p:sp>
      <p:sp>
        <p:nvSpPr>
          <p:cNvPr id="46" name="Text 44"/>
          <p:cNvSpPr/>
          <p:nvPr/>
        </p:nvSpPr>
        <p:spPr>
          <a:xfrm>
            <a:off x="5799162" y="2405658"/>
            <a:ext cx="1748358"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Full category</a:t>
            </a:r>
            <a:endParaRPr lang="en-US" sz="650" dirty="0"/>
          </a:p>
        </p:txBody>
      </p:sp>
      <p:sp>
        <p:nvSpPr>
          <p:cNvPr id="47" name="Text 45"/>
          <p:cNvSpPr/>
          <p:nvPr/>
        </p:nvSpPr>
        <p:spPr>
          <a:xfrm>
            <a:off x="7264747" y="2405658"/>
            <a:ext cx="1748358"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78/100</a:t>
            </a:r>
            <a:endParaRPr lang="en-US" sz="650" dirty="0"/>
          </a:p>
        </p:txBody>
      </p:sp>
      <p:sp>
        <p:nvSpPr>
          <p:cNvPr id="48" name="Text 46"/>
          <p:cNvSpPr/>
          <p:nvPr/>
        </p:nvSpPr>
        <p:spPr>
          <a:xfrm>
            <a:off x="588169" y="2612231"/>
            <a:ext cx="1748358"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Pioneer Hybrid Agreement</a:t>
            </a:r>
            <a:endParaRPr lang="en-US" sz="650" dirty="0"/>
          </a:p>
        </p:txBody>
      </p:sp>
      <p:sp>
        <p:nvSpPr>
          <p:cNvPr id="49" name="Text 47"/>
          <p:cNvSpPr/>
          <p:nvPr/>
        </p:nvSpPr>
        <p:spPr>
          <a:xfrm>
            <a:off x="2053754" y="2612231"/>
            <a:ext cx="1666949"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API + data + channel</a:t>
            </a:r>
            <a:endParaRPr lang="en-US" sz="650" dirty="0"/>
          </a:p>
        </p:txBody>
      </p:sp>
      <p:sp>
        <p:nvSpPr>
          <p:cNvPr id="50" name="Text 48"/>
          <p:cNvSpPr/>
          <p:nvPr/>
        </p:nvSpPr>
        <p:spPr>
          <a:xfrm>
            <a:off x="3437930" y="2612231"/>
            <a:ext cx="1666949"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$22M / 3yr</a:t>
            </a:r>
            <a:endParaRPr lang="en-US" sz="650" dirty="0"/>
          </a:p>
        </p:txBody>
      </p:sp>
      <p:sp>
        <p:nvSpPr>
          <p:cNvPr id="51" name="Text 49"/>
          <p:cNvSpPr/>
          <p:nvPr/>
        </p:nvSpPr>
        <p:spPr>
          <a:xfrm>
            <a:off x="4822106" y="2612231"/>
            <a:ext cx="1259830"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36 mo.</a:t>
            </a:r>
            <a:endParaRPr lang="en-US" sz="650" dirty="0"/>
          </a:p>
        </p:txBody>
      </p:sp>
      <p:sp>
        <p:nvSpPr>
          <p:cNvPr id="52" name="Text 50"/>
          <p:cNvSpPr/>
          <p:nvPr/>
        </p:nvSpPr>
        <p:spPr>
          <a:xfrm>
            <a:off x="5799162" y="2612231"/>
            <a:ext cx="1748358"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Segment-limited</a:t>
            </a:r>
            <a:endParaRPr lang="en-US" sz="650" dirty="0"/>
          </a:p>
        </p:txBody>
      </p:sp>
      <p:sp>
        <p:nvSpPr>
          <p:cNvPr id="53" name="Text 51"/>
          <p:cNvSpPr/>
          <p:nvPr/>
        </p:nvSpPr>
        <p:spPr>
          <a:xfrm>
            <a:off x="7264747" y="2612231"/>
            <a:ext cx="1748358"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71/100</a:t>
            </a:r>
            <a:endParaRPr lang="en-US" sz="650" dirty="0"/>
          </a:p>
        </p:txBody>
      </p:sp>
      <p:sp>
        <p:nvSpPr>
          <p:cNvPr id="54" name="Text 52"/>
          <p:cNvSpPr/>
          <p:nvPr/>
        </p:nvSpPr>
        <p:spPr>
          <a:xfrm>
            <a:off x="496119" y="2846263"/>
            <a:ext cx="8608963" cy="118765"/>
          </a:xfrm>
          <a:prstGeom prst="rect">
            <a:avLst/>
          </a:prstGeom>
          <a:noFill/>
          <a:ln/>
        </p:spPr>
        <p:txBody>
          <a:bodyPr wrap="none" lIns="0" tIns="0" rIns="0" bIns="0" rtlCol="0" anchor="t"/>
          <a:lstStyle/>
          <a:p>
            <a:pPr algn="l" indent="0" marL="0">
              <a:lnSpc>
                <a:spcPct val="114000"/>
              </a:lnSpc>
              <a:buNone/>
            </a:pPr>
            <a:r>
              <a:rPr lang="en-US" sz="650" b="1" dirty="0">
                <a:solidFill>
                  <a:srgbClr val="2B4150"/>
                </a:solidFill>
                <a:latin typeface="Source Sans 3 Bold" pitchFamily="34" charset="0"/>
                <a:ea typeface="Source Sans 3 Bold" pitchFamily="34" charset="-122"/>
                <a:cs typeface="Source Sans 3 Bold" pitchFamily="34" charset="-120"/>
              </a:rPr>
              <a:t>Table 2: Normalization Notes</a:t>
            </a:r>
            <a:endParaRPr lang="en-US" sz="650" dirty="0"/>
          </a:p>
        </p:txBody>
      </p:sp>
      <p:sp>
        <p:nvSpPr>
          <p:cNvPr id="55" name="Shape 53"/>
          <p:cNvSpPr/>
          <p:nvPr/>
        </p:nvSpPr>
        <p:spPr>
          <a:xfrm>
            <a:off x="496119" y="3034010"/>
            <a:ext cx="8151763" cy="1244203"/>
          </a:xfrm>
          <a:prstGeom prst="roundRect">
            <a:avLst>
              <a:gd name="adj" fmla="val 1052"/>
            </a:avLst>
          </a:prstGeom>
          <a:noFill/>
          <a:ln w="4763">
            <a:solidFill>
              <a:srgbClr val="000000">
                <a:alpha val="8000"/>
              </a:srgbClr>
            </a:solidFill>
            <a:prstDash val="solid"/>
          </a:ln>
        </p:spPr>
      </p:sp>
      <p:sp>
        <p:nvSpPr>
          <p:cNvPr id="56" name="Shape 54"/>
          <p:cNvSpPr/>
          <p:nvPr/>
        </p:nvSpPr>
        <p:spPr>
          <a:xfrm>
            <a:off x="496119" y="3242965"/>
            <a:ext cx="8151763" cy="5451"/>
          </a:xfrm>
          <a:prstGeom prst="rect">
            <a:avLst/>
          </a:prstGeom>
          <a:solidFill>
            <a:srgbClr val="000000">
              <a:alpha val="8000"/>
            </a:srgbClr>
          </a:solidFill>
          <a:ln/>
        </p:spPr>
      </p:sp>
      <p:sp>
        <p:nvSpPr>
          <p:cNvPr id="57" name="Shape 55"/>
          <p:cNvSpPr/>
          <p:nvPr/>
        </p:nvSpPr>
        <p:spPr>
          <a:xfrm>
            <a:off x="496119" y="3449538"/>
            <a:ext cx="8151763" cy="5451"/>
          </a:xfrm>
          <a:prstGeom prst="rect">
            <a:avLst/>
          </a:prstGeom>
          <a:solidFill>
            <a:srgbClr val="000000">
              <a:alpha val="8000"/>
            </a:srgbClr>
          </a:solidFill>
          <a:ln/>
        </p:spPr>
      </p:sp>
      <p:sp>
        <p:nvSpPr>
          <p:cNvPr id="58" name="Shape 56"/>
          <p:cNvSpPr/>
          <p:nvPr/>
        </p:nvSpPr>
        <p:spPr>
          <a:xfrm>
            <a:off x="496119" y="3656112"/>
            <a:ext cx="8151763" cy="5451"/>
          </a:xfrm>
          <a:prstGeom prst="rect">
            <a:avLst/>
          </a:prstGeom>
          <a:solidFill>
            <a:srgbClr val="000000">
              <a:alpha val="8000"/>
            </a:srgbClr>
          </a:solidFill>
          <a:ln/>
        </p:spPr>
      </p:sp>
      <p:sp>
        <p:nvSpPr>
          <p:cNvPr id="59" name="Shape 57"/>
          <p:cNvSpPr/>
          <p:nvPr/>
        </p:nvSpPr>
        <p:spPr>
          <a:xfrm>
            <a:off x="496119" y="3862685"/>
            <a:ext cx="8151763" cy="5451"/>
          </a:xfrm>
          <a:prstGeom prst="rect">
            <a:avLst/>
          </a:prstGeom>
          <a:solidFill>
            <a:srgbClr val="000000">
              <a:alpha val="8000"/>
            </a:srgbClr>
          </a:solidFill>
          <a:ln/>
        </p:spPr>
      </p:sp>
      <p:sp>
        <p:nvSpPr>
          <p:cNvPr id="60" name="Shape 58"/>
          <p:cNvSpPr/>
          <p:nvPr/>
        </p:nvSpPr>
        <p:spPr>
          <a:xfrm>
            <a:off x="496119" y="4069259"/>
            <a:ext cx="8151763" cy="5451"/>
          </a:xfrm>
          <a:prstGeom prst="rect">
            <a:avLst/>
          </a:prstGeom>
          <a:solidFill>
            <a:srgbClr val="000000">
              <a:alpha val="8000"/>
            </a:srgbClr>
          </a:solidFill>
          <a:ln/>
        </p:spPr>
      </p:sp>
      <p:sp>
        <p:nvSpPr>
          <p:cNvPr id="61" name="Shape 59"/>
          <p:cNvSpPr/>
          <p:nvPr/>
        </p:nvSpPr>
        <p:spPr>
          <a:xfrm>
            <a:off x="501030" y="3038773"/>
            <a:ext cx="1791221" cy="204192"/>
          </a:xfrm>
          <a:custGeom>
            <a:avLst/>
            <a:gdLst/>
            <a:ahLst/>
            <a:cxnLst/>
            <a:rect l="l" t="t" r="r" b="b"/>
            <a:pathLst>
              <a:path w="1791221" h="204192">
                <a:moveTo>
                  <a:pt x="10903" y="0"/>
                </a:moveTo>
                <a:lnTo>
                  <a:pt x="1791221" y="0"/>
                </a:lnTo>
                <a:lnTo>
                  <a:pt x="1791221" y="204192"/>
                </a:lnTo>
                <a:lnTo>
                  <a:pt x="0" y="204192"/>
                </a:lnTo>
                <a:lnTo>
                  <a:pt x="0" y="10903"/>
                </a:lnTo>
                <a:arcTo hR="10903" wR="10903" stAng="10800000" swAng="5400000"/>
                <a:close/>
              </a:path>
            </a:pathLst>
          </a:custGeom>
          <a:solidFill>
            <a:srgbClr val="325F7B"/>
          </a:solidFill>
          <a:ln/>
        </p:spPr>
      </p:sp>
      <p:sp>
        <p:nvSpPr>
          <p:cNvPr id="62" name="Text 60"/>
          <p:cNvSpPr/>
          <p:nvPr/>
        </p:nvSpPr>
        <p:spPr>
          <a:xfrm>
            <a:off x="588243" y="3080296"/>
            <a:ext cx="2073994" cy="118765"/>
          </a:xfrm>
          <a:prstGeom prst="rect">
            <a:avLst/>
          </a:prstGeom>
          <a:noFill/>
          <a:ln/>
        </p:spPr>
        <p:txBody>
          <a:bodyPr wrap="none" lIns="0" tIns="0" rIns="0" bIns="0" rtlCol="0" anchor="t"/>
          <a:lstStyle/>
          <a:p>
            <a:pPr algn="l" indent="0" marL="0">
              <a:lnSpc>
                <a:spcPct val="114000"/>
              </a:lnSpc>
              <a:buNone/>
            </a:pPr>
            <a:r>
              <a:rPr lang="en-US" sz="650" b="1" dirty="0">
                <a:solidFill>
                  <a:srgbClr val="FFFFFF"/>
                </a:solidFill>
                <a:latin typeface="Source Sans 3 Bold" pitchFamily="34" charset="0"/>
                <a:ea typeface="Source Sans 3 Bold" pitchFamily="34" charset="-122"/>
                <a:cs typeface="Source Sans 3 Bold" pitchFamily="34" charset="-120"/>
              </a:rPr>
              <a:t>Deal Name</a:t>
            </a:r>
            <a:endParaRPr lang="en-US" sz="650" dirty="0"/>
          </a:p>
        </p:txBody>
      </p:sp>
      <p:sp>
        <p:nvSpPr>
          <p:cNvPr id="63" name="Shape 61"/>
          <p:cNvSpPr/>
          <p:nvPr/>
        </p:nvSpPr>
        <p:spPr>
          <a:xfrm>
            <a:off x="2292251" y="3038773"/>
            <a:ext cx="1465585" cy="204192"/>
          </a:xfrm>
          <a:prstGeom prst="rect">
            <a:avLst/>
          </a:prstGeom>
          <a:solidFill>
            <a:srgbClr val="325F7B"/>
          </a:solidFill>
          <a:ln/>
        </p:spPr>
      </p:sp>
      <p:sp>
        <p:nvSpPr>
          <p:cNvPr id="64" name="Text 62"/>
          <p:cNvSpPr/>
          <p:nvPr/>
        </p:nvSpPr>
        <p:spPr>
          <a:xfrm>
            <a:off x="2379464" y="3080296"/>
            <a:ext cx="1748358" cy="118765"/>
          </a:xfrm>
          <a:prstGeom prst="rect">
            <a:avLst/>
          </a:prstGeom>
          <a:noFill/>
          <a:ln/>
        </p:spPr>
        <p:txBody>
          <a:bodyPr wrap="none" lIns="0" tIns="0" rIns="0" bIns="0" rtlCol="0" anchor="t"/>
          <a:lstStyle/>
          <a:p>
            <a:pPr algn="l" indent="0" marL="0">
              <a:lnSpc>
                <a:spcPct val="114000"/>
              </a:lnSpc>
              <a:buNone/>
            </a:pPr>
            <a:r>
              <a:rPr lang="en-US" sz="650" b="1" dirty="0">
                <a:solidFill>
                  <a:srgbClr val="FFFFFF"/>
                </a:solidFill>
                <a:latin typeface="Source Sans 3 Bold" pitchFamily="34" charset="0"/>
                <a:ea typeface="Source Sans 3 Bold" pitchFamily="34" charset="-122"/>
                <a:cs typeface="Source Sans 3 Bold" pitchFamily="34" charset="-120"/>
              </a:rPr>
              <a:t>Source Quality</a:t>
            </a:r>
            <a:endParaRPr lang="en-US" sz="650" dirty="0"/>
          </a:p>
        </p:txBody>
      </p:sp>
      <p:sp>
        <p:nvSpPr>
          <p:cNvPr id="65" name="Shape 63"/>
          <p:cNvSpPr/>
          <p:nvPr/>
        </p:nvSpPr>
        <p:spPr>
          <a:xfrm>
            <a:off x="3757836" y="3038773"/>
            <a:ext cx="4885283" cy="204192"/>
          </a:xfrm>
          <a:custGeom>
            <a:avLst/>
            <a:gdLst/>
            <a:ahLst/>
            <a:cxnLst/>
            <a:rect l="l" t="t" r="r" b="b"/>
            <a:pathLst>
              <a:path w="4885283" h="204192">
                <a:moveTo>
                  <a:pt x="0" y="0"/>
                </a:moveTo>
                <a:lnTo>
                  <a:pt x="4874381" y="0"/>
                </a:lnTo>
                <a:arcTo hR="10903" wR="10903" stAng="16200000" swAng="5400000"/>
                <a:lnTo>
                  <a:pt x="4885283" y="204192"/>
                </a:lnTo>
                <a:lnTo>
                  <a:pt x="0" y="204192"/>
                </a:lnTo>
                <a:lnTo>
                  <a:pt x="0" y="0"/>
                </a:lnTo>
                <a:close/>
              </a:path>
            </a:pathLst>
          </a:custGeom>
          <a:solidFill>
            <a:srgbClr val="325F7B"/>
          </a:solidFill>
          <a:ln/>
        </p:spPr>
      </p:sp>
      <p:sp>
        <p:nvSpPr>
          <p:cNvPr id="66" name="Text 64"/>
          <p:cNvSpPr/>
          <p:nvPr/>
        </p:nvSpPr>
        <p:spPr>
          <a:xfrm>
            <a:off x="3845049" y="3080296"/>
            <a:ext cx="5168057" cy="118765"/>
          </a:xfrm>
          <a:prstGeom prst="rect">
            <a:avLst/>
          </a:prstGeom>
          <a:noFill/>
          <a:ln/>
        </p:spPr>
        <p:txBody>
          <a:bodyPr wrap="none" lIns="0" tIns="0" rIns="0" bIns="0" rtlCol="0" anchor="t"/>
          <a:lstStyle/>
          <a:p>
            <a:pPr algn="l" indent="0" marL="0">
              <a:lnSpc>
                <a:spcPct val="114000"/>
              </a:lnSpc>
              <a:buNone/>
            </a:pPr>
            <a:r>
              <a:rPr lang="en-US" sz="650" b="1" dirty="0">
                <a:solidFill>
                  <a:srgbClr val="FFFFFF"/>
                </a:solidFill>
                <a:latin typeface="Source Sans 3 Bold" pitchFamily="34" charset="0"/>
                <a:ea typeface="Source Sans 3 Bold" pitchFamily="34" charset="-122"/>
                <a:cs typeface="Source Sans 3 Bold" pitchFamily="34" charset="-120"/>
              </a:rPr>
              <a:t>Adjustment Note</a:t>
            </a:r>
            <a:endParaRPr lang="en-US" sz="650" dirty="0"/>
          </a:p>
        </p:txBody>
      </p:sp>
      <p:sp>
        <p:nvSpPr>
          <p:cNvPr id="67" name="Text 65"/>
          <p:cNvSpPr/>
          <p:nvPr/>
        </p:nvSpPr>
        <p:spPr>
          <a:xfrm>
            <a:off x="588243" y="3286869"/>
            <a:ext cx="2073994"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Northstar Data License</a:t>
            </a:r>
            <a:endParaRPr lang="en-US" sz="650" dirty="0"/>
          </a:p>
        </p:txBody>
      </p:sp>
      <p:sp>
        <p:nvSpPr>
          <p:cNvPr id="68" name="Text 66"/>
          <p:cNvSpPr/>
          <p:nvPr/>
        </p:nvSpPr>
        <p:spPr>
          <a:xfrm>
            <a:off x="2379464" y="3286869"/>
            <a:ext cx="1748358"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Press release</a:t>
            </a:r>
            <a:endParaRPr lang="en-US" sz="650" dirty="0"/>
          </a:p>
        </p:txBody>
      </p:sp>
      <p:sp>
        <p:nvSpPr>
          <p:cNvPr id="69" name="Text 67"/>
          <p:cNvSpPr/>
          <p:nvPr/>
        </p:nvSpPr>
        <p:spPr>
          <a:xfrm>
            <a:off x="3845049" y="3286869"/>
            <a:ext cx="5168057"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No integration; adjust down for lower cost; no distribution premium</a:t>
            </a:r>
            <a:endParaRPr lang="en-US" sz="650" dirty="0"/>
          </a:p>
        </p:txBody>
      </p:sp>
      <p:sp>
        <p:nvSpPr>
          <p:cNvPr id="70" name="Text 68"/>
          <p:cNvSpPr/>
          <p:nvPr/>
        </p:nvSpPr>
        <p:spPr>
          <a:xfrm>
            <a:off x="588243" y="3493443"/>
            <a:ext cx="2073994"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Meridian API Integration</a:t>
            </a:r>
            <a:endParaRPr lang="en-US" sz="650" dirty="0"/>
          </a:p>
        </p:txBody>
      </p:sp>
      <p:sp>
        <p:nvSpPr>
          <p:cNvPr id="71" name="Text 69"/>
          <p:cNvSpPr/>
          <p:nvPr/>
        </p:nvSpPr>
        <p:spPr>
          <a:xfrm>
            <a:off x="2379464" y="3493443"/>
            <a:ext cx="1748358"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Industry report</a:t>
            </a:r>
            <a:endParaRPr lang="en-US" sz="650" dirty="0"/>
          </a:p>
        </p:txBody>
      </p:sp>
      <p:sp>
        <p:nvSpPr>
          <p:cNvPr id="72" name="Text 70"/>
          <p:cNvSpPr/>
          <p:nvPr/>
        </p:nvSpPr>
        <p:spPr>
          <a:xfrm>
            <a:off x="3845049" y="3493443"/>
            <a:ext cx="5168057"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Shorter term; annualize and add distribution premium for Atlas</a:t>
            </a:r>
            <a:endParaRPr lang="en-US" sz="650" dirty="0"/>
          </a:p>
        </p:txBody>
      </p:sp>
      <p:sp>
        <p:nvSpPr>
          <p:cNvPr id="73" name="Text 71"/>
          <p:cNvSpPr/>
          <p:nvPr/>
        </p:nvSpPr>
        <p:spPr>
          <a:xfrm>
            <a:off x="588243" y="3700016"/>
            <a:ext cx="2073994"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Harbor Enterprise Channel</a:t>
            </a:r>
            <a:endParaRPr lang="en-US" sz="650" dirty="0"/>
          </a:p>
        </p:txBody>
      </p:sp>
      <p:sp>
        <p:nvSpPr>
          <p:cNvPr id="74" name="Text 72"/>
          <p:cNvSpPr/>
          <p:nvPr/>
        </p:nvSpPr>
        <p:spPr>
          <a:xfrm>
            <a:off x="2379464" y="3700016"/>
            <a:ext cx="1748358"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Analyst estimate</a:t>
            </a:r>
            <a:endParaRPr lang="en-US" sz="650" dirty="0"/>
          </a:p>
        </p:txBody>
      </p:sp>
      <p:sp>
        <p:nvSpPr>
          <p:cNvPr id="75" name="Text 73"/>
          <p:cNvSpPr/>
          <p:nvPr/>
        </p:nvSpPr>
        <p:spPr>
          <a:xfrm>
            <a:off x="3845049" y="3700016"/>
            <a:ext cx="5168057"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No data or IP component; economics estimated; apply heavy discount to signal</a:t>
            </a:r>
            <a:endParaRPr lang="en-US" sz="650" dirty="0"/>
          </a:p>
        </p:txBody>
      </p:sp>
      <p:sp>
        <p:nvSpPr>
          <p:cNvPr id="76" name="Text 74"/>
          <p:cNvSpPr/>
          <p:nvPr/>
        </p:nvSpPr>
        <p:spPr>
          <a:xfrm>
            <a:off x="588243" y="3906589"/>
            <a:ext cx="2073994"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Keystone Strategic Alliance</a:t>
            </a:r>
            <a:endParaRPr lang="en-US" sz="650" dirty="0"/>
          </a:p>
        </p:txBody>
      </p:sp>
      <p:sp>
        <p:nvSpPr>
          <p:cNvPr id="77" name="Text 75"/>
          <p:cNvSpPr/>
          <p:nvPr/>
        </p:nvSpPr>
        <p:spPr>
          <a:xfrm>
            <a:off x="2379464" y="3906589"/>
            <a:ext cx="1748358"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SEC filing</a:t>
            </a:r>
            <a:endParaRPr lang="en-US" sz="650" dirty="0"/>
          </a:p>
        </p:txBody>
      </p:sp>
      <p:sp>
        <p:nvSpPr>
          <p:cNvPr id="78" name="Text 76"/>
          <p:cNvSpPr/>
          <p:nvPr/>
        </p:nvSpPr>
        <p:spPr>
          <a:xfrm>
            <a:off x="3845049" y="3906589"/>
            <a:ext cx="5168057"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Full exclusivity vs. Atlas limited; adjust down economics; best structural comp</a:t>
            </a:r>
            <a:endParaRPr lang="en-US" sz="650" dirty="0"/>
          </a:p>
        </p:txBody>
      </p:sp>
      <p:sp>
        <p:nvSpPr>
          <p:cNvPr id="79" name="Text 77"/>
          <p:cNvSpPr/>
          <p:nvPr/>
        </p:nvSpPr>
        <p:spPr>
          <a:xfrm>
            <a:off x="588243" y="4113163"/>
            <a:ext cx="2073994"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Pioneer Hybrid Agreement</a:t>
            </a:r>
            <a:endParaRPr lang="en-US" sz="650" dirty="0"/>
          </a:p>
        </p:txBody>
      </p:sp>
      <p:sp>
        <p:nvSpPr>
          <p:cNvPr id="80" name="Text 78"/>
          <p:cNvSpPr/>
          <p:nvPr/>
        </p:nvSpPr>
        <p:spPr>
          <a:xfrm>
            <a:off x="2379464" y="4113163"/>
            <a:ext cx="1748358"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Partner earnings call</a:t>
            </a:r>
            <a:endParaRPr lang="en-US" sz="650" dirty="0"/>
          </a:p>
        </p:txBody>
      </p:sp>
      <p:sp>
        <p:nvSpPr>
          <p:cNvPr id="81" name="Text 79"/>
          <p:cNvSpPr/>
          <p:nvPr/>
        </p:nvSpPr>
        <p:spPr>
          <a:xfrm>
            <a:off x="3845049" y="4113163"/>
            <a:ext cx="5168057" cy="118765"/>
          </a:xfrm>
          <a:prstGeom prst="rect">
            <a:avLst/>
          </a:prstGeom>
          <a:noFill/>
          <a:ln/>
        </p:spPr>
        <p:txBody>
          <a:bodyPr wrap="none" lIns="0" tIns="0" rIns="0" bIns="0" rtlCol="0" anchor="t"/>
          <a:lstStyle/>
          <a:p>
            <a:pPr algn="l" indent="0" marL="0">
              <a:lnSpc>
                <a:spcPct val="114000"/>
              </a:lnSpc>
              <a:buNone/>
            </a:pPr>
            <a:r>
              <a:rPr lang="en-US" sz="650" dirty="0">
                <a:solidFill>
                  <a:srgbClr val="2B4150"/>
                </a:solidFill>
                <a:latin typeface="Source Sans 3" pitchFamily="34" charset="0"/>
                <a:ea typeface="Source Sans 3" pitchFamily="34" charset="-122"/>
                <a:cs typeface="Source Sans 3" pitchFamily="34" charset="-120"/>
              </a:rPr>
              <a:t>Closest archetype match; integration burden lower than Atlas; adjust up slightly</a:t>
            </a:r>
            <a:endParaRPr lang="en-US" sz="650" dirty="0"/>
          </a:p>
        </p:txBody>
      </p:sp>
      <p:sp>
        <p:nvSpPr>
          <p:cNvPr id="82" name="Shape 80"/>
          <p:cNvSpPr/>
          <p:nvPr/>
        </p:nvSpPr>
        <p:spPr>
          <a:xfrm>
            <a:off x="496119" y="4347195"/>
            <a:ext cx="8151763" cy="397594"/>
          </a:xfrm>
          <a:prstGeom prst="roundRect">
            <a:avLst>
              <a:gd name="adj" fmla="val 3291"/>
            </a:avLst>
          </a:prstGeom>
          <a:solidFill>
            <a:srgbClr val="DBE8F0"/>
          </a:solidFill>
          <a:ln/>
        </p:spPr>
      </p:sp>
      <p:pic>
        <p:nvPicPr>
          <p:cNvPr id="83" name="Image 0" descr="preencoded.png">    </p:cNvPr>
          <p:cNvPicPr>
            <a:picLocks noChangeAspect="1"/>
          </p:cNvPicPr>
          <p:nvPr/>
        </p:nvPicPr>
        <p:blipFill>
          <a:blip r:embed="rId1"/>
          <a:stretch>
            <a:fillRect/>
          </a:stretch>
        </p:blipFill>
        <p:spPr>
          <a:xfrm>
            <a:off x="583332" y="4460825"/>
            <a:ext cx="109017" cy="87213"/>
          </a:xfrm>
          <a:prstGeom prst="rect">
            <a:avLst/>
          </a:prstGeom>
        </p:spPr>
      </p:pic>
      <p:sp>
        <p:nvSpPr>
          <p:cNvPr id="84" name="Text 81"/>
          <p:cNvSpPr/>
          <p:nvPr/>
        </p:nvSpPr>
        <p:spPr>
          <a:xfrm>
            <a:off x="779562" y="4430316"/>
            <a:ext cx="7781106" cy="237530"/>
          </a:xfrm>
          <a:prstGeom prst="rect">
            <a:avLst/>
          </a:prstGeom>
          <a:noFill/>
          <a:ln/>
        </p:spPr>
        <p:txBody>
          <a:bodyPr wrap="square" lIns="0" tIns="0" rIns="0" bIns="0" rtlCol="0" anchor="t">
            <a:normAutofit/>
          </a:bodyPr>
          <a:lstStyle/>
          <a:p>
            <a:pPr algn="l" indent="0" marL="0">
              <a:lnSpc>
                <a:spcPct val="114000"/>
              </a:lnSpc>
              <a:buNone/>
            </a:pPr>
            <a:r>
              <a:rPr lang="en-US" sz="650" b="1" dirty="0">
                <a:solidFill>
                  <a:srgbClr val="000000"/>
                </a:solidFill>
                <a:latin typeface="Source Sans 3 Bold" pitchFamily="34" charset="0"/>
                <a:ea typeface="Source Sans 3 Bold" pitchFamily="34" charset="-122"/>
                <a:cs typeface="Source Sans 3 Bold" pitchFamily="34" charset="-120"/>
              </a:rPr>
              <a:t>Principle:</a:t>
            </a:r>
            <a:pPr algn="l" indent="0" marL="0">
              <a:lnSpc>
                <a:spcPct val="114000"/>
              </a:lnSpc>
              <a:buNone/>
            </a:pPr>
            <a:r>
              <a:rPr lang="en-US" sz="650" dirty="0">
                <a:solidFill>
                  <a:srgbClr val="000000"/>
                </a:solidFill>
                <a:latin typeface="Source Sans 3" pitchFamily="34" charset="0"/>
                <a:ea typeface="Source Sans 3" pitchFamily="34" charset="-122"/>
                <a:cs typeface="Source Sans 3" pitchFamily="34" charset="-120"/>
              </a:rPr>
              <a:t> Comparables inform the range; they do not replace first-principles valuation. A 52/100 comparable should widen the uncertainty band, not anchor the number. All deal names and economics above are synthetic.</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96119" y="392385"/>
            <a:ext cx="1018654" cy="123676"/>
          </a:xfrm>
          <a:prstGeom prst="roundRect">
            <a:avLst>
              <a:gd name="adj" fmla="val 7899"/>
            </a:avLst>
          </a:prstGeom>
          <a:noFill/>
          <a:ln w="4763">
            <a:solidFill>
              <a:srgbClr val="325F7B"/>
            </a:solidFill>
            <a:prstDash val="solid"/>
          </a:ln>
        </p:spPr>
      </p:sp>
      <p:sp>
        <p:nvSpPr>
          <p:cNvPr id="3" name="Text 1"/>
          <p:cNvSpPr/>
          <p:nvPr/>
        </p:nvSpPr>
        <p:spPr>
          <a:xfrm>
            <a:off x="544934" y="416793"/>
            <a:ext cx="1378223" cy="74861"/>
          </a:xfrm>
          <a:prstGeom prst="rect">
            <a:avLst/>
          </a:prstGeom>
          <a:noFill/>
          <a:ln/>
        </p:spPr>
        <p:txBody>
          <a:bodyPr wrap="none" lIns="0" tIns="0" rIns="0" bIns="0" rtlCol="0" anchor="t"/>
          <a:lstStyle/>
          <a:p>
            <a:pPr algn="l" indent="0" marL="0">
              <a:lnSpc>
                <a:spcPct val="96000"/>
              </a:lnSpc>
              <a:buNone/>
            </a:pPr>
            <a:r>
              <a:rPr lang="en-US" sz="500" dirty="0">
                <a:solidFill>
                  <a:srgbClr val="325F7B"/>
                </a:solidFill>
                <a:latin typeface="Source Sans 3" pitchFamily="34" charset="0"/>
                <a:ea typeface="Source Sans 3" pitchFamily="34" charset="-122"/>
                <a:cs typeface="Source Sans 3" pitchFamily="34" charset="-120"/>
              </a:rPr>
              <a:t>NEGOTIATION RECOMMENDATION</a:t>
            </a:r>
            <a:endParaRPr lang="en-US" sz="500" dirty="0"/>
          </a:p>
        </p:txBody>
      </p:sp>
      <p:sp>
        <p:nvSpPr>
          <p:cNvPr id="4" name="Text 2"/>
          <p:cNvSpPr/>
          <p:nvPr/>
        </p:nvSpPr>
        <p:spPr>
          <a:xfrm>
            <a:off x="496119" y="537418"/>
            <a:ext cx="8151763" cy="254347"/>
          </a:xfrm>
          <a:prstGeom prst="rect">
            <a:avLst/>
          </a:prstGeom>
          <a:noFill/>
          <a:ln/>
        </p:spPr>
        <p:txBody>
          <a:bodyPr wrap="none" lIns="0" tIns="0" rIns="0" bIns="0" rtlCol="0" anchor="t"/>
          <a:lstStyle/>
          <a:p>
            <a:pPr algn="l" indent="0" marL="0">
              <a:lnSpc>
                <a:spcPct val="104000"/>
              </a:lnSpc>
              <a:buNone/>
            </a:pPr>
            <a:r>
              <a:rPr lang="en-US" sz="1600" dirty="0">
                <a:solidFill>
                  <a:srgbClr val="124E73"/>
                </a:solidFill>
                <a:latin typeface="MuseoModerno Medium" pitchFamily="34" charset="0"/>
                <a:ea typeface="MuseoModerno Medium" pitchFamily="34" charset="-122"/>
                <a:cs typeface="MuseoModerno Medium" pitchFamily="34" charset="-120"/>
              </a:rPr>
              <a:t>Restructure Into a Staged Pilot Before a Three-Year Commitment</a:t>
            </a:r>
            <a:endParaRPr lang="en-US" sz="1600" dirty="0"/>
          </a:p>
        </p:txBody>
      </p:sp>
      <p:sp>
        <p:nvSpPr>
          <p:cNvPr id="5" name="Text 3"/>
          <p:cNvSpPr/>
          <p:nvPr/>
        </p:nvSpPr>
        <p:spPr>
          <a:xfrm>
            <a:off x="496119" y="871835"/>
            <a:ext cx="8151763" cy="215652"/>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The base case valuation gap of –$5.8M is not a reason to walk away — it is a reason to restructure. A staged pilot resolves the four unresolved diligence questions (data uniqueness, distribution evidence, implementation scope, exclusivity cost) at lower committed cost, with defined go/no-go triggers before the full commitment is made.</a:t>
            </a:r>
            <a:endParaRPr lang="en-US" sz="600" dirty="0"/>
          </a:p>
        </p:txBody>
      </p:sp>
      <p:sp>
        <p:nvSpPr>
          <p:cNvPr id="6" name="Text 4"/>
          <p:cNvSpPr/>
          <p:nvPr/>
        </p:nvSpPr>
        <p:spPr>
          <a:xfrm>
            <a:off x="496119" y="1200894"/>
            <a:ext cx="3559076" cy="127099"/>
          </a:xfrm>
          <a:prstGeom prst="rect">
            <a:avLst/>
          </a:prstGeom>
          <a:noFill/>
          <a:ln/>
        </p:spPr>
        <p:txBody>
          <a:bodyPr wrap="none" lIns="0" tIns="0" rIns="0" bIns="0" rtlCol="0" anchor="t"/>
          <a:lstStyle/>
          <a:p>
            <a:pPr algn="l" indent="0" marL="0">
              <a:lnSpc>
                <a:spcPct val="104000"/>
              </a:lnSpc>
              <a:buNone/>
            </a:pPr>
            <a:r>
              <a:rPr lang="en-US" sz="800" dirty="0">
                <a:solidFill>
                  <a:srgbClr val="124E73"/>
                </a:solidFill>
                <a:latin typeface="MuseoModerno Medium" pitchFamily="34" charset="0"/>
                <a:ea typeface="MuseoModerno Medium" pitchFamily="34" charset="-122"/>
                <a:cs typeface="MuseoModerno Medium" pitchFamily="34" charset="-120"/>
              </a:rPr>
              <a:t>Negotiation Position Map</a:t>
            </a:r>
            <a:endParaRPr lang="en-US" sz="800" dirty="0"/>
          </a:p>
        </p:txBody>
      </p:sp>
      <p:sp>
        <p:nvSpPr>
          <p:cNvPr id="7" name="Shape 5"/>
          <p:cNvSpPr/>
          <p:nvPr/>
        </p:nvSpPr>
        <p:spPr>
          <a:xfrm>
            <a:off x="496119" y="1388046"/>
            <a:ext cx="3559076" cy="1366614"/>
          </a:xfrm>
          <a:prstGeom prst="roundRect">
            <a:avLst>
              <a:gd name="adj" fmla="val 894"/>
            </a:avLst>
          </a:prstGeom>
          <a:noFill/>
          <a:ln w="4763">
            <a:solidFill>
              <a:srgbClr val="000000">
                <a:alpha val="8000"/>
              </a:srgbClr>
            </a:solidFill>
            <a:prstDash val="solid"/>
          </a:ln>
        </p:spPr>
      </p:sp>
      <p:sp>
        <p:nvSpPr>
          <p:cNvPr id="8" name="Shape 6"/>
          <p:cNvSpPr/>
          <p:nvPr/>
        </p:nvSpPr>
        <p:spPr>
          <a:xfrm>
            <a:off x="496119" y="1576536"/>
            <a:ext cx="3559076" cy="5088"/>
          </a:xfrm>
          <a:prstGeom prst="rect">
            <a:avLst/>
          </a:prstGeom>
          <a:solidFill>
            <a:srgbClr val="000000">
              <a:alpha val="8000"/>
            </a:srgbClr>
          </a:solidFill>
          <a:ln/>
        </p:spPr>
      </p:sp>
      <p:sp>
        <p:nvSpPr>
          <p:cNvPr id="9" name="Shape 7"/>
          <p:cNvSpPr/>
          <p:nvPr/>
        </p:nvSpPr>
        <p:spPr>
          <a:xfrm>
            <a:off x="496119" y="1870472"/>
            <a:ext cx="3559076" cy="5088"/>
          </a:xfrm>
          <a:prstGeom prst="rect">
            <a:avLst/>
          </a:prstGeom>
          <a:solidFill>
            <a:srgbClr val="000000">
              <a:alpha val="8000"/>
            </a:srgbClr>
          </a:solidFill>
          <a:ln/>
        </p:spPr>
      </p:sp>
      <p:sp>
        <p:nvSpPr>
          <p:cNvPr id="10" name="Shape 8"/>
          <p:cNvSpPr/>
          <p:nvPr/>
        </p:nvSpPr>
        <p:spPr>
          <a:xfrm>
            <a:off x="496119" y="2164407"/>
            <a:ext cx="3559076" cy="5088"/>
          </a:xfrm>
          <a:prstGeom prst="rect">
            <a:avLst/>
          </a:prstGeom>
          <a:solidFill>
            <a:srgbClr val="000000">
              <a:alpha val="8000"/>
            </a:srgbClr>
          </a:solidFill>
          <a:ln/>
        </p:spPr>
      </p:sp>
      <p:sp>
        <p:nvSpPr>
          <p:cNvPr id="11" name="Shape 9"/>
          <p:cNvSpPr/>
          <p:nvPr/>
        </p:nvSpPr>
        <p:spPr>
          <a:xfrm>
            <a:off x="496119" y="2458343"/>
            <a:ext cx="3559076" cy="5088"/>
          </a:xfrm>
          <a:prstGeom prst="rect">
            <a:avLst/>
          </a:prstGeom>
          <a:solidFill>
            <a:srgbClr val="000000">
              <a:alpha val="8000"/>
            </a:srgbClr>
          </a:solidFill>
          <a:ln/>
        </p:spPr>
      </p:sp>
      <p:sp>
        <p:nvSpPr>
          <p:cNvPr id="12" name="Shape 10"/>
          <p:cNvSpPr/>
          <p:nvPr/>
        </p:nvSpPr>
        <p:spPr>
          <a:xfrm>
            <a:off x="1684288" y="1388046"/>
            <a:ext cx="5088" cy="1366614"/>
          </a:xfrm>
          <a:prstGeom prst="rect">
            <a:avLst/>
          </a:prstGeom>
          <a:solidFill>
            <a:srgbClr val="000000">
              <a:alpha val="8000"/>
            </a:srgbClr>
          </a:solidFill>
          <a:ln/>
        </p:spPr>
      </p:sp>
      <p:sp>
        <p:nvSpPr>
          <p:cNvPr id="13" name="Shape 11"/>
          <p:cNvSpPr/>
          <p:nvPr/>
        </p:nvSpPr>
        <p:spPr>
          <a:xfrm>
            <a:off x="2867174" y="1388046"/>
            <a:ext cx="5088" cy="1366614"/>
          </a:xfrm>
          <a:prstGeom prst="rect">
            <a:avLst/>
          </a:prstGeom>
          <a:solidFill>
            <a:srgbClr val="000000">
              <a:alpha val="8000"/>
            </a:srgbClr>
          </a:solidFill>
          <a:ln/>
        </p:spPr>
      </p:sp>
      <p:sp>
        <p:nvSpPr>
          <p:cNvPr id="14" name="Shape 12"/>
          <p:cNvSpPr/>
          <p:nvPr/>
        </p:nvSpPr>
        <p:spPr>
          <a:xfrm>
            <a:off x="501402" y="1392808"/>
            <a:ext cx="1182886" cy="183728"/>
          </a:xfrm>
          <a:custGeom>
            <a:avLst/>
            <a:gdLst/>
            <a:ahLst/>
            <a:cxnLst/>
            <a:rect l="l" t="t" r="r" b="b"/>
            <a:pathLst>
              <a:path w="1182886" h="183728">
                <a:moveTo>
                  <a:pt x="10176" y="0"/>
                </a:moveTo>
                <a:lnTo>
                  <a:pt x="1182886" y="0"/>
                </a:lnTo>
                <a:lnTo>
                  <a:pt x="1182886" y="183728"/>
                </a:lnTo>
                <a:lnTo>
                  <a:pt x="0" y="183728"/>
                </a:lnTo>
                <a:lnTo>
                  <a:pt x="0" y="10176"/>
                </a:lnTo>
                <a:arcTo hR="10176" wR="10176" stAng="10800000" swAng="5400000"/>
                <a:close/>
              </a:path>
            </a:pathLst>
          </a:custGeom>
          <a:solidFill>
            <a:srgbClr val="325F7B"/>
          </a:solidFill>
          <a:ln/>
        </p:spPr>
      </p:sp>
      <p:sp>
        <p:nvSpPr>
          <p:cNvPr id="15" name="Text 13"/>
          <p:cNvSpPr/>
          <p:nvPr/>
        </p:nvSpPr>
        <p:spPr>
          <a:xfrm>
            <a:off x="582737" y="1429569"/>
            <a:ext cx="1475036" cy="107826"/>
          </a:xfrm>
          <a:prstGeom prst="rect">
            <a:avLst/>
          </a:prstGeom>
          <a:noFill/>
          <a:ln/>
        </p:spPr>
        <p:txBody>
          <a:bodyPr wrap="none" lIns="0" tIns="0" rIns="0" bIns="0" rtlCol="0" anchor="t"/>
          <a:lstStyle/>
          <a:p>
            <a:pPr algn="l" indent="0" marL="0">
              <a:lnSpc>
                <a:spcPct val="110000"/>
              </a:lnSpc>
              <a:buNone/>
            </a:pPr>
            <a:r>
              <a:rPr lang="en-US" sz="600" b="1" dirty="0">
                <a:solidFill>
                  <a:srgbClr val="FFFFFF"/>
                </a:solidFill>
                <a:latin typeface="Source Sans 3 Bold" pitchFamily="34" charset="0"/>
                <a:ea typeface="Source Sans 3 Bold" pitchFamily="34" charset="-122"/>
                <a:cs typeface="Source Sans 3 Bold" pitchFamily="34" charset="-120"/>
              </a:rPr>
              <a:t>Position</a:t>
            </a:r>
            <a:endParaRPr lang="en-US" sz="600" dirty="0"/>
          </a:p>
        </p:txBody>
      </p:sp>
      <p:sp>
        <p:nvSpPr>
          <p:cNvPr id="16" name="Shape 14"/>
          <p:cNvSpPr/>
          <p:nvPr/>
        </p:nvSpPr>
        <p:spPr>
          <a:xfrm>
            <a:off x="1684288" y="1392808"/>
            <a:ext cx="1182886" cy="183728"/>
          </a:xfrm>
          <a:prstGeom prst="rect">
            <a:avLst/>
          </a:prstGeom>
          <a:solidFill>
            <a:srgbClr val="325F7B"/>
          </a:solidFill>
          <a:ln/>
        </p:spPr>
      </p:sp>
      <p:sp>
        <p:nvSpPr>
          <p:cNvPr id="17" name="Text 15"/>
          <p:cNvSpPr/>
          <p:nvPr/>
        </p:nvSpPr>
        <p:spPr>
          <a:xfrm>
            <a:off x="1768004" y="1429569"/>
            <a:ext cx="1472654" cy="107826"/>
          </a:xfrm>
          <a:prstGeom prst="rect">
            <a:avLst/>
          </a:prstGeom>
          <a:noFill/>
          <a:ln/>
        </p:spPr>
        <p:txBody>
          <a:bodyPr wrap="none" lIns="0" tIns="0" rIns="0" bIns="0" rtlCol="0" anchor="t"/>
          <a:lstStyle/>
          <a:p>
            <a:pPr algn="l" indent="0" marL="0">
              <a:lnSpc>
                <a:spcPct val="110000"/>
              </a:lnSpc>
              <a:buNone/>
            </a:pPr>
            <a:r>
              <a:rPr lang="en-US" sz="600" b="1" dirty="0">
                <a:solidFill>
                  <a:srgbClr val="FFFFFF"/>
                </a:solidFill>
                <a:latin typeface="Source Sans 3 Bold" pitchFamily="34" charset="0"/>
                <a:ea typeface="Source Sans 3 Bold" pitchFamily="34" charset="-122"/>
                <a:cs typeface="Source Sans 3 Bold" pitchFamily="34" charset="-120"/>
              </a:rPr>
              <a:t>Economics</a:t>
            </a:r>
            <a:endParaRPr lang="en-US" sz="600" dirty="0"/>
          </a:p>
        </p:txBody>
      </p:sp>
      <p:sp>
        <p:nvSpPr>
          <p:cNvPr id="18" name="Shape 16"/>
          <p:cNvSpPr/>
          <p:nvPr/>
        </p:nvSpPr>
        <p:spPr>
          <a:xfrm>
            <a:off x="2867174" y="1392808"/>
            <a:ext cx="1182886" cy="183728"/>
          </a:xfrm>
          <a:custGeom>
            <a:avLst/>
            <a:gdLst/>
            <a:ahLst/>
            <a:cxnLst/>
            <a:rect l="l" t="t" r="r" b="b"/>
            <a:pathLst>
              <a:path w="1182886" h="183728">
                <a:moveTo>
                  <a:pt x="0" y="0"/>
                </a:moveTo>
                <a:lnTo>
                  <a:pt x="1172710" y="0"/>
                </a:lnTo>
                <a:arcTo hR="10176" wR="10176" stAng="16200000" swAng="5400000"/>
                <a:lnTo>
                  <a:pt x="1182886" y="183728"/>
                </a:lnTo>
                <a:lnTo>
                  <a:pt x="0" y="183728"/>
                </a:lnTo>
                <a:lnTo>
                  <a:pt x="0" y="0"/>
                </a:lnTo>
                <a:close/>
              </a:path>
            </a:pathLst>
          </a:custGeom>
          <a:solidFill>
            <a:srgbClr val="325F7B"/>
          </a:solidFill>
          <a:ln/>
        </p:spPr>
      </p:sp>
      <p:sp>
        <p:nvSpPr>
          <p:cNvPr id="19" name="Text 17"/>
          <p:cNvSpPr/>
          <p:nvPr/>
        </p:nvSpPr>
        <p:spPr>
          <a:xfrm>
            <a:off x="2950890" y="1429569"/>
            <a:ext cx="1475036" cy="107826"/>
          </a:xfrm>
          <a:prstGeom prst="rect">
            <a:avLst/>
          </a:prstGeom>
          <a:noFill/>
          <a:ln/>
        </p:spPr>
        <p:txBody>
          <a:bodyPr wrap="none" lIns="0" tIns="0" rIns="0" bIns="0" rtlCol="0" anchor="t"/>
          <a:lstStyle/>
          <a:p>
            <a:pPr algn="l" indent="0" marL="0">
              <a:lnSpc>
                <a:spcPct val="110000"/>
              </a:lnSpc>
              <a:buNone/>
            </a:pPr>
            <a:r>
              <a:rPr lang="en-US" sz="600" b="1" dirty="0">
                <a:solidFill>
                  <a:srgbClr val="FFFFFF"/>
                </a:solidFill>
                <a:latin typeface="Source Sans 3 Bold" pitchFamily="34" charset="0"/>
                <a:ea typeface="Source Sans 3 Bold" pitchFamily="34" charset="-122"/>
                <a:cs typeface="Source Sans 3 Bold" pitchFamily="34" charset="-120"/>
              </a:rPr>
              <a:t>Structure</a:t>
            </a:r>
            <a:endParaRPr lang="en-US" sz="600" dirty="0"/>
          </a:p>
        </p:txBody>
      </p:sp>
      <p:sp>
        <p:nvSpPr>
          <p:cNvPr id="20" name="Text 18"/>
          <p:cNvSpPr/>
          <p:nvPr/>
        </p:nvSpPr>
        <p:spPr>
          <a:xfrm>
            <a:off x="582737" y="1615678"/>
            <a:ext cx="1475036" cy="107826"/>
          </a:xfrm>
          <a:prstGeom prst="rect">
            <a:avLst/>
          </a:prstGeom>
          <a:noFill/>
          <a:ln/>
        </p:spPr>
        <p:txBody>
          <a:bodyPr wrap="none" lIns="0" tIns="0" rIns="0" bIns="0" rtlCol="0" anchor="t"/>
          <a:lstStyle/>
          <a:p>
            <a:pPr algn="l" indent="0" marL="0">
              <a:lnSpc>
                <a:spcPct val="110000"/>
              </a:lnSpc>
              <a:buNone/>
            </a:pPr>
            <a:r>
              <a:rPr lang="en-US" sz="600" b="1" dirty="0">
                <a:solidFill>
                  <a:srgbClr val="2B4150"/>
                </a:solidFill>
                <a:latin typeface="Source Sans 3 Bold" pitchFamily="34" charset="0"/>
                <a:ea typeface="Source Sans 3 Bold" pitchFamily="34" charset="-122"/>
                <a:cs typeface="Source Sans 3 Bold" pitchFamily="34" charset="-120"/>
              </a:rPr>
              <a:t>Opening position</a:t>
            </a:r>
            <a:endParaRPr lang="en-US" sz="600" dirty="0"/>
          </a:p>
        </p:txBody>
      </p:sp>
      <p:sp>
        <p:nvSpPr>
          <p:cNvPr id="21" name="Text 19"/>
          <p:cNvSpPr/>
          <p:nvPr/>
        </p:nvSpPr>
        <p:spPr>
          <a:xfrm>
            <a:off x="1768004" y="1615678"/>
            <a:ext cx="1472654" cy="107826"/>
          </a:xfrm>
          <a:prstGeom prst="rect">
            <a:avLst/>
          </a:prstGeom>
          <a:noFill/>
          <a:ln/>
        </p:spPr>
        <p:txBody>
          <a:bodyPr wrap="none" lIns="0" tIns="0" rIns="0" bIns="0" rtlCol="0" anchor="t"/>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$1.0M upfront; $3.0M annual</a:t>
            </a:r>
            <a:endParaRPr lang="en-US" sz="600" dirty="0"/>
          </a:p>
        </p:txBody>
      </p:sp>
      <p:sp>
        <p:nvSpPr>
          <p:cNvPr id="22" name="Text 20"/>
          <p:cNvSpPr/>
          <p:nvPr/>
        </p:nvSpPr>
        <p:spPr>
          <a:xfrm>
            <a:off x="2950890" y="1615678"/>
            <a:ext cx="1017836" cy="215652"/>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9-month pilot; usage-based; no exclusivity</a:t>
            </a:r>
            <a:endParaRPr lang="en-US" sz="600" dirty="0"/>
          </a:p>
        </p:txBody>
      </p:sp>
      <p:sp>
        <p:nvSpPr>
          <p:cNvPr id="23" name="Text 21"/>
          <p:cNvSpPr/>
          <p:nvPr/>
        </p:nvSpPr>
        <p:spPr>
          <a:xfrm>
            <a:off x="582737" y="1909614"/>
            <a:ext cx="1475036" cy="107826"/>
          </a:xfrm>
          <a:prstGeom prst="rect">
            <a:avLst/>
          </a:prstGeom>
          <a:noFill/>
          <a:ln/>
        </p:spPr>
        <p:txBody>
          <a:bodyPr wrap="none" lIns="0" tIns="0" rIns="0" bIns="0" rtlCol="0" anchor="t"/>
          <a:lstStyle/>
          <a:p>
            <a:pPr algn="l" indent="0" marL="0">
              <a:lnSpc>
                <a:spcPct val="110000"/>
              </a:lnSpc>
              <a:buNone/>
            </a:pPr>
            <a:r>
              <a:rPr lang="en-US" sz="600" b="1" dirty="0">
                <a:solidFill>
                  <a:srgbClr val="2B4150"/>
                </a:solidFill>
                <a:latin typeface="Source Sans 3 Bold" pitchFamily="34" charset="0"/>
                <a:ea typeface="Source Sans 3 Bold" pitchFamily="34" charset="-122"/>
                <a:cs typeface="Source Sans 3 Bold" pitchFamily="34" charset="-120"/>
              </a:rPr>
              <a:t>Target range</a:t>
            </a:r>
            <a:endParaRPr lang="en-US" sz="600" dirty="0"/>
          </a:p>
        </p:txBody>
      </p:sp>
      <p:sp>
        <p:nvSpPr>
          <p:cNvPr id="24" name="Text 22"/>
          <p:cNvSpPr/>
          <p:nvPr/>
        </p:nvSpPr>
        <p:spPr>
          <a:xfrm>
            <a:off x="1768004" y="1909614"/>
            <a:ext cx="1472654" cy="107826"/>
          </a:xfrm>
          <a:prstGeom prst="rect">
            <a:avLst/>
          </a:prstGeom>
          <a:noFill/>
          <a:ln/>
        </p:spPr>
        <p:txBody>
          <a:bodyPr wrap="none" lIns="0" tIns="0" rIns="0" bIns="0" rtlCol="0" anchor="t"/>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$2.0M upfront; $4.5M annual</a:t>
            </a:r>
            <a:endParaRPr lang="en-US" sz="600" dirty="0"/>
          </a:p>
        </p:txBody>
      </p:sp>
      <p:sp>
        <p:nvSpPr>
          <p:cNvPr id="25" name="Text 23"/>
          <p:cNvSpPr/>
          <p:nvPr/>
        </p:nvSpPr>
        <p:spPr>
          <a:xfrm>
            <a:off x="2950890" y="1909614"/>
            <a:ext cx="1017836" cy="215652"/>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12-month pilot; milestone triggers; limited exclusivity</a:t>
            </a:r>
            <a:endParaRPr lang="en-US" sz="600" dirty="0"/>
          </a:p>
        </p:txBody>
      </p:sp>
      <p:sp>
        <p:nvSpPr>
          <p:cNvPr id="26" name="Text 24"/>
          <p:cNvSpPr/>
          <p:nvPr/>
        </p:nvSpPr>
        <p:spPr>
          <a:xfrm>
            <a:off x="582737" y="2203549"/>
            <a:ext cx="1475036" cy="107826"/>
          </a:xfrm>
          <a:prstGeom prst="rect">
            <a:avLst/>
          </a:prstGeom>
          <a:noFill/>
          <a:ln/>
        </p:spPr>
        <p:txBody>
          <a:bodyPr wrap="none" lIns="0" tIns="0" rIns="0" bIns="0" rtlCol="0" anchor="t"/>
          <a:lstStyle/>
          <a:p>
            <a:pPr algn="l" indent="0" marL="0">
              <a:lnSpc>
                <a:spcPct val="110000"/>
              </a:lnSpc>
              <a:buNone/>
            </a:pPr>
            <a:r>
              <a:rPr lang="en-US" sz="600" b="1" dirty="0">
                <a:solidFill>
                  <a:srgbClr val="2B4150"/>
                </a:solidFill>
                <a:latin typeface="Source Sans 3 Bold" pitchFamily="34" charset="0"/>
                <a:ea typeface="Source Sans 3 Bold" pitchFamily="34" charset="-122"/>
                <a:cs typeface="Source Sans 3 Bold" pitchFamily="34" charset="-120"/>
              </a:rPr>
              <a:t>Reservation value</a:t>
            </a:r>
            <a:endParaRPr lang="en-US" sz="600" dirty="0"/>
          </a:p>
        </p:txBody>
      </p:sp>
      <p:sp>
        <p:nvSpPr>
          <p:cNvPr id="27" name="Text 25"/>
          <p:cNvSpPr/>
          <p:nvPr/>
        </p:nvSpPr>
        <p:spPr>
          <a:xfrm>
            <a:off x="1768004" y="2203549"/>
            <a:ext cx="1472654" cy="107826"/>
          </a:xfrm>
          <a:prstGeom prst="rect">
            <a:avLst/>
          </a:prstGeom>
          <a:noFill/>
          <a:ln/>
        </p:spPr>
        <p:txBody>
          <a:bodyPr wrap="none" lIns="0" tIns="0" rIns="0" bIns="0" rtlCol="0" anchor="t"/>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$3.0M upfront; $5.5M annual</a:t>
            </a:r>
            <a:endParaRPr lang="en-US" sz="600" dirty="0"/>
          </a:p>
        </p:txBody>
      </p:sp>
      <p:sp>
        <p:nvSpPr>
          <p:cNvPr id="28" name="Text 26"/>
          <p:cNvSpPr/>
          <p:nvPr/>
        </p:nvSpPr>
        <p:spPr>
          <a:xfrm>
            <a:off x="2950890" y="2203549"/>
            <a:ext cx="1017836" cy="215652"/>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Full 36 months with quality gates and termination rights</a:t>
            </a:r>
            <a:endParaRPr lang="en-US" sz="600" dirty="0"/>
          </a:p>
        </p:txBody>
      </p:sp>
      <p:sp>
        <p:nvSpPr>
          <p:cNvPr id="29" name="Text 27"/>
          <p:cNvSpPr/>
          <p:nvPr/>
        </p:nvSpPr>
        <p:spPr>
          <a:xfrm>
            <a:off x="582737" y="2497485"/>
            <a:ext cx="1475036" cy="107826"/>
          </a:xfrm>
          <a:prstGeom prst="rect">
            <a:avLst/>
          </a:prstGeom>
          <a:noFill/>
          <a:ln/>
        </p:spPr>
        <p:txBody>
          <a:bodyPr wrap="none" lIns="0" tIns="0" rIns="0" bIns="0" rtlCol="0" anchor="t"/>
          <a:lstStyle/>
          <a:p>
            <a:pPr algn="l" indent="0" marL="0">
              <a:lnSpc>
                <a:spcPct val="110000"/>
              </a:lnSpc>
              <a:buNone/>
            </a:pPr>
            <a:r>
              <a:rPr lang="en-US" sz="600" b="1" dirty="0">
                <a:solidFill>
                  <a:srgbClr val="2B4150"/>
                </a:solidFill>
                <a:latin typeface="Source Sans 3 Bold" pitchFamily="34" charset="0"/>
                <a:ea typeface="Source Sans 3 Bold" pitchFamily="34" charset="-122"/>
                <a:cs typeface="Source Sans 3 Bold" pitchFamily="34" charset="-120"/>
              </a:rPr>
              <a:t>Walk-away point</a:t>
            </a:r>
            <a:endParaRPr lang="en-US" sz="600" dirty="0"/>
          </a:p>
        </p:txBody>
      </p:sp>
      <p:sp>
        <p:nvSpPr>
          <p:cNvPr id="30" name="Text 28"/>
          <p:cNvSpPr/>
          <p:nvPr/>
        </p:nvSpPr>
        <p:spPr>
          <a:xfrm>
            <a:off x="1768004" y="2497485"/>
            <a:ext cx="1015454" cy="215652"/>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&gt;$4.0M upfront; &gt;$6.0M annual</a:t>
            </a:r>
            <a:endParaRPr lang="en-US" sz="600" dirty="0"/>
          </a:p>
        </p:txBody>
      </p:sp>
      <p:sp>
        <p:nvSpPr>
          <p:cNvPr id="31" name="Text 29"/>
          <p:cNvSpPr/>
          <p:nvPr/>
        </p:nvSpPr>
        <p:spPr>
          <a:xfrm>
            <a:off x="2950890" y="2497485"/>
            <a:ext cx="1017836" cy="215652"/>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Full exclusivity without data audit or implementation plan</a:t>
            </a:r>
            <a:endParaRPr lang="en-US" sz="600" dirty="0"/>
          </a:p>
        </p:txBody>
      </p:sp>
      <p:sp>
        <p:nvSpPr>
          <p:cNvPr id="32" name="Text 30"/>
          <p:cNvSpPr/>
          <p:nvPr/>
        </p:nvSpPr>
        <p:spPr>
          <a:xfrm>
            <a:off x="496119" y="2814712"/>
            <a:ext cx="3559076" cy="127099"/>
          </a:xfrm>
          <a:prstGeom prst="rect">
            <a:avLst/>
          </a:prstGeom>
          <a:noFill/>
          <a:ln/>
        </p:spPr>
        <p:txBody>
          <a:bodyPr wrap="none" lIns="0" tIns="0" rIns="0" bIns="0" rtlCol="0" anchor="t"/>
          <a:lstStyle/>
          <a:p>
            <a:pPr algn="l" indent="0" marL="0">
              <a:lnSpc>
                <a:spcPct val="104000"/>
              </a:lnSpc>
              <a:buNone/>
            </a:pPr>
            <a:r>
              <a:rPr lang="en-US" sz="800" dirty="0">
                <a:solidFill>
                  <a:srgbClr val="124E73"/>
                </a:solidFill>
                <a:latin typeface="MuseoModerno Medium" pitchFamily="34" charset="0"/>
                <a:ea typeface="MuseoModerno Medium" pitchFamily="34" charset="-122"/>
                <a:cs typeface="MuseoModerno Medium" pitchFamily="34" charset="-120"/>
              </a:rPr>
              <a:t>Preferred Structure</a:t>
            </a:r>
            <a:endParaRPr lang="en-US" sz="800" dirty="0"/>
          </a:p>
        </p:txBody>
      </p:sp>
      <p:pic>
        <p:nvPicPr>
          <p:cNvPr id="3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6628" y="3004356"/>
            <a:ext cx="122039" cy="122039"/>
          </a:xfrm>
          <a:prstGeom prst="rect">
            <a:avLst/>
          </a:prstGeom>
        </p:spPr>
      </p:pic>
      <p:sp>
        <p:nvSpPr>
          <p:cNvPr id="34" name="Text 31"/>
          <p:cNvSpPr/>
          <p:nvPr/>
        </p:nvSpPr>
        <p:spPr>
          <a:xfrm>
            <a:off x="760586" y="3001863"/>
            <a:ext cx="3294608" cy="127099"/>
          </a:xfrm>
          <a:prstGeom prst="rect">
            <a:avLst/>
          </a:prstGeom>
          <a:noFill/>
          <a:ln/>
        </p:spPr>
        <p:txBody>
          <a:bodyPr wrap="none" lIns="0" tIns="0" rIns="0" bIns="0" rtlCol="0" anchor="t"/>
          <a:lstStyle/>
          <a:p>
            <a:pPr algn="l" indent="0" marL="0">
              <a:lnSpc>
                <a:spcPct val="104000"/>
              </a:lnSpc>
              <a:buNone/>
            </a:pPr>
            <a:r>
              <a:rPr lang="en-US" sz="800" dirty="0">
                <a:solidFill>
                  <a:srgbClr val="2B4150"/>
                </a:solidFill>
                <a:latin typeface="MuseoModerno Medium" pitchFamily="34" charset="0"/>
                <a:ea typeface="MuseoModerno Medium" pitchFamily="34" charset="-122"/>
                <a:cs typeface="MuseoModerno Medium" pitchFamily="34" charset="-120"/>
              </a:rPr>
              <a:t>9–12 Month Pilot</a:t>
            </a:r>
            <a:endParaRPr lang="en-US" sz="800" dirty="0"/>
          </a:p>
        </p:txBody>
      </p:sp>
      <p:sp>
        <p:nvSpPr>
          <p:cNvPr id="35" name="Text 32"/>
          <p:cNvSpPr/>
          <p:nvPr/>
        </p:nvSpPr>
        <p:spPr>
          <a:xfrm>
            <a:off x="760586" y="3182317"/>
            <a:ext cx="3294608" cy="215652"/>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Lower upfront; reduced annual fee; usage-based variable component tied to actual integration milestones.</a:t>
            </a:r>
            <a:endParaRPr lang="en-US" sz="600" dirty="0"/>
          </a:p>
        </p:txBody>
      </p:sp>
      <p:pic>
        <p:nvPicPr>
          <p:cNvPr id="3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6628" y="3507246"/>
            <a:ext cx="122039" cy="122039"/>
          </a:xfrm>
          <a:prstGeom prst="rect">
            <a:avLst/>
          </a:prstGeom>
        </p:spPr>
      </p:pic>
      <p:sp>
        <p:nvSpPr>
          <p:cNvPr id="37" name="Text 33"/>
          <p:cNvSpPr/>
          <p:nvPr/>
        </p:nvSpPr>
        <p:spPr>
          <a:xfrm>
            <a:off x="760586" y="3504754"/>
            <a:ext cx="3294608" cy="127099"/>
          </a:xfrm>
          <a:prstGeom prst="rect">
            <a:avLst/>
          </a:prstGeom>
          <a:noFill/>
          <a:ln/>
        </p:spPr>
        <p:txBody>
          <a:bodyPr wrap="none" lIns="0" tIns="0" rIns="0" bIns="0" rtlCol="0" anchor="t"/>
          <a:lstStyle/>
          <a:p>
            <a:pPr algn="l" indent="0" marL="0">
              <a:lnSpc>
                <a:spcPct val="104000"/>
              </a:lnSpc>
              <a:buNone/>
            </a:pPr>
            <a:r>
              <a:rPr lang="en-US" sz="800" dirty="0">
                <a:solidFill>
                  <a:srgbClr val="2B4150"/>
                </a:solidFill>
                <a:latin typeface="MuseoModerno Medium" pitchFamily="34" charset="0"/>
                <a:ea typeface="MuseoModerno Medium" pitchFamily="34" charset="-122"/>
                <a:cs typeface="MuseoModerno Medium" pitchFamily="34" charset="-120"/>
              </a:rPr>
              <a:t>Exclusivity Carve-Out</a:t>
            </a:r>
            <a:endParaRPr lang="en-US" sz="800" dirty="0"/>
          </a:p>
        </p:txBody>
      </p:sp>
      <p:sp>
        <p:nvSpPr>
          <p:cNvPr id="38" name="Text 34"/>
          <p:cNvSpPr/>
          <p:nvPr/>
        </p:nvSpPr>
        <p:spPr>
          <a:xfrm>
            <a:off x="760586" y="3685208"/>
            <a:ext cx="3294608" cy="215652"/>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Limited by segment, geography, and milestone; expires if distribution targets are not met within 18 months.</a:t>
            </a:r>
            <a:endParaRPr lang="en-US" sz="600" dirty="0"/>
          </a:p>
        </p:txBody>
      </p:sp>
      <p:pic>
        <p:nvPicPr>
          <p:cNvPr id="3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6628" y="4010137"/>
            <a:ext cx="122039" cy="122039"/>
          </a:xfrm>
          <a:prstGeom prst="rect">
            <a:avLst/>
          </a:prstGeom>
        </p:spPr>
      </p:pic>
      <p:sp>
        <p:nvSpPr>
          <p:cNvPr id="40" name="Text 35"/>
          <p:cNvSpPr/>
          <p:nvPr/>
        </p:nvSpPr>
        <p:spPr>
          <a:xfrm>
            <a:off x="760586" y="4007644"/>
            <a:ext cx="3294608" cy="127099"/>
          </a:xfrm>
          <a:prstGeom prst="rect">
            <a:avLst/>
          </a:prstGeom>
          <a:noFill/>
          <a:ln/>
        </p:spPr>
        <p:txBody>
          <a:bodyPr wrap="none" lIns="0" tIns="0" rIns="0" bIns="0" rtlCol="0" anchor="t"/>
          <a:lstStyle/>
          <a:p>
            <a:pPr algn="l" indent="0" marL="0">
              <a:lnSpc>
                <a:spcPct val="104000"/>
              </a:lnSpc>
              <a:buNone/>
            </a:pPr>
            <a:r>
              <a:rPr lang="en-US" sz="800" dirty="0">
                <a:solidFill>
                  <a:srgbClr val="2B4150"/>
                </a:solidFill>
                <a:latin typeface="MuseoModerno Medium" pitchFamily="34" charset="0"/>
                <a:ea typeface="MuseoModerno Medium" pitchFamily="34" charset="-122"/>
                <a:cs typeface="MuseoModerno Medium" pitchFamily="34" charset="-120"/>
              </a:rPr>
              <a:t>Termination Rights</a:t>
            </a:r>
            <a:endParaRPr lang="en-US" sz="800" dirty="0"/>
          </a:p>
        </p:txBody>
      </p:sp>
      <p:sp>
        <p:nvSpPr>
          <p:cNvPr id="41" name="Text 36"/>
          <p:cNvSpPr/>
          <p:nvPr/>
        </p:nvSpPr>
        <p:spPr>
          <a:xfrm>
            <a:off x="760586" y="4188098"/>
            <a:ext cx="3294608" cy="107826"/>
          </a:xfrm>
          <a:prstGeom prst="rect">
            <a:avLst/>
          </a:prstGeom>
          <a:noFill/>
          <a:ln/>
        </p:spPr>
        <p:txBody>
          <a:bodyPr wrap="none" lIns="0" tIns="0" rIns="0" bIns="0" rtlCol="0" anchor="t"/>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Tied to data quality SLAs, implementation progress, and usage metrics — not time alone.</a:t>
            </a:r>
            <a:endParaRPr lang="en-US" sz="600" dirty="0"/>
          </a:p>
        </p:txBody>
      </p:sp>
      <p:pic>
        <p:nvPicPr>
          <p:cNvPr id="4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6628" y="4405201"/>
            <a:ext cx="122039" cy="122039"/>
          </a:xfrm>
          <a:prstGeom prst="rect">
            <a:avLst/>
          </a:prstGeom>
        </p:spPr>
      </p:pic>
      <p:sp>
        <p:nvSpPr>
          <p:cNvPr id="43" name="Text 37"/>
          <p:cNvSpPr/>
          <p:nvPr/>
        </p:nvSpPr>
        <p:spPr>
          <a:xfrm>
            <a:off x="760586" y="4402708"/>
            <a:ext cx="3294608" cy="127099"/>
          </a:xfrm>
          <a:prstGeom prst="rect">
            <a:avLst/>
          </a:prstGeom>
          <a:noFill/>
          <a:ln/>
        </p:spPr>
        <p:txBody>
          <a:bodyPr wrap="none" lIns="0" tIns="0" rIns="0" bIns="0" rtlCol="0" anchor="t"/>
          <a:lstStyle/>
          <a:p>
            <a:pPr algn="l" indent="0" marL="0">
              <a:lnSpc>
                <a:spcPct val="104000"/>
              </a:lnSpc>
              <a:buNone/>
            </a:pPr>
            <a:r>
              <a:rPr lang="en-US" sz="800" dirty="0">
                <a:solidFill>
                  <a:srgbClr val="2B4150"/>
                </a:solidFill>
                <a:latin typeface="MuseoModerno Medium" pitchFamily="34" charset="0"/>
                <a:ea typeface="MuseoModerno Medium" pitchFamily="34" charset="-122"/>
                <a:cs typeface="MuseoModerno Medium" pitchFamily="34" charset="-120"/>
              </a:rPr>
              <a:t>Renewal Trigger</a:t>
            </a:r>
            <a:endParaRPr lang="en-US" sz="800" dirty="0"/>
          </a:p>
        </p:txBody>
      </p:sp>
      <p:sp>
        <p:nvSpPr>
          <p:cNvPr id="44" name="Text 38"/>
          <p:cNvSpPr/>
          <p:nvPr/>
        </p:nvSpPr>
        <p:spPr>
          <a:xfrm>
            <a:off x="760586" y="4583162"/>
            <a:ext cx="3294608" cy="107826"/>
          </a:xfrm>
          <a:prstGeom prst="rect">
            <a:avLst/>
          </a:prstGeom>
          <a:noFill/>
          <a:ln/>
        </p:spPr>
        <p:txBody>
          <a:bodyPr wrap="none" lIns="0" tIns="0" rIns="0" bIns="0" rtlCol="0" anchor="t"/>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Full 36-month renewal triggered by mutually agreed usage and product adoption thresholds.</a:t>
            </a:r>
            <a:endParaRPr lang="en-US" sz="600" dirty="0"/>
          </a:p>
        </p:txBody>
      </p:sp>
      <p:sp>
        <p:nvSpPr>
          <p:cNvPr id="45" name="Text 39"/>
          <p:cNvSpPr/>
          <p:nvPr/>
        </p:nvSpPr>
        <p:spPr>
          <a:xfrm>
            <a:off x="4258494" y="1200894"/>
            <a:ext cx="4394076" cy="127099"/>
          </a:xfrm>
          <a:prstGeom prst="rect">
            <a:avLst/>
          </a:prstGeom>
          <a:noFill/>
          <a:ln/>
        </p:spPr>
        <p:txBody>
          <a:bodyPr wrap="none" lIns="0" tIns="0" rIns="0" bIns="0" rtlCol="0" anchor="t"/>
          <a:lstStyle/>
          <a:p>
            <a:pPr algn="l" indent="0" marL="0">
              <a:lnSpc>
                <a:spcPct val="104000"/>
              </a:lnSpc>
              <a:buNone/>
            </a:pPr>
            <a:r>
              <a:rPr lang="en-US" sz="800" dirty="0">
                <a:solidFill>
                  <a:srgbClr val="124E73"/>
                </a:solidFill>
                <a:latin typeface="MuseoModerno Medium" pitchFamily="34" charset="0"/>
                <a:ea typeface="MuseoModerno Medium" pitchFamily="34" charset="-122"/>
                <a:cs typeface="MuseoModerno Medium" pitchFamily="34" charset="-120"/>
              </a:rPr>
              <a:t>Give / Get Matrix — Three Illustrative Trades</a:t>
            </a:r>
            <a:endParaRPr lang="en-US" sz="800" dirty="0"/>
          </a:p>
        </p:txBody>
      </p:sp>
      <p:sp>
        <p:nvSpPr>
          <p:cNvPr id="46" name="Shape 40"/>
          <p:cNvSpPr/>
          <p:nvPr/>
        </p:nvSpPr>
        <p:spPr>
          <a:xfrm>
            <a:off x="4258494" y="1388046"/>
            <a:ext cx="4394076" cy="1489695"/>
          </a:xfrm>
          <a:prstGeom prst="roundRect">
            <a:avLst>
              <a:gd name="adj" fmla="val 820"/>
            </a:avLst>
          </a:prstGeom>
          <a:noFill/>
          <a:ln w="4763">
            <a:solidFill>
              <a:srgbClr val="000000">
                <a:alpha val="8000"/>
              </a:srgbClr>
            </a:solidFill>
            <a:prstDash val="solid"/>
          </a:ln>
        </p:spPr>
      </p:sp>
      <p:sp>
        <p:nvSpPr>
          <p:cNvPr id="47" name="Shape 41"/>
          <p:cNvSpPr/>
          <p:nvPr/>
        </p:nvSpPr>
        <p:spPr>
          <a:xfrm>
            <a:off x="4263256" y="1392808"/>
            <a:ext cx="4384104" cy="181347"/>
          </a:xfrm>
          <a:prstGeom prst="rect">
            <a:avLst/>
          </a:prstGeom>
          <a:solidFill>
            <a:srgbClr val="FFFFFF">
              <a:alpha val="4000"/>
            </a:srgbClr>
          </a:solidFill>
          <a:ln/>
        </p:spPr>
      </p:sp>
      <p:sp>
        <p:nvSpPr>
          <p:cNvPr id="48" name="Shape 42"/>
          <p:cNvSpPr/>
          <p:nvPr/>
        </p:nvSpPr>
        <p:spPr>
          <a:xfrm>
            <a:off x="4263777" y="1392808"/>
            <a:ext cx="1461195" cy="181347"/>
          </a:xfrm>
          <a:custGeom>
            <a:avLst/>
            <a:gdLst/>
            <a:ahLst/>
            <a:cxnLst/>
            <a:rect l="l" t="t" r="r" b="b"/>
            <a:pathLst>
              <a:path w="1461195" h="181347">
                <a:moveTo>
                  <a:pt x="10176" y="0"/>
                </a:moveTo>
                <a:lnTo>
                  <a:pt x="1461195" y="0"/>
                </a:lnTo>
                <a:lnTo>
                  <a:pt x="1461195" y="181347"/>
                </a:lnTo>
                <a:lnTo>
                  <a:pt x="0" y="181347"/>
                </a:lnTo>
                <a:lnTo>
                  <a:pt x="0" y="10176"/>
                </a:lnTo>
                <a:arcTo hR="10176" wR="10176" stAng="10800000" swAng="5400000"/>
                <a:close/>
              </a:path>
            </a:pathLst>
          </a:custGeom>
          <a:solidFill>
            <a:srgbClr val="325F7B"/>
          </a:solidFill>
          <a:ln/>
        </p:spPr>
      </p:sp>
      <p:sp>
        <p:nvSpPr>
          <p:cNvPr id="49" name="Text 43"/>
          <p:cNvSpPr/>
          <p:nvPr/>
        </p:nvSpPr>
        <p:spPr>
          <a:xfrm>
            <a:off x="4345112" y="1429569"/>
            <a:ext cx="1753344" cy="107826"/>
          </a:xfrm>
          <a:prstGeom prst="rect">
            <a:avLst/>
          </a:prstGeom>
          <a:noFill/>
          <a:ln/>
        </p:spPr>
        <p:txBody>
          <a:bodyPr wrap="none" lIns="0" tIns="0" rIns="0" bIns="0" rtlCol="0" anchor="t"/>
          <a:lstStyle/>
          <a:p>
            <a:pPr algn="l" indent="0" marL="0">
              <a:lnSpc>
                <a:spcPct val="110000"/>
              </a:lnSpc>
              <a:buNone/>
            </a:pPr>
            <a:r>
              <a:rPr lang="en-US" sz="600" b="1" dirty="0">
                <a:solidFill>
                  <a:srgbClr val="FFFFFF"/>
                </a:solidFill>
                <a:latin typeface="Source Sans 3 Bold" pitchFamily="34" charset="0"/>
                <a:ea typeface="Source Sans 3 Bold" pitchFamily="34" charset="-122"/>
                <a:cs typeface="Source Sans 3 Bold" pitchFamily="34" charset="-120"/>
              </a:rPr>
              <a:t>We Give</a:t>
            </a:r>
            <a:endParaRPr lang="en-US" sz="600" dirty="0"/>
          </a:p>
        </p:txBody>
      </p:sp>
      <p:sp>
        <p:nvSpPr>
          <p:cNvPr id="50" name="Shape 44"/>
          <p:cNvSpPr/>
          <p:nvPr/>
        </p:nvSpPr>
        <p:spPr>
          <a:xfrm>
            <a:off x="5724971" y="1392808"/>
            <a:ext cx="1461195" cy="181347"/>
          </a:xfrm>
          <a:prstGeom prst="rect">
            <a:avLst/>
          </a:prstGeom>
          <a:solidFill>
            <a:srgbClr val="325F7B"/>
          </a:solidFill>
          <a:ln/>
        </p:spPr>
      </p:sp>
      <p:sp>
        <p:nvSpPr>
          <p:cNvPr id="51" name="Text 45"/>
          <p:cNvSpPr/>
          <p:nvPr/>
        </p:nvSpPr>
        <p:spPr>
          <a:xfrm>
            <a:off x="5808687" y="1429569"/>
            <a:ext cx="1750963" cy="107826"/>
          </a:xfrm>
          <a:prstGeom prst="rect">
            <a:avLst/>
          </a:prstGeom>
          <a:noFill/>
          <a:ln/>
        </p:spPr>
        <p:txBody>
          <a:bodyPr wrap="none" lIns="0" tIns="0" rIns="0" bIns="0" rtlCol="0" anchor="t"/>
          <a:lstStyle/>
          <a:p>
            <a:pPr algn="l" indent="0" marL="0">
              <a:lnSpc>
                <a:spcPct val="110000"/>
              </a:lnSpc>
              <a:buNone/>
            </a:pPr>
            <a:r>
              <a:rPr lang="en-US" sz="600" b="1" dirty="0">
                <a:solidFill>
                  <a:srgbClr val="FFFFFF"/>
                </a:solidFill>
                <a:latin typeface="Source Sans 3 Bold" pitchFamily="34" charset="0"/>
                <a:ea typeface="Source Sans 3 Bold" pitchFamily="34" charset="-122"/>
                <a:cs typeface="Source Sans 3 Bold" pitchFamily="34" charset="-120"/>
              </a:rPr>
              <a:t>We Get</a:t>
            </a:r>
            <a:endParaRPr lang="en-US" sz="600" dirty="0"/>
          </a:p>
        </p:txBody>
      </p:sp>
      <p:sp>
        <p:nvSpPr>
          <p:cNvPr id="52" name="Shape 46"/>
          <p:cNvSpPr/>
          <p:nvPr/>
        </p:nvSpPr>
        <p:spPr>
          <a:xfrm>
            <a:off x="7186166" y="1392808"/>
            <a:ext cx="1461195" cy="181347"/>
          </a:xfrm>
          <a:custGeom>
            <a:avLst/>
            <a:gdLst/>
            <a:ahLst/>
            <a:cxnLst/>
            <a:rect l="l" t="t" r="r" b="b"/>
            <a:pathLst>
              <a:path w="1461195" h="181347">
                <a:moveTo>
                  <a:pt x="0" y="0"/>
                </a:moveTo>
                <a:lnTo>
                  <a:pt x="1451019" y="0"/>
                </a:lnTo>
                <a:arcTo hR="10176" wR="10176" stAng="16200000" swAng="5400000"/>
                <a:lnTo>
                  <a:pt x="1461195" y="181347"/>
                </a:lnTo>
                <a:lnTo>
                  <a:pt x="0" y="181347"/>
                </a:lnTo>
                <a:lnTo>
                  <a:pt x="0" y="0"/>
                </a:lnTo>
                <a:close/>
              </a:path>
            </a:pathLst>
          </a:custGeom>
          <a:solidFill>
            <a:srgbClr val="325F7B"/>
          </a:solidFill>
          <a:ln/>
        </p:spPr>
      </p:sp>
      <p:sp>
        <p:nvSpPr>
          <p:cNvPr id="53" name="Text 47"/>
          <p:cNvSpPr/>
          <p:nvPr/>
        </p:nvSpPr>
        <p:spPr>
          <a:xfrm>
            <a:off x="7269882" y="1429569"/>
            <a:ext cx="1753344" cy="107826"/>
          </a:xfrm>
          <a:prstGeom prst="rect">
            <a:avLst/>
          </a:prstGeom>
          <a:noFill/>
          <a:ln/>
        </p:spPr>
        <p:txBody>
          <a:bodyPr wrap="none" lIns="0" tIns="0" rIns="0" bIns="0" rtlCol="0" anchor="t"/>
          <a:lstStyle/>
          <a:p>
            <a:pPr algn="l" indent="0" marL="0">
              <a:lnSpc>
                <a:spcPct val="110000"/>
              </a:lnSpc>
              <a:buNone/>
            </a:pPr>
            <a:r>
              <a:rPr lang="en-US" sz="600" b="1" dirty="0">
                <a:solidFill>
                  <a:srgbClr val="FFFFFF"/>
                </a:solidFill>
                <a:latin typeface="Source Sans 3 Bold" pitchFamily="34" charset="0"/>
                <a:ea typeface="Source Sans 3 Bold" pitchFamily="34" charset="-122"/>
                <a:cs typeface="Source Sans 3 Bold" pitchFamily="34" charset="-120"/>
              </a:rPr>
              <a:t>Rationale</a:t>
            </a:r>
            <a:endParaRPr lang="en-US" sz="600" dirty="0"/>
          </a:p>
        </p:txBody>
      </p:sp>
      <p:sp>
        <p:nvSpPr>
          <p:cNvPr id="54" name="Shape 48"/>
          <p:cNvSpPr/>
          <p:nvPr/>
        </p:nvSpPr>
        <p:spPr>
          <a:xfrm>
            <a:off x="4263256" y="1574155"/>
            <a:ext cx="4384104" cy="396999"/>
          </a:xfrm>
          <a:prstGeom prst="rect">
            <a:avLst/>
          </a:prstGeom>
          <a:solidFill>
            <a:srgbClr val="000000">
              <a:alpha val="4000"/>
            </a:srgbClr>
          </a:solidFill>
          <a:ln/>
        </p:spPr>
      </p:sp>
      <p:sp>
        <p:nvSpPr>
          <p:cNvPr id="55" name="Text 49"/>
          <p:cNvSpPr/>
          <p:nvPr/>
        </p:nvSpPr>
        <p:spPr>
          <a:xfrm>
            <a:off x="4345112" y="1610916"/>
            <a:ext cx="1296144" cy="215652"/>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Co-marketing and joint enterprise case study rights</a:t>
            </a:r>
            <a:endParaRPr lang="en-US" sz="600" dirty="0"/>
          </a:p>
        </p:txBody>
      </p:sp>
      <p:sp>
        <p:nvSpPr>
          <p:cNvPr id="56" name="Text 50"/>
          <p:cNvSpPr/>
          <p:nvPr/>
        </p:nvSpPr>
        <p:spPr>
          <a:xfrm>
            <a:off x="5808687" y="1610916"/>
            <a:ext cx="1293763" cy="215652"/>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Reduction of $1.0M in upfront payment; data audit rights</a:t>
            </a:r>
            <a:endParaRPr lang="en-US" sz="600" dirty="0"/>
          </a:p>
        </p:txBody>
      </p:sp>
      <p:sp>
        <p:nvSpPr>
          <p:cNvPr id="57" name="Text 51"/>
          <p:cNvSpPr/>
          <p:nvPr/>
        </p:nvSpPr>
        <p:spPr>
          <a:xfrm>
            <a:off x="7269882" y="1610916"/>
            <a:ext cx="1296144" cy="323478"/>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Atlas values reference credibility; we reduce committed cash and gain diligence leverage</a:t>
            </a:r>
            <a:endParaRPr lang="en-US" sz="600" dirty="0"/>
          </a:p>
        </p:txBody>
      </p:sp>
      <p:sp>
        <p:nvSpPr>
          <p:cNvPr id="58" name="Shape 52"/>
          <p:cNvSpPr/>
          <p:nvPr/>
        </p:nvSpPr>
        <p:spPr>
          <a:xfrm>
            <a:off x="4263256" y="1971154"/>
            <a:ext cx="4384104" cy="396999"/>
          </a:xfrm>
          <a:prstGeom prst="rect">
            <a:avLst/>
          </a:prstGeom>
          <a:solidFill>
            <a:srgbClr val="FFFFFF">
              <a:alpha val="4000"/>
            </a:srgbClr>
          </a:solidFill>
          <a:ln/>
        </p:spPr>
      </p:sp>
      <p:sp>
        <p:nvSpPr>
          <p:cNvPr id="59" name="Text 53"/>
          <p:cNvSpPr/>
          <p:nvPr/>
        </p:nvSpPr>
        <p:spPr>
          <a:xfrm>
            <a:off x="4345112" y="2007915"/>
            <a:ext cx="1296144" cy="215652"/>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Preferred renewal rights and first-look on future Atlas data products</a:t>
            </a:r>
            <a:endParaRPr lang="en-US" sz="600" dirty="0"/>
          </a:p>
        </p:txBody>
      </p:sp>
      <p:sp>
        <p:nvSpPr>
          <p:cNvPr id="60" name="Text 54"/>
          <p:cNvSpPr/>
          <p:nvPr/>
        </p:nvSpPr>
        <p:spPr>
          <a:xfrm>
            <a:off x="5808687" y="2007915"/>
            <a:ext cx="1293763" cy="323478"/>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Exclusivity limited to two named verticals; milestone-based rather than time-based</a:t>
            </a:r>
            <a:endParaRPr lang="en-US" sz="600" dirty="0"/>
          </a:p>
        </p:txBody>
      </p:sp>
      <p:sp>
        <p:nvSpPr>
          <p:cNvPr id="61" name="Text 55"/>
          <p:cNvSpPr/>
          <p:nvPr/>
        </p:nvSpPr>
        <p:spPr>
          <a:xfrm>
            <a:off x="7269882" y="2007915"/>
            <a:ext cx="1296144" cy="323478"/>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We offer option value in exchange for reducing the exclusivity constraint that forecloses alternative deals</a:t>
            </a:r>
            <a:endParaRPr lang="en-US" sz="600" dirty="0"/>
          </a:p>
        </p:txBody>
      </p:sp>
      <p:sp>
        <p:nvSpPr>
          <p:cNvPr id="62" name="Shape 56"/>
          <p:cNvSpPr/>
          <p:nvPr/>
        </p:nvSpPr>
        <p:spPr>
          <a:xfrm>
            <a:off x="4263256" y="2368153"/>
            <a:ext cx="4384104" cy="504825"/>
          </a:xfrm>
          <a:prstGeom prst="rect">
            <a:avLst/>
          </a:prstGeom>
          <a:solidFill>
            <a:srgbClr val="000000">
              <a:alpha val="4000"/>
            </a:srgbClr>
          </a:solidFill>
          <a:ln/>
        </p:spPr>
      </p:sp>
      <p:sp>
        <p:nvSpPr>
          <p:cNvPr id="63" name="Text 57"/>
          <p:cNvSpPr/>
          <p:nvPr/>
        </p:nvSpPr>
        <p:spPr>
          <a:xfrm>
            <a:off x="4345112" y="2404914"/>
            <a:ext cx="1296144" cy="215652"/>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Joint product roadmap input and early access to our API enhancements</a:t>
            </a:r>
            <a:endParaRPr lang="en-US" sz="600" dirty="0"/>
          </a:p>
        </p:txBody>
      </p:sp>
      <p:sp>
        <p:nvSpPr>
          <p:cNvPr id="64" name="Text 58"/>
          <p:cNvSpPr/>
          <p:nvPr/>
        </p:nvSpPr>
        <p:spPr>
          <a:xfrm>
            <a:off x="5808687" y="2404914"/>
            <a:ext cx="1293763" cy="323478"/>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Integration support resources from Atlas engineering team; reduced implementation cost burden</a:t>
            </a:r>
            <a:endParaRPr lang="en-US" sz="600" dirty="0"/>
          </a:p>
        </p:txBody>
      </p:sp>
      <p:sp>
        <p:nvSpPr>
          <p:cNvPr id="65" name="Text 59"/>
          <p:cNvSpPr/>
          <p:nvPr/>
        </p:nvSpPr>
        <p:spPr>
          <a:xfrm>
            <a:off x="7269882" y="2404914"/>
            <a:ext cx="1296144" cy="431304"/>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Offsets internal engineering cost; Atlas gains product influence in exchange for meaningful resource contribution</a:t>
            </a:r>
            <a:endParaRPr lang="en-US" sz="600" dirty="0"/>
          </a:p>
        </p:txBody>
      </p:sp>
      <p:sp>
        <p:nvSpPr>
          <p:cNvPr id="66" name="Shape 60"/>
          <p:cNvSpPr/>
          <p:nvPr/>
        </p:nvSpPr>
        <p:spPr>
          <a:xfrm>
            <a:off x="4258494" y="2937793"/>
            <a:ext cx="4394076" cy="352425"/>
          </a:xfrm>
          <a:prstGeom prst="roundRect">
            <a:avLst>
              <a:gd name="adj" fmla="val 3465"/>
            </a:avLst>
          </a:prstGeom>
          <a:solidFill>
            <a:srgbClr val="DBE8F0"/>
          </a:solidFill>
          <a:ln/>
        </p:spPr>
      </p:sp>
      <p:pic>
        <p:nvPicPr>
          <p:cNvPr id="67" name="Image 4" descr="preencoded.png">    </p:cNvPr>
          <p:cNvPicPr>
            <a:picLocks noChangeAspect="1"/>
          </p:cNvPicPr>
          <p:nvPr/>
        </p:nvPicPr>
        <p:blipFill>
          <a:blip r:embed="rId9"/>
          <a:stretch>
            <a:fillRect/>
          </a:stretch>
        </p:blipFill>
        <p:spPr>
          <a:xfrm>
            <a:off x="4339828" y="3044428"/>
            <a:ext cx="101724" cy="81335"/>
          </a:xfrm>
          <a:prstGeom prst="rect">
            <a:avLst/>
          </a:prstGeom>
        </p:spPr>
      </p:pic>
      <p:sp>
        <p:nvSpPr>
          <p:cNvPr id="68" name="Text 61"/>
          <p:cNvSpPr/>
          <p:nvPr/>
        </p:nvSpPr>
        <p:spPr>
          <a:xfrm>
            <a:off x="4522887" y="3006179"/>
            <a:ext cx="4048348" cy="215652"/>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000000"/>
                </a:solidFill>
                <a:latin typeface="Source Sans 3" pitchFamily="34" charset="0"/>
                <a:ea typeface="Source Sans 3" pitchFamily="34" charset="-122"/>
                <a:cs typeface="Source Sans 3" pitchFamily="34" charset="-120"/>
              </a:rPr>
              <a:t>The give/get matrix should be prepared before the first substantive negotiation session and reviewed by Legal and Finance. All trades above are illustrative. </a:t>
            </a:r>
            <a:pPr algn="l" indent="0" marL="0">
              <a:lnSpc>
                <a:spcPct val="110000"/>
              </a:lnSpc>
              <a:buNone/>
            </a:pPr>
            <a:r>
              <a:rPr lang="en-US" sz="600" b="1" dirty="0">
                <a:solidFill>
                  <a:srgbClr val="000000"/>
                </a:solidFill>
                <a:latin typeface="Source Sans 3 Bold" pitchFamily="34" charset="0"/>
                <a:ea typeface="Source Sans 3 Bold" pitchFamily="34" charset="-122"/>
                <a:cs typeface="Source Sans 3 Bold" pitchFamily="34" charset="-120"/>
              </a:rPr>
              <a:t>Synthetic case.</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96119" y="341114"/>
            <a:ext cx="488603" cy="94283"/>
          </a:xfrm>
          <a:prstGeom prst="roundRect">
            <a:avLst>
              <a:gd name="adj" fmla="val 7894"/>
            </a:avLst>
          </a:prstGeom>
          <a:noFill/>
          <a:ln w="4763">
            <a:solidFill>
              <a:srgbClr val="325F7B"/>
            </a:solidFill>
            <a:prstDash val="solid"/>
          </a:ln>
        </p:spPr>
      </p:sp>
      <p:sp>
        <p:nvSpPr>
          <p:cNvPr id="3" name="Text 1"/>
          <p:cNvSpPr/>
          <p:nvPr/>
        </p:nvSpPr>
        <p:spPr>
          <a:xfrm>
            <a:off x="533326" y="359718"/>
            <a:ext cx="871389" cy="57076"/>
          </a:xfrm>
          <a:prstGeom prst="rect">
            <a:avLst/>
          </a:prstGeom>
          <a:noFill/>
          <a:ln/>
        </p:spPr>
        <p:txBody>
          <a:bodyPr wrap="none" lIns="0" tIns="0" rIns="0" bIns="0" rtlCol="0" anchor="t"/>
          <a:lstStyle/>
          <a:p>
            <a:pPr algn="l" indent="0" marL="0">
              <a:lnSpc>
                <a:spcPct val="96000"/>
              </a:lnSpc>
              <a:buNone/>
            </a:pPr>
            <a:r>
              <a:rPr lang="en-US" sz="350" dirty="0">
                <a:solidFill>
                  <a:srgbClr val="325F7B"/>
                </a:solidFill>
                <a:latin typeface="Source Sans 3" pitchFamily="34" charset="0"/>
                <a:ea typeface="Source Sans 3" pitchFamily="34" charset="-122"/>
                <a:cs typeface="Source Sans 3" pitchFamily="34" charset="-120"/>
              </a:rPr>
              <a:t>OPERATING SYSTEM</a:t>
            </a:r>
            <a:endParaRPr lang="en-US" sz="350" dirty="0"/>
          </a:p>
        </p:txBody>
      </p:sp>
      <p:sp>
        <p:nvSpPr>
          <p:cNvPr id="4" name="Text 2"/>
          <p:cNvSpPr/>
          <p:nvPr/>
        </p:nvSpPr>
        <p:spPr>
          <a:xfrm>
            <a:off x="496119" y="447749"/>
            <a:ext cx="8151763" cy="193849"/>
          </a:xfrm>
          <a:prstGeom prst="rect">
            <a:avLst/>
          </a:prstGeom>
          <a:noFill/>
          <a:ln/>
        </p:spPr>
        <p:txBody>
          <a:bodyPr wrap="none" lIns="0" tIns="0" rIns="0" bIns="0" rtlCol="0" anchor="t"/>
          <a:lstStyle/>
          <a:p>
            <a:pPr algn="l" indent="0" marL="0">
              <a:lnSpc>
                <a:spcPct val="104000"/>
              </a:lnSpc>
              <a:buNone/>
            </a:pPr>
            <a:r>
              <a:rPr lang="en-US" sz="1200" dirty="0">
                <a:solidFill>
                  <a:srgbClr val="124E73"/>
                </a:solidFill>
                <a:latin typeface="MuseoModerno Medium" pitchFamily="34" charset="0"/>
                <a:ea typeface="MuseoModerno Medium" pitchFamily="34" charset="-122"/>
                <a:cs typeface="MuseoModerno Medium" pitchFamily="34" charset="-120"/>
              </a:rPr>
              <a:t>Turn One-Off Deal Analysis Into a Reusable Partnership System</a:t>
            </a:r>
            <a:endParaRPr lang="en-US" sz="1200" dirty="0"/>
          </a:p>
        </p:txBody>
      </p:sp>
      <p:sp>
        <p:nvSpPr>
          <p:cNvPr id="5" name="Text 3"/>
          <p:cNvSpPr/>
          <p:nvPr/>
        </p:nvSpPr>
        <p:spPr>
          <a:xfrm>
            <a:off x="496119" y="688107"/>
            <a:ext cx="8151763" cy="148679"/>
          </a:xfrm>
          <a:prstGeom prst="rect">
            <a:avLst/>
          </a:prstGeom>
          <a:noFill/>
          <a:ln/>
        </p:spPr>
        <p:txBody>
          <a:bodyPr wrap="square" lIns="0" tIns="0" rIns="0" bIns="0" rtlCol="0" anchor="t">
            <a:normAutofit/>
          </a:bodyPr>
          <a:lstStyle/>
          <a:p>
            <a:pPr algn="l" indent="0" marL="0">
              <a:lnSpc>
                <a:spcPct val="100000"/>
              </a:lnSpc>
              <a:buNone/>
            </a:pPr>
            <a:r>
              <a:rPr lang="en-US" sz="450" dirty="0">
                <a:solidFill>
                  <a:srgbClr val="2B4150"/>
                </a:solidFill>
                <a:latin typeface="Source Sans 3" pitchFamily="34" charset="0"/>
                <a:ea typeface="Source Sans 3" pitchFamily="34" charset="-122"/>
                <a:cs typeface="Source Sans 3" pitchFamily="34" charset="-120"/>
              </a:rPr>
              <a:t>The highest leverage opportunity is not executing one deal well — it is building an operating system that makes every subsequent deal faster, more consistent, and more defensible. The lifecycle below represents a repeatable workflow from inbound proposal to benchmark library update. Each stage has a defined owner, a defined output, and a clear designation of where Claude assists versus where human judgment is the required gate.</a:t>
            </a:r>
            <a:endParaRPr lang="en-US" sz="450" dirty="0"/>
          </a:p>
        </p:txBody>
      </p:sp>
      <p:pic>
        <p:nvPicPr>
          <p:cNvPr id="6" name="Image 0" descr="preencoded.png">    </p:cNvPr>
          <p:cNvPicPr>
            <a:picLocks noChangeAspect="1"/>
          </p:cNvPicPr>
          <p:nvPr/>
        </p:nvPicPr>
        <p:blipFill>
          <a:blip r:embed="rId1"/>
          <a:stretch>
            <a:fillRect/>
          </a:stretch>
        </p:blipFill>
        <p:spPr>
          <a:xfrm>
            <a:off x="529679" y="871612"/>
            <a:ext cx="8084567" cy="3486224"/>
          </a:xfrm>
          <a:prstGeom prst="rect">
            <a:avLst/>
          </a:prstGeom>
        </p:spPr>
      </p:pic>
      <p:sp>
        <p:nvSpPr>
          <p:cNvPr id="7" name="Text 4"/>
          <p:cNvSpPr/>
          <p:nvPr/>
        </p:nvSpPr>
        <p:spPr>
          <a:xfrm>
            <a:off x="1073714" y="3696718"/>
            <a:ext cx="1897658" cy="229263"/>
          </a:xfrm>
          <a:prstGeom prst="rect">
            <a:avLst/>
          </a:prstGeom>
          <a:noFill/>
          <a:ln/>
        </p:spPr>
        <p:txBody>
          <a:bodyPr wrap="none" lIns="0" tIns="0" rIns="0" bIns="0" rtlCol="0" anchor="t"/>
          <a:lstStyle/>
          <a:p>
            <a:pPr algn="l" indent="0" marL="0">
              <a:lnSpc>
                <a:spcPct val="104000"/>
              </a:lnSpc>
              <a:buNone/>
            </a:pPr>
            <a:r>
              <a:rPr lang="en-US" sz="1400" dirty="0">
                <a:solidFill>
                  <a:srgbClr val="FFFFFF"/>
                </a:solidFill>
                <a:latin typeface="MuseoModerno Medium" pitchFamily="34" charset="0"/>
                <a:ea typeface="MuseoModerno Medium" pitchFamily="34" charset="-122"/>
                <a:cs typeface="MuseoModerno Medium" pitchFamily="34" charset="-120"/>
              </a:rPr>
              <a:t>Comparable Retrieval</a:t>
            </a:r>
            <a:endParaRPr lang="en-US" sz="1400" dirty="0"/>
          </a:p>
        </p:txBody>
      </p:sp>
      <p:sp>
        <p:nvSpPr>
          <p:cNvPr id="8" name="Text 5"/>
          <p:cNvSpPr/>
          <p:nvPr/>
        </p:nvSpPr>
        <p:spPr>
          <a:xfrm>
            <a:off x="1073714" y="2889713"/>
            <a:ext cx="1834102" cy="229263"/>
          </a:xfrm>
          <a:prstGeom prst="rect">
            <a:avLst/>
          </a:prstGeom>
          <a:noFill/>
          <a:ln/>
        </p:spPr>
        <p:txBody>
          <a:bodyPr wrap="none" lIns="0" tIns="0" rIns="0" bIns="0" rtlCol="0" anchor="t"/>
          <a:lstStyle/>
          <a:p>
            <a:pPr algn="l" indent="0" marL="0">
              <a:lnSpc>
                <a:spcPct val="104000"/>
              </a:lnSpc>
              <a:buNone/>
            </a:pPr>
            <a:r>
              <a:rPr lang="en-US" sz="1400" dirty="0">
                <a:solidFill>
                  <a:srgbClr val="FFFFFF"/>
                </a:solidFill>
                <a:latin typeface="MuseoModerno Medium" pitchFamily="34" charset="0"/>
                <a:ea typeface="MuseoModerno Medium" pitchFamily="34" charset="-122"/>
                <a:cs typeface="MuseoModerno Medium" pitchFamily="34" charset="-120"/>
              </a:rPr>
              <a:t>Diligence Questions</a:t>
            </a:r>
            <a:endParaRPr lang="en-US" sz="1400" dirty="0"/>
          </a:p>
        </p:txBody>
      </p:sp>
      <p:sp>
        <p:nvSpPr>
          <p:cNvPr id="9" name="Text 6"/>
          <p:cNvSpPr/>
          <p:nvPr/>
        </p:nvSpPr>
        <p:spPr>
          <a:xfrm>
            <a:off x="1073714" y="2090860"/>
            <a:ext cx="2338861" cy="229263"/>
          </a:xfrm>
          <a:prstGeom prst="rect">
            <a:avLst/>
          </a:prstGeom>
          <a:noFill/>
          <a:ln/>
        </p:spPr>
        <p:txBody>
          <a:bodyPr wrap="none" lIns="0" tIns="0" rIns="0" bIns="0" rtlCol="0" anchor="t"/>
          <a:lstStyle/>
          <a:p>
            <a:pPr algn="l" indent="0" marL="0">
              <a:lnSpc>
                <a:spcPct val="104000"/>
              </a:lnSpc>
              <a:buNone/>
            </a:pPr>
            <a:r>
              <a:rPr lang="en-US" sz="1400" dirty="0">
                <a:solidFill>
                  <a:srgbClr val="FFFFFF"/>
                </a:solidFill>
                <a:latin typeface="MuseoModerno Medium" pitchFamily="34" charset="0"/>
                <a:ea typeface="MuseoModerno Medium" pitchFamily="34" charset="-122"/>
                <a:cs typeface="MuseoModerno Medium" pitchFamily="34" charset="-120"/>
              </a:rPr>
              <a:t>Structured Term Extraction</a:t>
            </a:r>
            <a:endParaRPr lang="en-US" sz="1400" dirty="0"/>
          </a:p>
        </p:txBody>
      </p:sp>
      <p:sp>
        <p:nvSpPr>
          <p:cNvPr id="10" name="Text 7"/>
          <p:cNvSpPr/>
          <p:nvPr/>
        </p:nvSpPr>
        <p:spPr>
          <a:xfrm>
            <a:off x="1073714" y="1283855"/>
            <a:ext cx="1834102" cy="229263"/>
          </a:xfrm>
          <a:prstGeom prst="rect">
            <a:avLst/>
          </a:prstGeom>
          <a:noFill/>
          <a:ln/>
        </p:spPr>
        <p:txBody>
          <a:bodyPr wrap="none" lIns="0" tIns="0" rIns="0" bIns="0" rtlCol="0" anchor="t"/>
          <a:lstStyle/>
          <a:p>
            <a:pPr algn="l" indent="0" marL="0">
              <a:lnSpc>
                <a:spcPct val="104000"/>
              </a:lnSpc>
              <a:buNone/>
            </a:pPr>
            <a:r>
              <a:rPr lang="en-US" sz="1400" dirty="0">
                <a:solidFill>
                  <a:srgbClr val="FFFFFF"/>
                </a:solidFill>
                <a:latin typeface="MuseoModerno Medium" pitchFamily="34" charset="0"/>
                <a:ea typeface="MuseoModerno Medium" pitchFamily="34" charset="-122"/>
                <a:cs typeface="MuseoModerno Medium" pitchFamily="34" charset="-120"/>
              </a:rPr>
              <a:t>Inbound Proposal</a:t>
            </a:r>
            <a:endParaRPr lang="en-US" sz="1400" dirty="0"/>
          </a:p>
        </p:txBody>
      </p:sp>
      <p:sp>
        <p:nvSpPr>
          <p:cNvPr id="11" name="Text 8"/>
          <p:cNvSpPr/>
          <p:nvPr/>
        </p:nvSpPr>
        <p:spPr>
          <a:xfrm>
            <a:off x="496119" y="4423618"/>
            <a:ext cx="4000277" cy="96887"/>
          </a:xfrm>
          <a:prstGeom prst="rect">
            <a:avLst/>
          </a:prstGeom>
          <a:noFill/>
          <a:ln/>
        </p:spPr>
        <p:txBody>
          <a:bodyPr wrap="none" lIns="0" tIns="0" rIns="0" bIns="0" rtlCol="0" anchor="t"/>
          <a:lstStyle/>
          <a:p>
            <a:pPr algn="l" indent="0" marL="0">
              <a:lnSpc>
                <a:spcPct val="104000"/>
              </a:lnSpc>
              <a:buNone/>
            </a:pPr>
            <a:r>
              <a:rPr lang="en-US" sz="600" dirty="0">
                <a:solidFill>
                  <a:srgbClr val="325F7B"/>
                </a:solidFill>
                <a:latin typeface="MuseoModerno Medium" pitchFamily="34" charset="0"/>
                <a:ea typeface="MuseoModerno Medium" pitchFamily="34" charset="-122"/>
                <a:cs typeface="MuseoModerno Medium" pitchFamily="34" charset="-120"/>
              </a:rPr>
              <a:t>Claude Assists</a:t>
            </a:r>
            <a:pPr algn="l" indent="0" marL="0">
              <a:lnSpc>
                <a:spcPct val="104000"/>
              </a:lnSpc>
              <a:buNone/>
            </a:pPr>
            <a:r>
              <a:rPr lang="en-US" sz="600" dirty="0">
                <a:solidFill>
                  <a:srgbClr val="124E73"/>
                </a:solidFill>
                <a:latin typeface="MuseoModerno Medium" pitchFamily="34" charset="0"/>
                <a:ea typeface="MuseoModerno Medium" pitchFamily="34" charset="-122"/>
                <a:cs typeface="MuseoModerno Medium" pitchFamily="34" charset="-120"/>
              </a:rPr>
              <a:t> — Acceleration Stages</a:t>
            </a:r>
            <a:endParaRPr lang="en-US" sz="600" dirty="0"/>
          </a:p>
        </p:txBody>
      </p:sp>
      <p:sp>
        <p:nvSpPr>
          <p:cNvPr id="12" name="Shape 9"/>
          <p:cNvSpPr/>
          <p:nvPr/>
        </p:nvSpPr>
        <p:spPr>
          <a:xfrm>
            <a:off x="496119" y="4588297"/>
            <a:ext cx="30956" cy="30956"/>
          </a:xfrm>
          <a:prstGeom prst="ellipse">
            <a:avLst/>
          </a:prstGeom>
          <a:solidFill>
            <a:srgbClr val="325F7B"/>
          </a:solidFill>
          <a:ln/>
        </p:spPr>
      </p:sp>
      <p:sp>
        <p:nvSpPr>
          <p:cNvPr id="13" name="Text 10"/>
          <p:cNvSpPr/>
          <p:nvPr/>
        </p:nvSpPr>
        <p:spPr>
          <a:xfrm>
            <a:off x="558031" y="4555331"/>
            <a:ext cx="3938364" cy="96887"/>
          </a:xfrm>
          <a:prstGeom prst="rect">
            <a:avLst/>
          </a:prstGeom>
          <a:noFill/>
          <a:ln/>
        </p:spPr>
        <p:txBody>
          <a:bodyPr wrap="none" lIns="0" tIns="0" rIns="0" bIns="0" rtlCol="0" anchor="t"/>
          <a:lstStyle/>
          <a:p>
            <a:pPr algn="l" indent="0" marL="0">
              <a:lnSpc>
                <a:spcPct val="104000"/>
              </a:lnSpc>
              <a:buNone/>
            </a:pPr>
            <a:r>
              <a:rPr lang="en-US" sz="600" dirty="0">
                <a:solidFill>
                  <a:srgbClr val="2B4150"/>
                </a:solidFill>
                <a:latin typeface="MuseoModerno Medium" pitchFamily="34" charset="0"/>
                <a:ea typeface="MuseoModerno Medium" pitchFamily="34" charset="-122"/>
                <a:cs typeface="MuseoModerno Medium" pitchFamily="34" charset="-120"/>
              </a:rPr>
              <a:t>Structured Term Extraction</a:t>
            </a:r>
            <a:endParaRPr lang="en-US" sz="600" dirty="0"/>
          </a:p>
        </p:txBody>
      </p:sp>
      <p:sp>
        <p:nvSpPr>
          <p:cNvPr id="14" name="Text 11"/>
          <p:cNvSpPr/>
          <p:nvPr/>
        </p:nvSpPr>
        <p:spPr>
          <a:xfrm>
            <a:off x="558031" y="4683175"/>
            <a:ext cx="3938364" cy="148679"/>
          </a:xfrm>
          <a:prstGeom prst="rect">
            <a:avLst/>
          </a:prstGeom>
          <a:noFill/>
          <a:ln/>
        </p:spPr>
        <p:txBody>
          <a:bodyPr wrap="square" lIns="0" tIns="0" rIns="0" bIns="0" rtlCol="0" anchor="t">
            <a:normAutofit/>
          </a:bodyPr>
          <a:lstStyle/>
          <a:p>
            <a:pPr algn="l" indent="0" marL="0">
              <a:lnSpc>
                <a:spcPct val="100000"/>
              </a:lnSpc>
              <a:buNone/>
            </a:pPr>
            <a:r>
              <a:rPr lang="en-US" sz="450" dirty="0">
                <a:solidFill>
                  <a:srgbClr val="2B4150"/>
                </a:solidFill>
                <a:latin typeface="Source Sans 3" pitchFamily="34" charset="0"/>
                <a:ea typeface="Source Sans 3" pitchFamily="34" charset="-122"/>
                <a:cs typeface="Source Sans 3" pitchFamily="34" charset="-120"/>
              </a:rPr>
              <a:t>Claude parses inbound proposals into a standardized term sheet format, flagging ambiguities and missing fields for human review. Output is a structured data record, not a recommendation.</a:t>
            </a:r>
            <a:endParaRPr lang="en-US" sz="450" dirty="0"/>
          </a:p>
        </p:txBody>
      </p:sp>
      <p:sp>
        <p:nvSpPr>
          <p:cNvPr id="15" name="Shape 12"/>
          <p:cNvSpPr/>
          <p:nvPr/>
        </p:nvSpPr>
        <p:spPr>
          <a:xfrm>
            <a:off x="496119" y="4926806"/>
            <a:ext cx="30956" cy="30956"/>
          </a:xfrm>
          <a:prstGeom prst="ellipse">
            <a:avLst/>
          </a:prstGeom>
          <a:solidFill>
            <a:srgbClr val="325F7B"/>
          </a:solidFill>
          <a:ln/>
        </p:spPr>
      </p:sp>
      <p:sp>
        <p:nvSpPr>
          <p:cNvPr id="16" name="Text 13"/>
          <p:cNvSpPr/>
          <p:nvPr/>
        </p:nvSpPr>
        <p:spPr>
          <a:xfrm>
            <a:off x="558031" y="4893841"/>
            <a:ext cx="3938364" cy="96887"/>
          </a:xfrm>
          <a:prstGeom prst="rect">
            <a:avLst/>
          </a:prstGeom>
          <a:noFill/>
          <a:ln/>
        </p:spPr>
        <p:txBody>
          <a:bodyPr wrap="none" lIns="0" tIns="0" rIns="0" bIns="0" rtlCol="0" anchor="t"/>
          <a:lstStyle/>
          <a:p>
            <a:pPr algn="l" indent="0" marL="0">
              <a:lnSpc>
                <a:spcPct val="104000"/>
              </a:lnSpc>
              <a:buNone/>
            </a:pPr>
            <a:r>
              <a:rPr lang="en-US" sz="600" dirty="0">
                <a:solidFill>
                  <a:srgbClr val="2B4150"/>
                </a:solidFill>
                <a:latin typeface="MuseoModerno Medium" pitchFamily="34" charset="0"/>
                <a:ea typeface="MuseoModerno Medium" pitchFamily="34" charset="-122"/>
                <a:cs typeface="MuseoModerno Medium" pitchFamily="34" charset="-120"/>
              </a:rPr>
              <a:t>Comparable Retrieval</a:t>
            </a:r>
            <a:endParaRPr lang="en-US" sz="600" dirty="0"/>
          </a:p>
        </p:txBody>
      </p:sp>
      <p:sp>
        <p:nvSpPr>
          <p:cNvPr id="17" name="Text 14"/>
          <p:cNvSpPr/>
          <p:nvPr/>
        </p:nvSpPr>
        <p:spPr>
          <a:xfrm>
            <a:off x="558031" y="5021684"/>
            <a:ext cx="3938364" cy="148679"/>
          </a:xfrm>
          <a:prstGeom prst="rect">
            <a:avLst/>
          </a:prstGeom>
          <a:noFill/>
          <a:ln/>
        </p:spPr>
        <p:txBody>
          <a:bodyPr wrap="square" lIns="0" tIns="0" rIns="0" bIns="0" rtlCol="0" anchor="t">
            <a:normAutofit/>
          </a:bodyPr>
          <a:lstStyle/>
          <a:p>
            <a:pPr algn="l" indent="0" marL="0">
              <a:lnSpc>
                <a:spcPct val="100000"/>
              </a:lnSpc>
              <a:buNone/>
            </a:pPr>
            <a:r>
              <a:rPr lang="en-US" sz="450" dirty="0">
                <a:solidFill>
                  <a:srgbClr val="2B4150"/>
                </a:solidFill>
                <a:latin typeface="Source Sans 3" pitchFamily="34" charset="0"/>
                <a:ea typeface="Source Sans 3" pitchFamily="34" charset="-122"/>
                <a:cs typeface="Source Sans 3" pitchFamily="34" charset="-120"/>
              </a:rPr>
              <a:t>Claude surfaces structurally similar transactions from the benchmark library, applies comparability scoring, and flags source quality. Human reviewers validate the shortlist before it enters valuation.</a:t>
            </a:r>
            <a:endParaRPr lang="en-US" sz="450" dirty="0"/>
          </a:p>
        </p:txBody>
      </p:sp>
      <p:sp>
        <p:nvSpPr>
          <p:cNvPr id="18" name="Shape 15"/>
          <p:cNvSpPr/>
          <p:nvPr/>
        </p:nvSpPr>
        <p:spPr>
          <a:xfrm>
            <a:off x="496119" y="5265316"/>
            <a:ext cx="30956" cy="30956"/>
          </a:xfrm>
          <a:prstGeom prst="ellipse">
            <a:avLst/>
          </a:prstGeom>
          <a:solidFill>
            <a:srgbClr val="325F7B"/>
          </a:solidFill>
          <a:ln/>
        </p:spPr>
      </p:sp>
      <p:sp>
        <p:nvSpPr>
          <p:cNvPr id="19" name="Text 16"/>
          <p:cNvSpPr/>
          <p:nvPr/>
        </p:nvSpPr>
        <p:spPr>
          <a:xfrm>
            <a:off x="558031" y="5232350"/>
            <a:ext cx="3938364" cy="96887"/>
          </a:xfrm>
          <a:prstGeom prst="rect">
            <a:avLst/>
          </a:prstGeom>
          <a:noFill/>
          <a:ln/>
        </p:spPr>
        <p:txBody>
          <a:bodyPr wrap="none" lIns="0" tIns="0" rIns="0" bIns="0" rtlCol="0" anchor="t"/>
          <a:lstStyle/>
          <a:p>
            <a:pPr algn="l" indent="0" marL="0">
              <a:lnSpc>
                <a:spcPct val="104000"/>
              </a:lnSpc>
              <a:buNone/>
            </a:pPr>
            <a:r>
              <a:rPr lang="en-US" sz="600" dirty="0">
                <a:solidFill>
                  <a:srgbClr val="2B4150"/>
                </a:solidFill>
                <a:latin typeface="MuseoModerno Medium" pitchFamily="34" charset="0"/>
                <a:ea typeface="MuseoModerno Medium" pitchFamily="34" charset="-122"/>
                <a:cs typeface="MuseoModerno Medium" pitchFamily="34" charset="-120"/>
              </a:rPr>
              <a:t>Valuation Scenarios</a:t>
            </a:r>
            <a:endParaRPr lang="en-US" sz="600" dirty="0"/>
          </a:p>
        </p:txBody>
      </p:sp>
      <p:sp>
        <p:nvSpPr>
          <p:cNvPr id="20" name="Text 17"/>
          <p:cNvSpPr/>
          <p:nvPr/>
        </p:nvSpPr>
        <p:spPr>
          <a:xfrm>
            <a:off x="558031" y="5360194"/>
            <a:ext cx="3938364" cy="148679"/>
          </a:xfrm>
          <a:prstGeom prst="rect">
            <a:avLst/>
          </a:prstGeom>
          <a:noFill/>
          <a:ln/>
        </p:spPr>
        <p:txBody>
          <a:bodyPr wrap="square" lIns="0" tIns="0" rIns="0" bIns="0" rtlCol="0" anchor="t">
            <a:normAutofit/>
          </a:bodyPr>
          <a:lstStyle/>
          <a:p>
            <a:pPr algn="l" indent="0" marL="0">
              <a:lnSpc>
                <a:spcPct val="100000"/>
              </a:lnSpc>
              <a:buNone/>
            </a:pPr>
            <a:r>
              <a:rPr lang="en-US" sz="450" dirty="0">
                <a:solidFill>
                  <a:srgbClr val="2B4150"/>
                </a:solidFill>
                <a:latin typeface="Source Sans 3" pitchFamily="34" charset="0"/>
                <a:ea typeface="Source Sans 3" pitchFamily="34" charset="-122"/>
                <a:cs typeface="Source Sans 3" pitchFamily="34" charset="-120"/>
              </a:rPr>
              <a:t>Claude populates the value stack framework across scenarios using the assumption register. Sensitivity tables and waterfall outputs are generated for human review, not issued as conclusions.</a:t>
            </a:r>
            <a:endParaRPr lang="en-US" sz="450" dirty="0"/>
          </a:p>
        </p:txBody>
      </p:sp>
      <p:sp>
        <p:nvSpPr>
          <p:cNvPr id="21" name="Shape 18"/>
          <p:cNvSpPr/>
          <p:nvPr/>
        </p:nvSpPr>
        <p:spPr>
          <a:xfrm>
            <a:off x="496119" y="5603825"/>
            <a:ext cx="30956" cy="30956"/>
          </a:xfrm>
          <a:prstGeom prst="ellipse">
            <a:avLst/>
          </a:prstGeom>
          <a:solidFill>
            <a:srgbClr val="325F7B"/>
          </a:solidFill>
          <a:ln/>
        </p:spPr>
      </p:sp>
      <p:sp>
        <p:nvSpPr>
          <p:cNvPr id="22" name="Text 19"/>
          <p:cNvSpPr/>
          <p:nvPr/>
        </p:nvSpPr>
        <p:spPr>
          <a:xfrm>
            <a:off x="558031" y="5570860"/>
            <a:ext cx="3938364" cy="96887"/>
          </a:xfrm>
          <a:prstGeom prst="rect">
            <a:avLst/>
          </a:prstGeom>
          <a:noFill/>
          <a:ln/>
        </p:spPr>
        <p:txBody>
          <a:bodyPr wrap="none" lIns="0" tIns="0" rIns="0" bIns="0" rtlCol="0" anchor="t"/>
          <a:lstStyle/>
          <a:p>
            <a:pPr algn="l" indent="0" marL="0">
              <a:lnSpc>
                <a:spcPct val="104000"/>
              </a:lnSpc>
              <a:buNone/>
            </a:pPr>
            <a:r>
              <a:rPr lang="en-US" sz="600" dirty="0">
                <a:solidFill>
                  <a:srgbClr val="2B4150"/>
                </a:solidFill>
                <a:latin typeface="MuseoModerno Medium" pitchFamily="34" charset="0"/>
                <a:ea typeface="MuseoModerno Medium" pitchFamily="34" charset="-122"/>
                <a:cs typeface="MuseoModerno Medium" pitchFamily="34" charset="-120"/>
              </a:rPr>
              <a:t>Benchmark Library Update</a:t>
            </a:r>
            <a:endParaRPr lang="en-US" sz="600" dirty="0"/>
          </a:p>
        </p:txBody>
      </p:sp>
      <p:sp>
        <p:nvSpPr>
          <p:cNvPr id="23" name="Text 20"/>
          <p:cNvSpPr/>
          <p:nvPr/>
        </p:nvSpPr>
        <p:spPr>
          <a:xfrm>
            <a:off x="558031" y="5698703"/>
            <a:ext cx="3938364" cy="148679"/>
          </a:xfrm>
          <a:prstGeom prst="rect">
            <a:avLst/>
          </a:prstGeom>
          <a:noFill/>
          <a:ln/>
        </p:spPr>
        <p:txBody>
          <a:bodyPr wrap="square" lIns="0" tIns="0" rIns="0" bIns="0" rtlCol="0" anchor="t">
            <a:normAutofit/>
          </a:bodyPr>
          <a:lstStyle/>
          <a:p>
            <a:pPr algn="l" indent="0" marL="0">
              <a:lnSpc>
                <a:spcPct val="100000"/>
              </a:lnSpc>
              <a:buNone/>
            </a:pPr>
            <a:r>
              <a:rPr lang="en-US" sz="450" dirty="0">
                <a:solidFill>
                  <a:srgbClr val="2B4150"/>
                </a:solidFill>
                <a:latin typeface="Source Sans 3" pitchFamily="34" charset="0"/>
                <a:ea typeface="Source Sans 3" pitchFamily="34" charset="-122"/>
                <a:cs typeface="Source Sans 3" pitchFamily="34" charset="-120"/>
              </a:rPr>
              <a:t>Claude extracts deal metadata from completed transactions and updates the library with normalized comparables, preserving source citations and comparability scores.</a:t>
            </a:r>
            <a:endParaRPr lang="en-US" sz="450" dirty="0"/>
          </a:p>
        </p:txBody>
      </p:sp>
      <p:sp>
        <p:nvSpPr>
          <p:cNvPr id="24" name="Text 21"/>
          <p:cNvSpPr/>
          <p:nvPr/>
        </p:nvSpPr>
        <p:spPr>
          <a:xfrm>
            <a:off x="4652367" y="4423618"/>
            <a:ext cx="4000277" cy="96887"/>
          </a:xfrm>
          <a:prstGeom prst="rect">
            <a:avLst/>
          </a:prstGeom>
          <a:noFill/>
          <a:ln/>
        </p:spPr>
        <p:txBody>
          <a:bodyPr wrap="none" lIns="0" tIns="0" rIns="0" bIns="0" rtlCol="0" anchor="t"/>
          <a:lstStyle/>
          <a:p>
            <a:pPr algn="l" indent="0" marL="0">
              <a:lnSpc>
                <a:spcPct val="104000"/>
              </a:lnSpc>
              <a:buNone/>
            </a:pPr>
            <a:r>
              <a:rPr lang="en-US" sz="600" dirty="0">
                <a:solidFill>
                  <a:srgbClr val="51738C"/>
                </a:solidFill>
                <a:latin typeface="MuseoModerno Medium" pitchFamily="34" charset="0"/>
                <a:ea typeface="MuseoModerno Medium" pitchFamily="34" charset="-122"/>
                <a:cs typeface="MuseoModerno Medium" pitchFamily="34" charset="-120"/>
              </a:rPr>
              <a:t>Human Decision Gates</a:t>
            </a:r>
            <a:pPr algn="l" indent="0" marL="0">
              <a:lnSpc>
                <a:spcPct val="104000"/>
              </a:lnSpc>
              <a:buNone/>
            </a:pPr>
            <a:r>
              <a:rPr lang="en-US" sz="600" dirty="0">
                <a:solidFill>
                  <a:srgbClr val="124E73"/>
                </a:solidFill>
                <a:latin typeface="MuseoModerno Medium" pitchFamily="34" charset="0"/>
                <a:ea typeface="MuseoModerno Medium" pitchFamily="34" charset="-122"/>
                <a:cs typeface="MuseoModerno Medium" pitchFamily="34" charset="-120"/>
              </a:rPr>
              <a:t> — Mandatory Approval Points</a:t>
            </a:r>
            <a:endParaRPr lang="en-US" sz="600" dirty="0"/>
          </a:p>
        </p:txBody>
      </p:sp>
      <p:pic>
        <p:nvPicPr>
          <p:cNvPr id="2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52367" y="4555331"/>
            <a:ext cx="1984623" cy="670396"/>
          </a:xfrm>
          <a:prstGeom prst="rect">
            <a:avLst/>
          </a:prstGeom>
        </p:spPr>
      </p:pic>
      <p:sp>
        <p:nvSpPr>
          <p:cNvPr id="26" name="Text 22"/>
          <p:cNvSpPr/>
          <p:nvPr/>
        </p:nvSpPr>
        <p:spPr>
          <a:xfrm>
            <a:off x="5607472" y="4601840"/>
            <a:ext cx="74414" cy="93018"/>
          </a:xfrm>
          <a:prstGeom prst="rect">
            <a:avLst/>
          </a:prstGeom>
          <a:noFill/>
          <a:ln/>
        </p:spPr>
        <p:txBody>
          <a:bodyPr wrap="none" lIns="0" tIns="0" rIns="0" bIns="0" rtlCol="0" anchor="ctr"/>
          <a:lstStyle/>
          <a:p>
            <a:pPr algn="ctr" indent="0" marL="0">
              <a:lnSpc>
                <a:spcPct val="100000"/>
              </a:lnSpc>
              <a:buNone/>
            </a:pPr>
            <a:r>
              <a:rPr lang="en-US" sz="550" dirty="0">
                <a:solidFill>
                  <a:srgbClr val="FFFFFF"/>
                </a:solidFill>
                <a:latin typeface="MuseoModerno Medium" pitchFamily="34" charset="0"/>
                <a:ea typeface="MuseoModerno Medium" pitchFamily="34" charset="-122"/>
                <a:cs typeface="MuseoModerno Medium" pitchFamily="34" charset="-120"/>
              </a:rPr>
              <a:t>1</a:t>
            </a:r>
            <a:endParaRPr lang="en-US" sz="550" dirty="0"/>
          </a:p>
        </p:txBody>
      </p:sp>
      <p:sp>
        <p:nvSpPr>
          <p:cNvPr id="27" name="Text 23"/>
          <p:cNvSpPr/>
          <p:nvPr/>
        </p:nvSpPr>
        <p:spPr>
          <a:xfrm>
            <a:off x="4723879" y="4803353"/>
            <a:ext cx="1841599" cy="96887"/>
          </a:xfrm>
          <a:prstGeom prst="rect">
            <a:avLst/>
          </a:prstGeom>
          <a:noFill/>
          <a:ln/>
        </p:spPr>
        <p:txBody>
          <a:bodyPr wrap="none" lIns="0" tIns="0" rIns="0" bIns="0" rtlCol="0" anchor="t"/>
          <a:lstStyle/>
          <a:p>
            <a:pPr algn="l" indent="0" marL="0">
              <a:lnSpc>
                <a:spcPct val="104000"/>
              </a:lnSpc>
              <a:buNone/>
            </a:pPr>
            <a:r>
              <a:rPr lang="en-US" sz="600" dirty="0">
                <a:solidFill>
                  <a:srgbClr val="2B4150"/>
                </a:solidFill>
                <a:latin typeface="MuseoModerno Medium" pitchFamily="34" charset="0"/>
                <a:ea typeface="MuseoModerno Medium" pitchFamily="34" charset="-122"/>
                <a:cs typeface="MuseoModerno Medium" pitchFamily="34" charset="-120"/>
              </a:rPr>
              <a:t>Diligence Question Approval</a:t>
            </a:r>
            <a:endParaRPr lang="en-US" sz="600" dirty="0"/>
          </a:p>
        </p:txBody>
      </p:sp>
      <p:sp>
        <p:nvSpPr>
          <p:cNvPr id="28" name="Text 24"/>
          <p:cNvSpPr/>
          <p:nvPr/>
        </p:nvSpPr>
        <p:spPr>
          <a:xfrm>
            <a:off x="4723879" y="4931197"/>
            <a:ext cx="1841599" cy="148679"/>
          </a:xfrm>
          <a:prstGeom prst="rect">
            <a:avLst/>
          </a:prstGeom>
          <a:noFill/>
          <a:ln/>
        </p:spPr>
        <p:txBody>
          <a:bodyPr wrap="square" lIns="0" tIns="0" rIns="0" bIns="0" rtlCol="0" anchor="t">
            <a:normAutofit/>
          </a:bodyPr>
          <a:lstStyle/>
          <a:p>
            <a:pPr algn="l" indent="0" marL="0">
              <a:lnSpc>
                <a:spcPct val="100000"/>
              </a:lnSpc>
              <a:buNone/>
            </a:pPr>
            <a:r>
              <a:rPr lang="en-US" sz="450" dirty="0">
                <a:solidFill>
                  <a:srgbClr val="2B4150"/>
                </a:solidFill>
                <a:latin typeface="Source Sans 3" pitchFamily="34" charset="0"/>
                <a:ea typeface="Source Sans 3" pitchFamily="34" charset="-122"/>
                <a:cs typeface="Source Sans 3" pitchFamily="34" charset="-120"/>
              </a:rPr>
              <a:t>Partnership lead and relevant SMEs (Product, Research, Legal) approve the diligence question set before external communication.</a:t>
            </a:r>
            <a:endParaRPr lang="en-US" sz="450" dirty="0"/>
          </a:p>
        </p:txBody>
      </p:sp>
      <p:pic>
        <p:nvPicPr>
          <p:cNvPr id="29"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67946" y="4555331"/>
            <a:ext cx="1984697" cy="670396"/>
          </a:xfrm>
          <a:prstGeom prst="rect">
            <a:avLst/>
          </a:prstGeom>
        </p:spPr>
      </p:pic>
      <p:sp>
        <p:nvSpPr>
          <p:cNvPr id="30" name="Text 25"/>
          <p:cNvSpPr/>
          <p:nvPr/>
        </p:nvSpPr>
        <p:spPr>
          <a:xfrm>
            <a:off x="7623051" y="4601840"/>
            <a:ext cx="74414" cy="93018"/>
          </a:xfrm>
          <a:prstGeom prst="rect">
            <a:avLst/>
          </a:prstGeom>
          <a:noFill/>
          <a:ln/>
        </p:spPr>
        <p:txBody>
          <a:bodyPr wrap="none" lIns="0" tIns="0" rIns="0" bIns="0" rtlCol="0" anchor="ctr"/>
          <a:lstStyle/>
          <a:p>
            <a:pPr algn="ctr" indent="0" marL="0">
              <a:lnSpc>
                <a:spcPct val="100000"/>
              </a:lnSpc>
              <a:buNone/>
            </a:pPr>
            <a:r>
              <a:rPr lang="en-US" sz="550" dirty="0">
                <a:solidFill>
                  <a:srgbClr val="FFFFFF"/>
                </a:solidFill>
                <a:latin typeface="MuseoModerno Medium" pitchFamily="34" charset="0"/>
                <a:ea typeface="MuseoModerno Medium" pitchFamily="34" charset="-122"/>
                <a:cs typeface="MuseoModerno Medium" pitchFamily="34" charset="-120"/>
              </a:rPr>
              <a:t>2</a:t>
            </a:r>
            <a:endParaRPr lang="en-US" sz="550" dirty="0"/>
          </a:p>
        </p:txBody>
      </p:sp>
      <p:sp>
        <p:nvSpPr>
          <p:cNvPr id="31" name="Text 26"/>
          <p:cNvSpPr/>
          <p:nvPr/>
        </p:nvSpPr>
        <p:spPr>
          <a:xfrm>
            <a:off x="6739458" y="4803353"/>
            <a:ext cx="1841674" cy="96887"/>
          </a:xfrm>
          <a:prstGeom prst="rect">
            <a:avLst/>
          </a:prstGeom>
          <a:noFill/>
          <a:ln/>
        </p:spPr>
        <p:txBody>
          <a:bodyPr wrap="none" lIns="0" tIns="0" rIns="0" bIns="0" rtlCol="0" anchor="t"/>
          <a:lstStyle/>
          <a:p>
            <a:pPr algn="l" indent="0" marL="0">
              <a:lnSpc>
                <a:spcPct val="104000"/>
              </a:lnSpc>
              <a:buNone/>
            </a:pPr>
            <a:r>
              <a:rPr lang="en-US" sz="600" dirty="0">
                <a:solidFill>
                  <a:srgbClr val="2B4150"/>
                </a:solidFill>
                <a:latin typeface="MuseoModerno Medium" pitchFamily="34" charset="0"/>
                <a:ea typeface="MuseoModerno Medium" pitchFamily="34" charset="-122"/>
                <a:cs typeface="MuseoModerno Medium" pitchFamily="34" charset="-120"/>
              </a:rPr>
              <a:t>Assumption Register Sign-Off</a:t>
            </a:r>
            <a:endParaRPr lang="en-US" sz="600" dirty="0"/>
          </a:p>
        </p:txBody>
      </p:sp>
      <p:sp>
        <p:nvSpPr>
          <p:cNvPr id="32" name="Text 27"/>
          <p:cNvSpPr/>
          <p:nvPr/>
        </p:nvSpPr>
        <p:spPr>
          <a:xfrm>
            <a:off x="6739458" y="4931197"/>
            <a:ext cx="1841674" cy="223019"/>
          </a:xfrm>
          <a:prstGeom prst="rect">
            <a:avLst/>
          </a:prstGeom>
          <a:noFill/>
          <a:ln/>
        </p:spPr>
        <p:txBody>
          <a:bodyPr wrap="square" lIns="0" tIns="0" rIns="0" bIns="0" rtlCol="0" anchor="t">
            <a:normAutofit/>
          </a:bodyPr>
          <a:lstStyle/>
          <a:p>
            <a:pPr algn="l" indent="0" marL="0">
              <a:lnSpc>
                <a:spcPct val="100000"/>
              </a:lnSpc>
              <a:buNone/>
            </a:pPr>
            <a:r>
              <a:rPr lang="en-US" sz="450" dirty="0">
                <a:solidFill>
                  <a:srgbClr val="2B4150"/>
                </a:solidFill>
                <a:latin typeface="Source Sans 3" pitchFamily="34" charset="0"/>
                <a:ea typeface="Source Sans 3" pitchFamily="34" charset="-122"/>
                <a:cs typeface="Source Sans 3" pitchFamily="34" charset="-120"/>
              </a:rPr>
              <a:t>Finance and Strategy sign off on every assumption used in the valuation model. No scenario is generated from unapproved assumptions.</a:t>
            </a:r>
            <a:endParaRPr lang="en-US" sz="450" dirty="0"/>
          </a:p>
        </p:txBody>
      </p:sp>
      <p:pic>
        <p:nvPicPr>
          <p:cNvPr id="33"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652367" y="5256684"/>
            <a:ext cx="1984623" cy="670396"/>
          </a:xfrm>
          <a:prstGeom prst="rect">
            <a:avLst/>
          </a:prstGeom>
        </p:spPr>
      </p:pic>
      <p:sp>
        <p:nvSpPr>
          <p:cNvPr id="34" name="Text 28"/>
          <p:cNvSpPr/>
          <p:nvPr/>
        </p:nvSpPr>
        <p:spPr>
          <a:xfrm>
            <a:off x="5607472" y="5303193"/>
            <a:ext cx="74414" cy="93018"/>
          </a:xfrm>
          <a:prstGeom prst="rect">
            <a:avLst/>
          </a:prstGeom>
          <a:noFill/>
          <a:ln/>
        </p:spPr>
        <p:txBody>
          <a:bodyPr wrap="none" lIns="0" tIns="0" rIns="0" bIns="0" rtlCol="0" anchor="ctr"/>
          <a:lstStyle/>
          <a:p>
            <a:pPr algn="ctr" indent="0" marL="0">
              <a:lnSpc>
                <a:spcPct val="100000"/>
              </a:lnSpc>
              <a:buNone/>
            </a:pPr>
            <a:r>
              <a:rPr lang="en-US" sz="550" dirty="0">
                <a:solidFill>
                  <a:srgbClr val="FFFFFF"/>
                </a:solidFill>
                <a:latin typeface="MuseoModerno Medium" pitchFamily="34" charset="0"/>
                <a:ea typeface="MuseoModerno Medium" pitchFamily="34" charset="-122"/>
                <a:cs typeface="MuseoModerno Medium" pitchFamily="34" charset="-120"/>
              </a:rPr>
              <a:t>3</a:t>
            </a:r>
            <a:endParaRPr lang="en-US" sz="550" dirty="0"/>
          </a:p>
        </p:txBody>
      </p:sp>
      <p:sp>
        <p:nvSpPr>
          <p:cNvPr id="35" name="Text 29"/>
          <p:cNvSpPr/>
          <p:nvPr/>
        </p:nvSpPr>
        <p:spPr>
          <a:xfrm>
            <a:off x="4723879" y="5504706"/>
            <a:ext cx="1841599" cy="96887"/>
          </a:xfrm>
          <a:prstGeom prst="rect">
            <a:avLst/>
          </a:prstGeom>
          <a:noFill/>
          <a:ln/>
        </p:spPr>
        <p:txBody>
          <a:bodyPr wrap="none" lIns="0" tIns="0" rIns="0" bIns="0" rtlCol="0" anchor="t"/>
          <a:lstStyle/>
          <a:p>
            <a:pPr algn="l" indent="0" marL="0">
              <a:lnSpc>
                <a:spcPct val="104000"/>
              </a:lnSpc>
              <a:buNone/>
            </a:pPr>
            <a:r>
              <a:rPr lang="en-US" sz="600" dirty="0">
                <a:solidFill>
                  <a:srgbClr val="2B4150"/>
                </a:solidFill>
                <a:latin typeface="MuseoModerno Medium" pitchFamily="34" charset="0"/>
                <a:ea typeface="MuseoModerno Medium" pitchFamily="34" charset="-122"/>
                <a:cs typeface="MuseoModerno Medium" pitchFamily="34" charset="-120"/>
              </a:rPr>
              <a:t>Red-Team Challenge</a:t>
            </a:r>
            <a:endParaRPr lang="en-US" sz="600" dirty="0"/>
          </a:p>
        </p:txBody>
      </p:sp>
      <p:sp>
        <p:nvSpPr>
          <p:cNvPr id="36" name="Text 30"/>
          <p:cNvSpPr/>
          <p:nvPr/>
        </p:nvSpPr>
        <p:spPr>
          <a:xfrm>
            <a:off x="4723879" y="5632549"/>
            <a:ext cx="1841599" cy="223019"/>
          </a:xfrm>
          <a:prstGeom prst="rect">
            <a:avLst/>
          </a:prstGeom>
          <a:noFill/>
          <a:ln/>
        </p:spPr>
        <p:txBody>
          <a:bodyPr wrap="square" lIns="0" tIns="0" rIns="0" bIns="0" rtlCol="0" anchor="t">
            <a:normAutofit/>
          </a:bodyPr>
          <a:lstStyle/>
          <a:p>
            <a:pPr algn="l" indent="0" marL="0">
              <a:lnSpc>
                <a:spcPct val="100000"/>
              </a:lnSpc>
              <a:buNone/>
            </a:pPr>
            <a:r>
              <a:rPr lang="en-US" sz="450" dirty="0">
                <a:solidFill>
                  <a:srgbClr val="2B4150"/>
                </a:solidFill>
                <a:latin typeface="Source Sans 3" pitchFamily="34" charset="0"/>
                <a:ea typeface="Source Sans 3" pitchFamily="34" charset="-122"/>
                <a:cs typeface="Source Sans 3" pitchFamily="34" charset="-120"/>
              </a:rPr>
              <a:t>A designated internal challenger — independent of the deal team — stress-tests assumptions and flags motivated reasoning before the negotiation brief is finalized.</a:t>
            </a:r>
            <a:endParaRPr lang="en-US" sz="450" dirty="0"/>
          </a:p>
        </p:txBody>
      </p:sp>
      <p:pic>
        <p:nvPicPr>
          <p:cNvPr id="37"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67946" y="5256684"/>
            <a:ext cx="1984697" cy="670396"/>
          </a:xfrm>
          <a:prstGeom prst="rect">
            <a:avLst/>
          </a:prstGeom>
        </p:spPr>
      </p:pic>
      <p:sp>
        <p:nvSpPr>
          <p:cNvPr id="38" name="Text 31"/>
          <p:cNvSpPr/>
          <p:nvPr/>
        </p:nvSpPr>
        <p:spPr>
          <a:xfrm>
            <a:off x="7623051" y="5303193"/>
            <a:ext cx="74414" cy="93018"/>
          </a:xfrm>
          <a:prstGeom prst="rect">
            <a:avLst/>
          </a:prstGeom>
          <a:noFill/>
          <a:ln/>
        </p:spPr>
        <p:txBody>
          <a:bodyPr wrap="none" lIns="0" tIns="0" rIns="0" bIns="0" rtlCol="0" anchor="ctr"/>
          <a:lstStyle/>
          <a:p>
            <a:pPr algn="ctr" indent="0" marL="0">
              <a:lnSpc>
                <a:spcPct val="100000"/>
              </a:lnSpc>
              <a:buNone/>
            </a:pPr>
            <a:r>
              <a:rPr lang="en-US" sz="550" dirty="0">
                <a:solidFill>
                  <a:srgbClr val="FFFFFF"/>
                </a:solidFill>
                <a:latin typeface="MuseoModerno Medium" pitchFamily="34" charset="0"/>
                <a:ea typeface="MuseoModerno Medium" pitchFamily="34" charset="-122"/>
                <a:cs typeface="MuseoModerno Medium" pitchFamily="34" charset="-120"/>
              </a:rPr>
              <a:t>4</a:t>
            </a:r>
            <a:endParaRPr lang="en-US" sz="550" dirty="0"/>
          </a:p>
        </p:txBody>
      </p:sp>
      <p:sp>
        <p:nvSpPr>
          <p:cNvPr id="39" name="Text 32"/>
          <p:cNvSpPr/>
          <p:nvPr/>
        </p:nvSpPr>
        <p:spPr>
          <a:xfrm>
            <a:off x="6739458" y="5504706"/>
            <a:ext cx="1841674" cy="96887"/>
          </a:xfrm>
          <a:prstGeom prst="rect">
            <a:avLst/>
          </a:prstGeom>
          <a:noFill/>
          <a:ln/>
        </p:spPr>
        <p:txBody>
          <a:bodyPr wrap="none" lIns="0" tIns="0" rIns="0" bIns="0" rtlCol="0" anchor="t"/>
          <a:lstStyle/>
          <a:p>
            <a:pPr algn="l" indent="0" marL="0">
              <a:lnSpc>
                <a:spcPct val="104000"/>
              </a:lnSpc>
              <a:buNone/>
            </a:pPr>
            <a:r>
              <a:rPr lang="en-US" sz="600" dirty="0">
                <a:solidFill>
                  <a:srgbClr val="2B4150"/>
                </a:solidFill>
                <a:latin typeface="MuseoModerno Medium" pitchFamily="34" charset="0"/>
                <a:ea typeface="MuseoModerno Medium" pitchFamily="34" charset="-122"/>
                <a:cs typeface="MuseoModerno Medium" pitchFamily="34" charset="-120"/>
              </a:rPr>
              <a:t>Approvals and Contracting</a:t>
            </a:r>
            <a:endParaRPr lang="en-US" sz="600" dirty="0"/>
          </a:p>
        </p:txBody>
      </p:sp>
      <p:sp>
        <p:nvSpPr>
          <p:cNvPr id="40" name="Text 33"/>
          <p:cNvSpPr/>
          <p:nvPr/>
        </p:nvSpPr>
        <p:spPr>
          <a:xfrm>
            <a:off x="6739458" y="5632549"/>
            <a:ext cx="1841674" cy="223019"/>
          </a:xfrm>
          <a:prstGeom prst="rect">
            <a:avLst/>
          </a:prstGeom>
          <a:noFill/>
          <a:ln/>
        </p:spPr>
        <p:txBody>
          <a:bodyPr wrap="square" lIns="0" tIns="0" rIns="0" bIns="0" rtlCol="0" anchor="t">
            <a:normAutofit/>
          </a:bodyPr>
          <a:lstStyle/>
          <a:p>
            <a:pPr algn="l" indent="0" marL="0">
              <a:lnSpc>
                <a:spcPct val="100000"/>
              </a:lnSpc>
              <a:buNone/>
            </a:pPr>
            <a:r>
              <a:rPr lang="en-US" sz="450" dirty="0">
                <a:solidFill>
                  <a:srgbClr val="2B4150"/>
                </a:solidFill>
                <a:latin typeface="Source Sans 3" pitchFamily="34" charset="0"/>
                <a:ea typeface="Source Sans 3" pitchFamily="34" charset="-122"/>
                <a:cs typeface="Source Sans 3" pitchFamily="34" charset="-120"/>
              </a:rPr>
              <a:t>Final deal recommendation and term sheet approved by designated authority level (Finance, Legal, senior leadership) before any binding commitment.</a:t>
            </a:r>
            <a:endParaRPr lang="en-US" sz="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96119" y="450726"/>
            <a:ext cx="869528" cy="123676"/>
          </a:xfrm>
          <a:prstGeom prst="roundRect">
            <a:avLst>
              <a:gd name="adj" fmla="val 7899"/>
            </a:avLst>
          </a:prstGeom>
          <a:noFill/>
          <a:ln w="4763">
            <a:solidFill>
              <a:srgbClr val="325F7B"/>
            </a:solidFill>
            <a:prstDash val="solid"/>
          </a:ln>
        </p:spPr>
      </p:sp>
      <p:sp>
        <p:nvSpPr>
          <p:cNvPr id="3" name="Text 1"/>
          <p:cNvSpPr/>
          <p:nvPr/>
        </p:nvSpPr>
        <p:spPr>
          <a:xfrm>
            <a:off x="544934" y="475134"/>
            <a:ext cx="1229097" cy="74861"/>
          </a:xfrm>
          <a:prstGeom prst="rect">
            <a:avLst/>
          </a:prstGeom>
          <a:noFill/>
          <a:ln/>
        </p:spPr>
        <p:txBody>
          <a:bodyPr wrap="none" lIns="0" tIns="0" rIns="0" bIns="0" rtlCol="0" anchor="t"/>
          <a:lstStyle/>
          <a:p>
            <a:pPr algn="l" indent="0" marL="0">
              <a:lnSpc>
                <a:spcPct val="96000"/>
              </a:lnSpc>
              <a:buNone/>
            </a:pPr>
            <a:r>
              <a:rPr lang="en-US" sz="500" dirty="0">
                <a:solidFill>
                  <a:srgbClr val="325F7B"/>
                </a:solidFill>
                <a:latin typeface="Source Sans 3" pitchFamily="34" charset="0"/>
                <a:ea typeface="Source Sans 3" pitchFamily="34" charset="-122"/>
                <a:cs typeface="Source Sans 3" pitchFamily="34" charset="-120"/>
              </a:rPr>
              <a:t>RELIABILITY &amp; TRACEABILITY</a:t>
            </a:r>
            <a:endParaRPr lang="en-US" sz="500" dirty="0"/>
          </a:p>
        </p:txBody>
      </p:sp>
      <p:sp>
        <p:nvSpPr>
          <p:cNvPr id="4" name="Text 2"/>
          <p:cNvSpPr/>
          <p:nvPr/>
        </p:nvSpPr>
        <p:spPr>
          <a:xfrm>
            <a:off x="496119" y="595759"/>
            <a:ext cx="8151763" cy="254347"/>
          </a:xfrm>
          <a:prstGeom prst="rect">
            <a:avLst/>
          </a:prstGeom>
          <a:noFill/>
          <a:ln/>
        </p:spPr>
        <p:txBody>
          <a:bodyPr wrap="none" lIns="0" tIns="0" rIns="0" bIns="0" rtlCol="0" anchor="t"/>
          <a:lstStyle/>
          <a:p>
            <a:pPr algn="l" indent="0" marL="0">
              <a:lnSpc>
                <a:spcPct val="104000"/>
              </a:lnSpc>
              <a:buNone/>
            </a:pPr>
            <a:r>
              <a:rPr lang="en-US" sz="1600" dirty="0">
                <a:solidFill>
                  <a:srgbClr val="124E73"/>
                </a:solidFill>
                <a:latin typeface="MuseoModerno Medium" pitchFamily="34" charset="0"/>
                <a:ea typeface="MuseoModerno Medium" pitchFamily="34" charset="-122"/>
                <a:cs typeface="MuseoModerno Medium" pitchFamily="34" charset="-120"/>
              </a:rPr>
              <a:t>AI Accelerates the Work; It Does Not Own the Judgment</a:t>
            </a:r>
            <a:endParaRPr lang="en-US" sz="1600" dirty="0"/>
          </a:p>
        </p:txBody>
      </p:sp>
      <p:sp>
        <p:nvSpPr>
          <p:cNvPr id="5" name="Text 3"/>
          <p:cNvSpPr/>
          <p:nvPr/>
        </p:nvSpPr>
        <p:spPr>
          <a:xfrm>
            <a:off x="496119" y="930176"/>
            <a:ext cx="8151763" cy="215652"/>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The governance design of this system is as important as the analytical design. In a context where AI-generated outputs inform material financial and strategic decisions, the controls architecture must be explicit, auditable, and robust to motivated reasoning. Six controls govern every analysis produced by this framework.</a:t>
            </a:r>
            <a:endParaRPr lang="en-US" sz="600" dirty="0"/>
          </a:p>
        </p:txBody>
      </p:sp>
      <p:sp>
        <p:nvSpPr>
          <p:cNvPr id="6" name="Text 4"/>
          <p:cNvSpPr/>
          <p:nvPr/>
        </p:nvSpPr>
        <p:spPr>
          <a:xfrm>
            <a:off x="496119" y="1259235"/>
            <a:ext cx="4394076" cy="127099"/>
          </a:xfrm>
          <a:prstGeom prst="rect">
            <a:avLst/>
          </a:prstGeom>
          <a:noFill/>
          <a:ln/>
        </p:spPr>
        <p:txBody>
          <a:bodyPr wrap="none" lIns="0" tIns="0" rIns="0" bIns="0" rtlCol="0" anchor="t"/>
          <a:lstStyle/>
          <a:p>
            <a:pPr algn="l" indent="0" marL="0">
              <a:lnSpc>
                <a:spcPct val="104000"/>
              </a:lnSpc>
              <a:buNone/>
            </a:pPr>
            <a:r>
              <a:rPr lang="en-US" sz="800" dirty="0">
                <a:solidFill>
                  <a:srgbClr val="124E73"/>
                </a:solidFill>
                <a:latin typeface="MuseoModerno Medium" pitchFamily="34" charset="0"/>
                <a:ea typeface="MuseoModerno Medium" pitchFamily="34" charset="-122"/>
                <a:cs typeface="MuseoModerno Medium" pitchFamily="34" charset="-120"/>
              </a:rPr>
              <a:t>Six Structural Controls</a:t>
            </a:r>
            <a:endParaRPr lang="en-US" sz="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446386"/>
            <a:ext cx="162744" cy="162744"/>
          </a:xfrm>
          <a:prstGeom prst="rect">
            <a:avLst/>
          </a:prstGeom>
        </p:spPr>
      </p:pic>
      <p:sp>
        <p:nvSpPr>
          <p:cNvPr id="8" name="Text 5"/>
          <p:cNvSpPr/>
          <p:nvPr/>
        </p:nvSpPr>
        <p:spPr>
          <a:xfrm>
            <a:off x="725612" y="1474366"/>
            <a:ext cx="4164583" cy="127099"/>
          </a:xfrm>
          <a:prstGeom prst="rect">
            <a:avLst/>
          </a:prstGeom>
          <a:noFill/>
          <a:ln/>
        </p:spPr>
        <p:txBody>
          <a:bodyPr wrap="none" lIns="0" tIns="0" rIns="0" bIns="0" rtlCol="0" anchor="t"/>
          <a:lstStyle/>
          <a:p>
            <a:pPr algn="l" indent="0" marL="0">
              <a:lnSpc>
                <a:spcPct val="104000"/>
              </a:lnSpc>
              <a:buNone/>
            </a:pPr>
            <a:r>
              <a:rPr lang="en-US" sz="800" dirty="0">
                <a:solidFill>
                  <a:srgbClr val="2B4150"/>
                </a:solidFill>
                <a:latin typeface="MuseoModerno Medium" pitchFamily="34" charset="0"/>
                <a:ea typeface="MuseoModerno Medium" pitchFamily="34" charset="-122"/>
                <a:cs typeface="MuseoModerno Medium" pitchFamily="34" charset="-120"/>
              </a:rPr>
              <a:t>Every Assumption Visible</a:t>
            </a:r>
            <a:endParaRPr lang="en-US" sz="800" dirty="0"/>
          </a:p>
        </p:txBody>
      </p:sp>
      <p:sp>
        <p:nvSpPr>
          <p:cNvPr id="9" name="Text 6"/>
          <p:cNvSpPr/>
          <p:nvPr/>
        </p:nvSpPr>
        <p:spPr>
          <a:xfrm>
            <a:off x="725612" y="1654820"/>
            <a:ext cx="4164583" cy="323478"/>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No assumption is embedded silently in a formula or model. Each assumption is surfaced in the assumption register with an owner, a source, and a confidence rating. Reviewers can challenge any individual assumption without re-running the entire analysis.</a:t>
            </a:r>
            <a:endParaRPr lang="en-US" sz="60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19" y="2085082"/>
            <a:ext cx="162744" cy="162744"/>
          </a:xfrm>
          <a:prstGeom prst="rect">
            <a:avLst/>
          </a:prstGeom>
        </p:spPr>
      </p:pic>
      <p:sp>
        <p:nvSpPr>
          <p:cNvPr id="11" name="Text 7"/>
          <p:cNvSpPr/>
          <p:nvPr/>
        </p:nvSpPr>
        <p:spPr>
          <a:xfrm>
            <a:off x="725612" y="2113062"/>
            <a:ext cx="4164583" cy="127099"/>
          </a:xfrm>
          <a:prstGeom prst="rect">
            <a:avLst/>
          </a:prstGeom>
          <a:noFill/>
          <a:ln/>
        </p:spPr>
        <p:txBody>
          <a:bodyPr wrap="none" lIns="0" tIns="0" rIns="0" bIns="0" rtlCol="0" anchor="t"/>
          <a:lstStyle/>
          <a:p>
            <a:pPr algn="l" indent="0" marL="0">
              <a:lnSpc>
                <a:spcPct val="104000"/>
              </a:lnSpc>
              <a:buNone/>
            </a:pPr>
            <a:r>
              <a:rPr lang="en-US" sz="800" dirty="0">
                <a:solidFill>
                  <a:srgbClr val="2B4150"/>
                </a:solidFill>
                <a:latin typeface="MuseoModerno Medium" pitchFamily="34" charset="0"/>
                <a:ea typeface="MuseoModerno Medium" pitchFamily="34" charset="-122"/>
                <a:cs typeface="MuseoModerno Medium" pitchFamily="34" charset="-120"/>
              </a:rPr>
              <a:t>Every Benchmark Linked to Evidence</a:t>
            </a:r>
            <a:endParaRPr lang="en-US" sz="800" dirty="0"/>
          </a:p>
        </p:txBody>
      </p:sp>
      <p:sp>
        <p:nvSpPr>
          <p:cNvPr id="12" name="Text 8"/>
          <p:cNvSpPr/>
          <p:nvPr/>
        </p:nvSpPr>
        <p:spPr>
          <a:xfrm>
            <a:off x="725612" y="2293516"/>
            <a:ext cx="4164583" cy="215652"/>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Comparable transactions are cited to their source (filing, press release, analyst report, earnings call). Inferred figures are labeled as estimates. Comparability scores are shown, not hidden.</a:t>
            </a:r>
            <a:endParaRPr lang="en-US" sz="60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2615952"/>
            <a:ext cx="162744" cy="162744"/>
          </a:xfrm>
          <a:prstGeom prst="rect">
            <a:avLst/>
          </a:prstGeom>
        </p:spPr>
      </p:pic>
      <p:sp>
        <p:nvSpPr>
          <p:cNvPr id="14" name="Text 9"/>
          <p:cNvSpPr/>
          <p:nvPr/>
        </p:nvSpPr>
        <p:spPr>
          <a:xfrm>
            <a:off x="725612" y="2643932"/>
            <a:ext cx="4164583" cy="127099"/>
          </a:xfrm>
          <a:prstGeom prst="rect">
            <a:avLst/>
          </a:prstGeom>
          <a:noFill/>
          <a:ln/>
        </p:spPr>
        <p:txBody>
          <a:bodyPr wrap="none" lIns="0" tIns="0" rIns="0" bIns="0" rtlCol="0" anchor="t"/>
          <a:lstStyle/>
          <a:p>
            <a:pPr algn="l" indent="0" marL="0">
              <a:lnSpc>
                <a:spcPct val="104000"/>
              </a:lnSpc>
              <a:buNone/>
            </a:pPr>
            <a:r>
              <a:rPr lang="en-US" sz="800" dirty="0">
                <a:solidFill>
                  <a:srgbClr val="2B4150"/>
                </a:solidFill>
                <a:latin typeface="MuseoModerno Medium" pitchFamily="34" charset="0"/>
                <a:ea typeface="MuseoModerno Medium" pitchFamily="34" charset="-122"/>
                <a:cs typeface="MuseoModerno Medium" pitchFamily="34" charset="-120"/>
              </a:rPr>
              <a:t>Synthetic Facts Separated from Public Facts</a:t>
            </a:r>
            <a:endParaRPr lang="en-US" sz="800" dirty="0"/>
          </a:p>
        </p:txBody>
      </p:sp>
      <p:sp>
        <p:nvSpPr>
          <p:cNvPr id="15" name="Text 10"/>
          <p:cNvSpPr/>
          <p:nvPr/>
        </p:nvSpPr>
        <p:spPr>
          <a:xfrm>
            <a:off x="725612" y="2824386"/>
            <a:ext cx="4164583" cy="215652"/>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All case economics used for methodology demonstration are labeled "Synthetic case." No AI-generated claims are presented as factual without a traceable primary source.</a:t>
            </a:r>
            <a:endParaRPr lang="en-US" sz="60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96119" y="3146822"/>
            <a:ext cx="162744" cy="162744"/>
          </a:xfrm>
          <a:prstGeom prst="rect">
            <a:avLst/>
          </a:prstGeom>
        </p:spPr>
      </p:pic>
      <p:sp>
        <p:nvSpPr>
          <p:cNvPr id="17" name="Text 11"/>
          <p:cNvSpPr/>
          <p:nvPr/>
        </p:nvSpPr>
        <p:spPr>
          <a:xfrm>
            <a:off x="725612" y="3174802"/>
            <a:ext cx="4164583" cy="127099"/>
          </a:xfrm>
          <a:prstGeom prst="rect">
            <a:avLst/>
          </a:prstGeom>
          <a:noFill/>
          <a:ln/>
        </p:spPr>
        <p:txBody>
          <a:bodyPr wrap="none" lIns="0" tIns="0" rIns="0" bIns="0" rtlCol="0" anchor="t"/>
          <a:lstStyle/>
          <a:p>
            <a:pPr algn="l" indent="0" marL="0">
              <a:lnSpc>
                <a:spcPct val="104000"/>
              </a:lnSpc>
              <a:buNone/>
            </a:pPr>
            <a:r>
              <a:rPr lang="en-US" sz="800" dirty="0">
                <a:solidFill>
                  <a:srgbClr val="2B4150"/>
                </a:solidFill>
                <a:latin typeface="MuseoModerno Medium" pitchFamily="34" charset="0"/>
                <a:ea typeface="MuseoModerno Medium" pitchFamily="34" charset="-122"/>
                <a:cs typeface="MuseoModerno Medium" pitchFamily="34" charset="-120"/>
              </a:rPr>
              <a:t>Confidence Levels Explicit</a:t>
            </a:r>
            <a:endParaRPr lang="en-US" sz="800" dirty="0"/>
          </a:p>
        </p:txBody>
      </p:sp>
      <p:sp>
        <p:nvSpPr>
          <p:cNvPr id="18" name="Text 12"/>
          <p:cNvSpPr/>
          <p:nvPr/>
        </p:nvSpPr>
        <p:spPr>
          <a:xfrm>
            <a:off x="725612" y="3355256"/>
            <a:ext cx="4164583" cy="215652"/>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Confidence factors are displayed alongside every scenario output. Outputs with confidence factors below 0.60 are flagged for additional diligence before proceeding to negotiation preparation.</a:t>
            </a:r>
            <a:endParaRPr lang="en-US" sz="600" dirty="0"/>
          </a:p>
        </p:txBody>
      </p:sp>
      <p:pic>
        <p:nvPicPr>
          <p:cNvPr id="1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96119" y="3677692"/>
            <a:ext cx="162744" cy="162744"/>
          </a:xfrm>
          <a:prstGeom prst="rect">
            <a:avLst/>
          </a:prstGeom>
        </p:spPr>
      </p:pic>
      <p:sp>
        <p:nvSpPr>
          <p:cNvPr id="20" name="Text 13"/>
          <p:cNvSpPr/>
          <p:nvPr/>
        </p:nvSpPr>
        <p:spPr>
          <a:xfrm>
            <a:off x="725612" y="3705671"/>
            <a:ext cx="4164583" cy="127099"/>
          </a:xfrm>
          <a:prstGeom prst="rect">
            <a:avLst/>
          </a:prstGeom>
          <a:noFill/>
          <a:ln/>
        </p:spPr>
        <p:txBody>
          <a:bodyPr wrap="none" lIns="0" tIns="0" rIns="0" bIns="0" rtlCol="0" anchor="t"/>
          <a:lstStyle/>
          <a:p>
            <a:pPr algn="l" indent="0" marL="0">
              <a:lnSpc>
                <a:spcPct val="104000"/>
              </a:lnSpc>
              <a:buNone/>
            </a:pPr>
            <a:r>
              <a:rPr lang="en-US" sz="800" dirty="0">
                <a:solidFill>
                  <a:srgbClr val="2B4150"/>
                </a:solidFill>
                <a:latin typeface="MuseoModerno Medium" pitchFamily="34" charset="0"/>
                <a:ea typeface="MuseoModerno Medium" pitchFamily="34" charset="-122"/>
                <a:cs typeface="MuseoModerno Medium" pitchFamily="34" charset="-120"/>
              </a:rPr>
              <a:t>AI Drafts Labeled</a:t>
            </a:r>
            <a:endParaRPr lang="en-US" sz="800" dirty="0"/>
          </a:p>
        </p:txBody>
      </p:sp>
      <p:sp>
        <p:nvSpPr>
          <p:cNvPr id="21" name="Text 14"/>
          <p:cNvSpPr/>
          <p:nvPr/>
        </p:nvSpPr>
        <p:spPr>
          <a:xfrm>
            <a:off x="725612" y="3886126"/>
            <a:ext cx="4164583" cy="215652"/>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All Claude-generated outputs carry a "Draft — pending human review" label until explicitly approved by a designated human reviewer. Labels are not removable by the AI layer.</a:t>
            </a:r>
            <a:endParaRPr lang="en-US" sz="600" dirty="0"/>
          </a:p>
        </p:txBody>
      </p:sp>
      <p:pic>
        <p:nvPicPr>
          <p:cNvPr id="2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96119" y="4208562"/>
            <a:ext cx="162744" cy="162744"/>
          </a:xfrm>
          <a:prstGeom prst="rect">
            <a:avLst/>
          </a:prstGeom>
        </p:spPr>
      </p:pic>
      <p:sp>
        <p:nvSpPr>
          <p:cNvPr id="23" name="Text 15"/>
          <p:cNvSpPr/>
          <p:nvPr/>
        </p:nvSpPr>
        <p:spPr>
          <a:xfrm>
            <a:off x="725612" y="4236541"/>
            <a:ext cx="4164583" cy="127099"/>
          </a:xfrm>
          <a:prstGeom prst="rect">
            <a:avLst/>
          </a:prstGeom>
          <a:noFill/>
          <a:ln/>
        </p:spPr>
        <p:txBody>
          <a:bodyPr wrap="none" lIns="0" tIns="0" rIns="0" bIns="0" rtlCol="0" anchor="t"/>
          <a:lstStyle/>
          <a:p>
            <a:pPr algn="l" indent="0" marL="0">
              <a:lnSpc>
                <a:spcPct val="104000"/>
              </a:lnSpc>
              <a:buNone/>
            </a:pPr>
            <a:r>
              <a:rPr lang="en-US" sz="800" dirty="0">
                <a:solidFill>
                  <a:srgbClr val="2B4150"/>
                </a:solidFill>
                <a:latin typeface="MuseoModerno Medium" pitchFamily="34" charset="0"/>
                <a:ea typeface="MuseoModerno Medium" pitchFamily="34" charset="-122"/>
                <a:cs typeface="MuseoModerno Medium" pitchFamily="34" charset="-120"/>
              </a:rPr>
              <a:t>Final Recommendations Human-Approved and Auditable</a:t>
            </a:r>
            <a:endParaRPr lang="en-US" sz="800" dirty="0"/>
          </a:p>
        </p:txBody>
      </p:sp>
      <p:sp>
        <p:nvSpPr>
          <p:cNvPr id="24" name="Text 16"/>
          <p:cNvSpPr/>
          <p:nvPr/>
        </p:nvSpPr>
        <p:spPr>
          <a:xfrm>
            <a:off x="725612" y="4416996"/>
            <a:ext cx="4164583" cy="215652"/>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The final negotiation brief and deal recommendation are approved by a named individual. The approval, rationale, and version of the underlying model are logged in the decision history.</a:t>
            </a:r>
            <a:endParaRPr lang="en-US" sz="600" dirty="0"/>
          </a:p>
        </p:txBody>
      </p:sp>
      <p:sp>
        <p:nvSpPr>
          <p:cNvPr id="25" name="Text 17"/>
          <p:cNvSpPr/>
          <p:nvPr/>
        </p:nvSpPr>
        <p:spPr>
          <a:xfrm>
            <a:off x="5093494" y="1259235"/>
            <a:ext cx="3559076" cy="127099"/>
          </a:xfrm>
          <a:prstGeom prst="rect">
            <a:avLst/>
          </a:prstGeom>
          <a:noFill/>
          <a:ln/>
        </p:spPr>
        <p:txBody>
          <a:bodyPr wrap="none" lIns="0" tIns="0" rIns="0" bIns="0" rtlCol="0" anchor="t"/>
          <a:lstStyle/>
          <a:p>
            <a:pPr algn="l" indent="0" marL="0">
              <a:lnSpc>
                <a:spcPct val="104000"/>
              </a:lnSpc>
              <a:buNone/>
            </a:pPr>
            <a:r>
              <a:rPr lang="en-US" sz="800" dirty="0">
                <a:solidFill>
                  <a:srgbClr val="124E73"/>
                </a:solidFill>
                <a:latin typeface="MuseoModerno Medium" pitchFamily="34" charset="0"/>
                <a:ea typeface="MuseoModerno Medium" pitchFamily="34" charset="-122"/>
                <a:cs typeface="MuseoModerno Medium" pitchFamily="34" charset="-120"/>
              </a:rPr>
              <a:t>Decision History Timeline — Illustrative</a:t>
            </a:r>
            <a:endParaRPr lang="en-US" sz="800" dirty="0"/>
          </a:p>
        </p:txBody>
      </p:sp>
      <p:sp>
        <p:nvSpPr>
          <p:cNvPr id="26" name="Text 18"/>
          <p:cNvSpPr/>
          <p:nvPr/>
        </p:nvSpPr>
        <p:spPr>
          <a:xfrm>
            <a:off x="5093494" y="1439689"/>
            <a:ext cx="3559076" cy="323478"/>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The assumption register and decision log create a traceable record of how recommendations evolve as evidence improves. The timeline below shows an illustrative assumption change and its downstream effect on the recommendation.</a:t>
            </a:r>
            <a:endParaRPr lang="en-US" sz="600" dirty="0"/>
          </a:p>
        </p:txBody>
      </p:sp>
      <p:sp>
        <p:nvSpPr>
          <p:cNvPr id="27" name="Shape 19"/>
          <p:cNvSpPr/>
          <p:nvPr/>
        </p:nvSpPr>
        <p:spPr>
          <a:xfrm>
            <a:off x="6868269" y="1823219"/>
            <a:ext cx="9525" cy="2396282"/>
          </a:xfrm>
          <a:prstGeom prst="roundRect">
            <a:avLst>
              <a:gd name="adj" fmla="val 50000"/>
            </a:avLst>
          </a:prstGeom>
          <a:solidFill>
            <a:srgbClr val="D9D4C9"/>
          </a:solidFill>
          <a:ln/>
        </p:spPr>
      </p:sp>
      <p:sp>
        <p:nvSpPr>
          <p:cNvPr id="28" name="Shape 20"/>
          <p:cNvSpPr/>
          <p:nvPr/>
        </p:nvSpPr>
        <p:spPr>
          <a:xfrm>
            <a:off x="6719813" y="1909986"/>
            <a:ext cx="162744" cy="9525"/>
          </a:xfrm>
          <a:prstGeom prst="roundRect">
            <a:avLst>
              <a:gd name="adj" fmla="val 50000"/>
            </a:avLst>
          </a:prstGeom>
          <a:solidFill>
            <a:srgbClr val="D9D4C9"/>
          </a:solidFill>
          <a:ln/>
        </p:spPr>
      </p:sp>
      <p:sp>
        <p:nvSpPr>
          <p:cNvPr id="29" name="Shape 21"/>
          <p:cNvSpPr/>
          <p:nvPr/>
        </p:nvSpPr>
        <p:spPr>
          <a:xfrm>
            <a:off x="6842522" y="1884238"/>
            <a:ext cx="61020" cy="61020"/>
          </a:xfrm>
          <a:prstGeom prst="ellipse">
            <a:avLst/>
          </a:prstGeom>
          <a:solidFill>
            <a:srgbClr val="325F7B"/>
          </a:solidFill>
          <a:ln/>
        </p:spPr>
      </p:sp>
      <p:sp>
        <p:nvSpPr>
          <p:cNvPr id="30" name="Text 22"/>
          <p:cNvSpPr/>
          <p:nvPr/>
        </p:nvSpPr>
        <p:spPr>
          <a:xfrm>
            <a:off x="5093494" y="1851199"/>
            <a:ext cx="1453976" cy="127099"/>
          </a:xfrm>
          <a:prstGeom prst="rect">
            <a:avLst/>
          </a:prstGeom>
          <a:noFill/>
          <a:ln/>
        </p:spPr>
        <p:txBody>
          <a:bodyPr wrap="none" lIns="0" tIns="0" rIns="0" bIns="0" rtlCol="0" anchor="t"/>
          <a:lstStyle/>
          <a:p>
            <a:pPr algn="r" indent="0" marL="0">
              <a:lnSpc>
                <a:spcPct val="104000"/>
              </a:lnSpc>
              <a:buNone/>
            </a:pPr>
            <a:r>
              <a:rPr lang="en-US" sz="800" dirty="0">
                <a:solidFill>
                  <a:srgbClr val="2B4150"/>
                </a:solidFill>
                <a:latin typeface="MuseoModerno Medium" pitchFamily="34" charset="0"/>
                <a:ea typeface="MuseoModerno Medium" pitchFamily="34" charset="-122"/>
                <a:cs typeface="MuseoModerno Medium" pitchFamily="34" charset="-120"/>
              </a:rPr>
              <a:t>Week 1 — Initial Valuation</a:t>
            </a:r>
            <a:endParaRPr lang="en-US" sz="800" dirty="0"/>
          </a:p>
        </p:txBody>
      </p:sp>
      <p:sp>
        <p:nvSpPr>
          <p:cNvPr id="31" name="Text 23"/>
          <p:cNvSpPr/>
          <p:nvPr/>
        </p:nvSpPr>
        <p:spPr>
          <a:xfrm>
            <a:off x="5093494" y="2031653"/>
            <a:ext cx="1453976" cy="539130"/>
          </a:xfrm>
          <a:prstGeom prst="rect">
            <a:avLst/>
          </a:prstGeom>
          <a:noFill/>
          <a:ln/>
        </p:spPr>
        <p:txBody>
          <a:bodyPr wrap="square" lIns="0" tIns="0" rIns="0" bIns="0" rtlCol="0" anchor="t">
            <a:normAutofit/>
          </a:bodyPr>
          <a:lstStyle/>
          <a:p>
            <a:pPr algn="r"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Distribution value assumed at $8M (base) based on Atlas stated pipeline. Confidence factor: 0.72. Base case confidence-adjusted value: $25.2M. Recommendation: proceed to pilot negotiation.</a:t>
            </a:r>
            <a:endParaRPr lang="en-US" sz="600" dirty="0"/>
          </a:p>
        </p:txBody>
      </p:sp>
      <p:sp>
        <p:nvSpPr>
          <p:cNvPr id="32" name="Shape 24"/>
          <p:cNvSpPr/>
          <p:nvPr/>
        </p:nvSpPr>
        <p:spPr>
          <a:xfrm>
            <a:off x="6863507" y="2342331"/>
            <a:ext cx="162744" cy="9525"/>
          </a:xfrm>
          <a:prstGeom prst="roundRect">
            <a:avLst>
              <a:gd name="adj" fmla="val 50000"/>
            </a:avLst>
          </a:prstGeom>
          <a:solidFill>
            <a:srgbClr val="D9D4C9"/>
          </a:solidFill>
          <a:ln/>
        </p:spPr>
      </p:sp>
      <p:sp>
        <p:nvSpPr>
          <p:cNvPr id="33" name="Shape 25"/>
          <p:cNvSpPr/>
          <p:nvPr/>
        </p:nvSpPr>
        <p:spPr>
          <a:xfrm>
            <a:off x="6842522" y="2316584"/>
            <a:ext cx="61020" cy="61020"/>
          </a:xfrm>
          <a:prstGeom prst="ellipse">
            <a:avLst/>
          </a:prstGeom>
          <a:solidFill>
            <a:srgbClr val="325F7B"/>
          </a:solidFill>
          <a:ln/>
        </p:spPr>
      </p:sp>
      <p:sp>
        <p:nvSpPr>
          <p:cNvPr id="34" name="Text 26"/>
          <p:cNvSpPr/>
          <p:nvPr/>
        </p:nvSpPr>
        <p:spPr>
          <a:xfrm>
            <a:off x="7198593" y="2283544"/>
            <a:ext cx="1453976" cy="254198"/>
          </a:xfrm>
          <a:prstGeom prst="rect">
            <a:avLst/>
          </a:prstGeom>
          <a:noFill/>
          <a:ln/>
        </p:spPr>
        <p:txBody>
          <a:bodyPr wrap="square" lIns="0" tIns="0" rIns="0" bIns="0" rtlCol="0" anchor="t">
            <a:normAutofit/>
          </a:bodyPr>
          <a:lstStyle/>
          <a:p>
            <a:pPr algn="l" indent="0" marL="0">
              <a:lnSpc>
                <a:spcPct val="104000"/>
              </a:lnSpc>
              <a:buNone/>
            </a:pPr>
            <a:r>
              <a:rPr lang="en-US" sz="800" dirty="0">
                <a:solidFill>
                  <a:srgbClr val="2B4150"/>
                </a:solidFill>
                <a:latin typeface="MuseoModerno Medium" pitchFamily="34" charset="0"/>
                <a:ea typeface="MuseoModerno Medium" pitchFamily="34" charset="-122"/>
                <a:cs typeface="MuseoModerno Medium" pitchFamily="34" charset="-120"/>
              </a:rPr>
              <a:t>Week 3 — Assumption Challenged</a:t>
            </a:r>
            <a:endParaRPr lang="en-US" sz="800" dirty="0"/>
          </a:p>
        </p:txBody>
      </p:sp>
      <p:sp>
        <p:nvSpPr>
          <p:cNvPr id="35" name="Text 27"/>
          <p:cNvSpPr/>
          <p:nvPr/>
        </p:nvSpPr>
        <p:spPr>
          <a:xfrm>
            <a:off x="7198593" y="2591098"/>
            <a:ext cx="1453976" cy="539130"/>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Strategy team requests evidence for Atlas enterprise channel. Atlas provides pipeline data; third-party reference calls incomplete. Distribution value revised to $4M. Confidence factor revised to 0.64.</a:t>
            </a:r>
            <a:endParaRPr lang="en-US" sz="600" dirty="0"/>
          </a:p>
        </p:txBody>
      </p:sp>
      <p:sp>
        <p:nvSpPr>
          <p:cNvPr id="36" name="Shape 28"/>
          <p:cNvSpPr/>
          <p:nvPr/>
        </p:nvSpPr>
        <p:spPr>
          <a:xfrm>
            <a:off x="6719813" y="2833018"/>
            <a:ext cx="162744" cy="9525"/>
          </a:xfrm>
          <a:prstGeom prst="roundRect">
            <a:avLst>
              <a:gd name="adj" fmla="val 50000"/>
            </a:avLst>
          </a:prstGeom>
          <a:solidFill>
            <a:srgbClr val="D9D4C9"/>
          </a:solidFill>
          <a:ln/>
        </p:spPr>
      </p:sp>
      <p:sp>
        <p:nvSpPr>
          <p:cNvPr id="37" name="Shape 29"/>
          <p:cNvSpPr/>
          <p:nvPr/>
        </p:nvSpPr>
        <p:spPr>
          <a:xfrm>
            <a:off x="6842522" y="2807271"/>
            <a:ext cx="61020" cy="61020"/>
          </a:xfrm>
          <a:prstGeom prst="ellipse">
            <a:avLst/>
          </a:prstGeom>
          <a:solidFill>
            <a:srgbClr val="325F7B"/>
          </a:solidFill>
          <a:ln/>
        </p:spPr>
      </p:sp>
      <p:sp>
        <p:nvSpPr>
          <p:cNvPr id="38" name="Text 30"/>
          <p:cNvSpPr/>
          <p:nvPr/>
        </p:nvSpPr>
        <p:spPr>
          <a:xfrm>
            <a:off x="5093494" y="2774231"/>
            <a:ext cx="1453976" cy="254198"/>
          </a:xfrm>
          <a:prstGeom prst="rect">
            <a:avLst/>
          </a:prstGeom>
          <a:noFill/>
          <a:ln/>
        </p:spPr>
        <p:txBody>
          <a:bodyPr wrap="square" lIns="0" tIns="0" rIns="0" bIns="0" rtlCol="0" anchor="t">
            <a:normAutofit/>
          </a:bodyPr>
          <a:lstStyle/>
          <a:p>
            <a:pPr algn="r" indent="0" marL="0">
              <a:lnSpc>
                <a:spcPct val="104000"/>
              </a:lnSpc>
              <a:buNone/>
            </a:pPr>
            <a:r>
              <a:rPr lang="en-US" sz="800" dirty="0">
                <a:solidFill>
                  <a:srgbClr val="2B4150"/>
                </a:solidFill>
                <a:latin typeface="MuseoModerno Medium" pitchFamily="34" charset="0"/>
                <a:ea typeface="MuseoModerno Medium" pitchFamily="34" charset="-122"/>
                <a:cs typeface="MuseoModerno Medium" pitchFamily="34" charset="-120"/>
              </a:rPr>
              <a:t>Week 4 — Recommendation Updated</a:t>
            </a:r>
            <a:endParaRPr lang="en-US" sz="800" dirty="0"/>
          </a:p>
        </p:txBody>
      </p:sp>
      <p:sp>
        <p:nvSpPr>
          <p:cNvPr id="39" name="Text 31"/>
          <p:cNvSpPr/>
          <p:nvPr/>
        </p:nvSpPr>
        <p:spPr>
          <a:xfrm>
            <a:off x="5093494" y="3081784"/>
            <a:ext cx="1453976" cy="646956"/>
          </a:xfrm>
          <a:prstGeom prst="rect">
            <a:avLst/>
          </a:prstGeom>
          <a:noFill/>
          <a:ln/>
        </p:spPr>
        <p:txBody>
          <a:bodyPr wrap="square" lIns="0" tIns="0" rIns="0" bIns="0" rtlCol="0" anchor="t">
            <a:normAutofit/>
          </a:bodyPr>
          <a:lstStyle/>
          <a:p>
            <a:pPr algn="r"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Revised base case confidence-adjusted value: $19.8M. Gap to proposed cost widens to –$11.2M. Recommendation updated: pilot required before any full-term commitment; exclusivity must be milestone-gated.</a:t>
            </a:r>
            <a:endParaRPr lang="en-US" sz="600" dirty="0"/>
          </a:p>
        </p:txBody>
      </p:sp>
      <p:sp>
        <p:nvSpPr>
          <p:cNvPr id="40" name="Shape 32"/>
          <p:cNvSpPr/>
          <p:nvPr/>
        </p:nvSpPr>
        <p:spPr>
          <a:xfrm>
            <a:off x="6863507" y="3377654"/>
            <a:ext cx="162744" cy="9525"/>
          </a:xfrm>
          <a:prstGeom prst="roundRect">
            <a:avLst>
              <a:gd name="adj" fmla="val 50000"/>
            </a:avLst>
          </a:prstGeom>
          <a:solidFill>
            <a:srgbClr val="D9D4C9"/>
          </a:solidFill>
          <a:ln/>
        </p:spPr>
      </p:sp>
      <p:sp>
        <p:nvSpPr>
          <p:cNvPr id="41" name="Shape 33"/>
          <p:cNvSpPr/>
          <p:nvPr/>
        </p:nvSpPr>
        <p:spPr>
          <a:xfrm>
            <a:off x="6842522" y="3351907"/>
            <a:ext cx="61020" cy="61020"/>
          </a:xfrm>
          <a:prstGeom prst="ellipse">
            <a:avLst/>
          </a:prstGeom>
          <a:solidFill>
            <a:srgbClr val="325F7B"/>
          </a:solidFill>
          <a:ln/>
        </p:spPr>
      </p:sp>
      <p:sp>
        <p:nvSpPr>
          <p:cNvPr id="42" name="Text 34"/>
          <p:cNvSpPr/>
          <p:nvPr/>
        </p:nvSpPr>
        <p:spPr>
          <a:xfrm>
            <a:off x="7198593" y="3318867"/>
            <a:ext cx="1453976" cy="254198"/>
          </a:xfrm>
          <a:prstGeom prst="rect">
            <a:avLst/>
          </a:prstGeom>
          <a:noFill/>
          <a:ln/>
        </p:spPr>
        <p:txBody>
          <a:bodyPr wrap="square" lIns="0" tIns="0" rIns="0" bIns="0" rtlCol="0" anchor="t">
            <a:normAutofit/>
          </a:bodyPr>
          <a:lstStyle/>
          <a:p>
            <a:pPr algn="l" indent="0" marL="0">
              <a:lnSpc>
                <a:spcPct val="104000"/>
              </a:lnSpc>
              <a:buNone/>
            </a:pPr>
            <a:r>
              <a:rPr lang="en-US" sz="800" dirty="0">
                <a:solidFill>
                  <a:srgbClr val="2B4150"/>
                </a:solidFill>
                <a:latin typeface="MuseoModerno Medium" pitchFamily="34" charset="0"/>
                <a:ea typeface="MuseoModerno Medium" pitchFamily="34" charset="-122"/>
                <a:cs typeface="MuseoModerno Medium" pitchFamily="34" charset="-120"/>
              </a:rPr>
              <a:t>Week 6 — Human Gate Approved</a:t>
            </a:r>
            <a:endParaRPr lang="en-US" sz="800" dirty="0"/>
          </a:p>
        </p:txBody>
      </p:sp>
      <p:sp>
        <p:nvSpPr>
          <p:cNvPr id="43" name="Text 35"/>
          <p:cNvSpPr/>
          <p:nvPr/>
        </p:nvSpPr>
        <p:spPr>
          <a:xfrm>
            <a:off x="7198593" y="3626421"/>
            <a:ext cx="1453976" cy="539130"/>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2B4150"/>
                </a:solidFill>
                <a:latin typeface="Source Sans 3" pitchFamily="34" charset="0"/>
                <a:ea typeface="Source Sans 3" pitchFamily="34" charset="-122"/>
                <a:cs typeface="Source Sans 3" pitchFamily="34" charset="-120"/>
              </a:rPr>
              <a:t>Updated recommendation reviewed and approved by Finance and Partnership lead. Decision log entry created. Negotiation brief issued with revised position map reflecting updated valuation.</a:t>
            </a:r>
            <a:endParaRPr lang="en-US" sz="600" dirty="0"/>
          </a:p>
        </p:txBody>
      </p:sp>
      <p:sp>
        <p:nvSpPr>
          <p:cNvPr id="44" name="Shape 36"/>
          <p:cNvSpPr/>
          <p:nvPr/>
        </p:nvSpPr>
        <p:spPr>
          <a:xfrm>
            <a:off x="5093494" y="4279553"/>
            <a:ext cx="3559076" cy="352425"/>
          </a:xfrm>
          <a:prstGeom prst="roundRect">
            <a:avLst>
              <a:gd name="adj" fmla="val 3465"/>
            </a:avLst>
          </a:prstGeom>
          <a:solidFill>
            <a:srgbClr val="DBE8F0"/>
          </a:solidFill>
          <a:ln/>
        </p:spPr>
      </p:sp>
      <p:pic>
        <p:nvPicPr>
          <p:cNvPr id="45" name="Image 6" descr="preencoded.png">    </p:cNvPr>
          <p:cNvPicPr>
            <a:picLocks noChangeAspect="1"/>
          </p:cNvPicPr>
          <p:nvPr/>
        </p:nvPicPr>
        <p:blipFill>
          <a:blip r:embed="rId13"/>
          <a:stretch>
            <a:fillRect/>
          </a:stretch>
        </p:blipFill>
        <p:spPr>
          <a:xfrm>
            <a:off x="5174828" y="4386188"/>
            <a:ext cx="101724" cy="81335"/>
          </a:xfrm>
          <a:prstGeom prst="rect">
            <a:avLst/>
          </a:prstGeom>
        </p:spPr>
      </p:pic>
      <p:sp>
        <p:nvSpPr>
          <p:cNvPr id="46" name="Text 37"/>
          <p:cNvSpPr/>
          <p:nvPr/>
        </p:nvSpPr>
        <p:spPr>
          <a:xfrm>
            <a:off x="5357887" y="4347939"/>
            <a:ext cx="3213348" cy="215652"/>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000000"/>
                </a:solidFill>
                <a:latin typeface="Source Sans 3" pitchFamily="34" charset="0"/>
                <a:ea typeface="Source Sans 3" pitchFamily="34" charset="-122"/>
                <a:cs typeface="Source Sans 3" pitchFamily="34" charset="-120"/>
              </a:rPr>
              <a:t>Decision history logs are retained regardless of deal outcome and feed the benchmark library for future comparable retrieval. </a:t>
            </a:r>
            <a:pPr algn="l" indent="0" marL="0">
              <a:lnSpc>
                <a:spcPct val="110000"/>
              </a:lnSpc>
              <a:buNone/>
            </a:pPr>
            <a:r>
              <a:rPr lang="en-US" sz="600" b="1" dirty="0">
                <a:solidFill>
                  <a:srgbClr val="000000"/>
                </a:solidFill>
                <a:latin typeface="Source Sans 3 Bold" pitchFamily="34" charset="0"/>
                <a:ea typeface="Source Sans 3 Bold" pitchFamily="34" charset="-122"/>
                <a:cs typeface="Source Sans 3 Bold" pitchFamily="34" charset="-120"/>
              </a:rPr>
              <a:t>Illustrative only.</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96119" y="384646"/>
            <a:ext cx="693613" cy="153144"/>
          </a:xfrm>
          <a:prstGeom prst="roundRect">
            <a:avLst>
              <a:gd name="adj" fmla="val 7897"/>
            </a:avLst>
          </a:prstGeom>
          <a:solidFill>
            <a:srgbClr val="DBE8F0"/>
          </a:solidFill>
          <a:ln/>
        </p:spPr>
      </p:sp>
      <p:sp>
        <p:nvSpPr>
          <p:cNvPr id="3" name="Text 1"/>
          <p:cNvSpPr/>
          <p:nvPr/>
        </p:nvSpPr>
        <p:spPr>
          <a:xfrm>
            <a:off x="556543" y="414858"/>
            <a:ext cx="1029965" cy="92720"/>
          </a:xfrm>
          <a:prstGeom prst="rect">
            <a:avLst/>
          </a:prstGeom>
          <a:noFill/>
          <a:ln/>
        </p:spPr>
        <p:txBody>
          <a:bodyPr wrap="none" lIns="0" tIns="0" rIns="0" bIns="0" rtlCol="0" anchor="t"/>
          <a:lstStyle/>
          <a:p>
            <a:pPr algn="l" indent="0" marL="0">
              <a:lnSpc>
                <a:spcPct val="96000"/>
              </a:lnSpc>
              <a:buNone/>
            </a:pPr>
            <a:r>
              <a:rPr lang="en-US" sz="600" dirty="0">
                <a:solidFill>
                  <a:srgbClr val="2B4150"/>
                </a:solidFill>
                <a:latin typeface="Source Sans 3" pitchFamily="34" charset="0"/>
                <a:ea typeface="Source Sans 3" pitchFamily="34" charset="-122"/>
                <a:cs typeface="Source Sans 3" pitchFamily="34" charset="-120"/>
              </a:rPr>
              <a:t>PROOF OF WORK</a:t>
            </a:r>
            <a:endParaRPr lang="en-US" sz="600" dirty="0"/>
          </a:p>
        </p:txBody>
      </p:sp>
      <p:sp>
        <p:nvSpPr>
          <p:cNvPr id="4" name="Text 2"/>
          <p:cNvSpPr/>
          <p:nvPr/>
        </p:nvSpPr>
        <p:spPr>
          <a:xfrm>
            <a:off x="496119" y="570533"/>
            <a:ext cx="8151763" cy="314920"/>
          </a:xfrm>
          <a:prstGeom prst="rect">
            <a:avLst/>
          </a:prstGeom>
          <a:noFill/>
          <a:ln/>
        </p:spPr>
        <p:txBody>
          <a:bodyPr wrap="none" lIns="0" tIns="0" rIns="0" bIns="0" rtlCol="0" anchor="t"/>
          <a:lstStyle/>
          <a:p>
            <a:pPr algn="l" indent="0" marL="0">
              <a:lnSpc>
                <a:spcPct val="104000"/>
              </a:lnSpc>
              <a:buNone/>
            </a:pPr>
            <a:r>
              <a:rPr lang="en-US" sz="1950" dirty="0">
                <a:solidFill>
                  <a:srgbClr val="124E73"/>
                </a:solidFill>
                <a:latin typeface="MuseoModerno Medium" pitchFamily="34" charset="0"/>
                <a:ea typeface="MuseoModerno Medium" pitchFamily="34" charset="-122"/>
                <a:cs typeface="MuseoModerno Medium" pitchFamily="34" charset="-120"/>
              </a:rPr>
              <a:t>What the Prototype Demonstrates</a:t>
            </a:r>
            <a:endParaRPr lang="en-US" sz="1950" dirty="0"/>
          </a:p>
        </p:txBody>
      </p:sp>
      <p:sp>
        <p:nvSpPr>
          <p:cNvPr id="5" name="Text 3"/>
          <p:cNvSpPr/>
          <p:nvPr/>
        </p:nvSpPr>
        <p:spPr>
          <a:xfrm>
            <a:off x="496119" y="918195"/>
            <a:ext cx="8151763" cy="157460"/>
          </a:xfrm>
          <a:prstGeom prst="rect">
            <a:avLst/>
          </a:prstGeom>
          <a:noFill/>
          <a:ln/>
        </p:spPr>
        <p:txBody>
          <a:bodyPr wrap="none" lIns="0" tIns="0" rIns="0" bIns="0" rtlCol="0" anchor="t"/>
          <a:lstStyle/>
          <a:p>
            <a:pPr algn="l" indent="0" marL="0">
              <a:lnSpc>
                <a:spcPct val="104000"/>
              </a:lnSpc>
              <a:buNone/>
            </a:pPr>
            <a:r>
              <a:rPr lang="en-US" sz="950" dirty="0">
                <a:solidFill>
                  <a:srgbClr val="124E73"/>
                </a:solidFill>
                <a:latin typeface="MuseoModerno Medium" pitchFamily="34" charset="0"/>
                <a:ea typeface="MuseoModerno Medium" pitchFamily="34" charset="-122"/>
                <a:cs typeface="MuseoModerno Medium" pitchFamily="34" charset="-120"/>
              </a:rPr>
              <a:t>A working model of the role, not a speculative essay.</a:t>
            </a:r>
            <a:endParaRPr lang="en-US" sz="950" dirty="0"/>
          </a:p>
        </p:txBody>
      </p:sp>
      <p:sp>
        <p:nvSpPr>
          <p:cNvPr id="6" name="Text 4"/>
          <p:cNvSpPr/>
          <p:nvPr/>
        </p:nvSpPr>
        <p:spPr>
          <a:xfrm>
            <a:off x="496119" y="1198438"/>
            <a:ext cx="8151763" cy="292150"/>
          </a:xfrm>
          <a:prstGeom prst="rect">
            <a:avLst/>
          </a:prstGeom>
          <a:noFill/>
          <a:ln/>
        </p:spPr>
        <p:txBody>
          <a:bodyPr wrap="square" lIns="0" tIns="0" rIns="0" bIns="0" rtlCol="0" anchor="t">
            <a:normAutofit/>
          </a:bodyPr>
          <a:lstStyle/>
          <a:p>
            <a:pPr algn="l" indent="0" marL="0">
              <a:lnSpc>
                <a:spcPct val="121000"/>
              </a:lnSpc>
              <a:buNone/>
            </a:pPr>
            <a:r>
              <a:rPr lang="en-US" sz="750" dirty="0">
                <a:solidFill>
                  <a:srgbClr val="2B4150"/>
                </a:solidFill>
                <a:latin typeface="Source Sans 3" pitchFamily="34" charset="0"/>
                <a:ea typeface="Source Sans 3" pitchFamily="34" charset="-122"/>
                <a:cs typeface="Source Sans 3" pitchFamily="34" charset="-120"/>
              </a:rPr>
              <a:t>This presentation — and the analytical system it describes — demonstrates that the role of an AI-enabled partnership function is not to replace judgment but to make judgment more transparent, more defensible, and more consistently applied at scale. The four capability domains below represent the working scope of the prototype.</a:t>
            </a:r>
            <a:endParaRPr lang="en-US" sz="750" dirty="0"/>
          </a:p>
        </p:txBody>
      </p:sp>
      <p:sp>
        <p:nvSpPr>
          <p:cNvPr id="7" name="Shape 5"/>
          <p:cNvSpPr/>
          <p:nvPr/>
        </p:nvSpPr>
        <p:spPr>
          <a:xfrm>
            <a:off x="496119" y="1582713"/>
            <a:ext cx="4034954" cy="992386"/>
          </a:xfrm>
          <a:prstGeom prst="roundRect">
            <a:avLst>
              <a:gd name="adj" fmla="val 1523"/>
            </a:avLst>
          </a:prstGeom>
          <a:solidFill>
            <a:srgbClr val="F3EEE3"/>
          </a:solidFill>
          <a:ln/>
        </p:spPr>
      </p:sp>
      <p:sp>
        <p:nvSpPr>
          <p:cNvPr id="8" name="Text 6"/>
          <p:cNvSpPr/>
          <p:nvPr/>
        </p:nvSpPr>
        <p:spPr>
          <a:xfrm>
            <a:off x="596875" y="1683469"/>
            <a:ext cx="3833440" cy="157460"/>
          </a:xfrm>
          <a:prstGeom prst="rect">
            <a:avLst/>
          </a:prstGeom>
          <a:noFill/>
          <a:ln/>
        </p:spPr>
        <p:txBody>
          <a:bodyPr wrap="none" lIns="0" tIns="0" rIns="0" bIns="0" rtlCol="0" anchor="t"/>
          <a:lstStyle/>
          <a:p>
            <a:pPr algn="l" indent="0" marL="0">
              <a:lnSpc>
                <a:spcPct val="104000"/>
              </a:lnSpc>
              <a:buNone/>
            </a:pPr>
            <a:r>
              <a:rPr lang="en-US" sz="950" dirty="0">
                <a:solidFill>
                  <a:srgbClr val="2B4150"/>
                </a:solidFill>
                <a:latin typeface="MuseoModerno Medium" pitchFamily="34" charset="0"/>
                <a:ea typeface="MuseoModerno Medium" pitchFamily="34" charset="-122"/>
                <a:cs typeface="MuseoModerno Medium" pitchFamily="34" charset="-120"/>
              </a:rPr>
              <a:t>Valuation Frameworks &amp; Financial Modeling</a:t>
            </a:r>
            <a:endParaRPr lang="en-US" sz="950" dirty="0"/>
          </a:p>
        </p:txBody>
      </p:sp>
      <p:sp>
        <p:nvSpPr>
          <p:cNvPr id="9" name="Text 7"/>
          <p:cNvSpPr/>
          <p:nvPr/>
        </p:nvSpPr>
        <p:spPr>
          <a:xfrm>
            <a:off x="596875" y="1890043"/>
            <a:ext cx="3833440" cy="584299"/>
          </a:xfrm>
          <a:prstGeom prst="rect">
            <a:avLst/>
          </a:prstGeom>
          <a:noFill/>
          <a:ln/>
        </p:spPr>
        <p:txBody>
          <a:bodyPr wrap="square" lIns="0" tIns="0" rIns="0" bIns="0" rtlCol="0" anchor="t">
            <a:normAutofit/>
          </a:bodyPr>
          <a:lstStyle/>
          <a:p>
            <a:pPr algn="l" indent="0" marL="0">
              <a:lnSpc>
                <a:spcPct val="121000"/>
              </a:lnSpc>
              <a:buNone/>
            </a:pPr>
            <a:r>
              <a:rPr lang="en-US" sz="750" dirty="0">
                <a:solidFill>
                  <a:srgbClr val="2B4150"/>
                </a:solidFill>
                <a:latin typeface="Source Sans 3" pitchFamily="34" charset="0"/>
                <a:ea typeface="Source Sans 3" pitchFamily="34" charset="-122"/>
                <a:cs typeface="Source Sans 3" pitchFamily="34" charset="-120"/>
              </a:rPr>
              <a:t>A structured value stack with explicit positive and negative components; scenario analysis across downside, base, and upside cases; confidence-factor methodology with five scored dimensions; sensitivity analysis tied to the assumption register. All assumptions visible and challengeable.</a:t>
            </a:r>
            <a:endParaRPr lang="en-US" sz="750" dirty="0"/>
          </a:p>
        </p:txBody>
      </p:sp>
      <p:sp>
        <p:nvSpPr>
          <p:cNvPr id="10" name="Shape 8"/>
          <p:cNvSpPr/>
          <p:nvPr/>
        </p:nvSpPr>
        <p:spPr>
          <a:xfrm>
            <a:off x="4612928" y="1582713"/>
            <a:ext cx="4034954" cy="992386"/>
          </a:xfrm>
          <a:prstGeom prst="roundRect">
            <a:avLst>
              <a:gd name="adj" fmla="val 1523"/>
            </a:avLst>
          </a:prstGeom>
          <a:solidFill>
            <a:srgbClr val="F3EEE3"/>
          </a:solidFill>
          <a:ln/>
        </p:spPr>
      </p:sp>
      <p:sp>
        <p:nvSpPr>
          <p:cNvPr id="11" name="Text 9"/>
          <p:cNvSpPr/>
          <p:nvPr/>
        </p:nvSpPr>
        <p:spPr>
          <a:xfrm>
            <a:off x="4713684" y="1683469"/>
            <a:ext cx="3833440" cy="157460"/>
          </a:xfrm>
          <a:prstGeom prst="rect">
            <a:avLst/>
          </a:prstGeom>
          <a:noFill/>
          <a:ln/>
        </p:spPr>
        <p:txBody>
          <a:bodyPr wrap="none" lIns="0" tIns="0" rIns="0" bIns="0" rtlCol="0" anchor="t"/>
          <a:lstStyle/>
          <a:p>
            <a:pPr algn="l" indent="0" marL="0">
              <a:lnSpc>
                <a:spcPct val="104000"/>
              </a:lnSpc>
              <a:buNone/>
            </a:pPr>
            <a:r>
              <a:rPr lang="en-US" sz="950" dirty="0">
                <a:solidFill>
                  <a:srgbClr val="2B4150"/>
                </a:solidFill>
                <a:latin typeface="MuseoModerno Medium" pitchFamily="34" charset="0"/>
                <a:ea typeface="MuseoModerno Medium" pitchFamily="34" charset="-122"/>
                <a:cs typeface="MuseoModerno Medium" pitchFamily="34" charset="-120"/>
              </a:rPr>
              <a:t>Deal Support &amp; Negotiation Strategy</a:t>
            </a:r>
            <a:endParaRPr lang="en-US" sz="950" dirty="0"/>
          </a:p>
        </p:txBody>
      </p:sp>
      <p:sp>
        <p:nvSpPr>
          <p:cNvPr id="12" name="Text 10"/>
          <p:cNvSpPr/>
          <p:nvPr/>
        </p:nvSpPr>
        <p:spPr>
          <a:xfrm>
            <a:off x="4713684" y="1890043"/>
            <a:ext cx="3833440" cy="584299"/>
          </a:xfrm>
          <a:prstGeom prst="rect">
            <a:avLst/>
          </a:prstGeom>
          <a:noFill/>
          <a:ln/>
        </p:spPr>
        <p:txBody>
          <a:bodyPr wrap="square" lIns="0" tIns="0" rIns="0" bIns="0" rtlCol="0" anchor="t">
            <a:normAutofit/>
          </a:bodyPr>
          <a:lstStyle/>
          <a:p>
            <a:pPr algn="l" indent="0" marL="0">
              <a:lnSpc>
                <a:spcPct val="121000"/>
              </a:lnSpc>
              <a:buNone/>
            </a:pPr>
            <a:r>
              <a:rPr lang="en-US" sz="750" dirty="0">
                <a:solidFill>
                  <a:srgbClr val="2B4150"/>
                </a:solidFill>
                <a:latin typeface="Source Sans 3" pitchFamily="34" charset="0"/>
                <a:ea typeface="Source Sans 3" pitchFamily="34" charset="-122"/>
                <a:cs typeface="Source Sans 3" pitchFamily="34" charset="-120"/>
              </a:rPr>
              <a:t>Opening position, target range, reservation value, and walk-away point — documented before negotiation begins. Give/get matrix with pre-approved trades. Comparable-transaction normalization with explicit comparability scoring and adjustment notes. Pilot structure design with milestone-based triggers.</a:t>
            </a:r>
            <a:endParaRPr lang="en-US" sz="750" dirty="0"/>
          </a:p>
        </p:txBody>
      </p:sp>
      <p:sp>
        <p:nvSpPr>
          <p:cNvPr id="13" name="Shape 11"/>
          <p:cNvSpPr/>
          <p:nvPr/>
        </p:nvSpPr>
        <p:spPr>
          <a:xfrm>
            <a:off x="496119" y="2656954"/>
            <a:ext cx="4034954" cy="992386"/>
          </a:xfrm>
          <a:prstGeom prst="roundRect">
            <a:avLst>
              <a:gd name="adj" fmla="val 1523"/>
            </a:avLst>
          </a:prstGeom>
          <a:solidFill>
            <a:srgbClr val="F3EEE3"/>
          </a:solidFill>
          <a:ln/>
        </p:spPr>
      </p:sp>
      <p:sp>
        <p:nvSpPr>
          <p:cNvPr id="14" name="Text 12"/>
          <p:cNvSpPr/>
          <p:nvPr/>
        </p:nvSpPr>
        <p:spPr>
          <a:xfrm>
            <a:off x="596875" y="2757711"/>
            <a:ext cx="3833440" cy="157460"/>
          </a:xfrm>
          <a:prstGeom prst="rect">
            <a:avLst/>
          </a:prstGeom>
          <a:noFill/>
          <a:ln/>
        </p:spPr>
        <p:txBody>
          <a:bodyPr wrap="none" lIns="0" tIns="0" rIns="0" bIns="0" rtlCol="0" anchor="t"/>
          <a:lstStyle/>
          <a:p>
            <a:pPr algn="l" indent="0" marL="0">
              <a:lnSpc>
                <a:spcPct val="104000"/>
              </a:lnSpc>
              <a:buNone/>
            </a:pPr>
            <a:r>
              <a:rPr lang="en-US" sz="950" dirty="0">
                <a:solidFill>
                  <a:srgbClr val="2B4150"/>
                </a:solidFill>
                <a:latin typeface="MuseoModerno Medium" pitchFamily="34" charset="0"/>
                <a:ea typeface="MuseoModerno Medium" pitchFamily="34" charset="-122"/>
                <a:cs typeface="MuseoModerno Medium" pitchFamily="34" charset="-120"/>
              </a:rPr>
              <a:t>Cross-Functional Operating Systems</a:t>
            </a:r>
            <a:endParaRPr lang="en-US" sz="950" dirty="0"/>
          </a:p>
        </p:txBody>
      </p:sp>
      <p:sp>
        <p:nvSpPr>
          <p:cNvPr id="15" name="Text 13"/>
          <p:cNvSpPr/>
          <p:nvPr/>
        </p:nvSpPr>
        <p:spPr>
          <a:xfrm>
            <a:off x="596875" y="2964284"/>
            <a:ext cx="3833440" cy="584299"/>
          </a:xfrm>
          <a:prstGeom prst="rect">
            <a:avLst/>
          </a:prstGeom>
          <a:noFill/>
          <a:ln/>
        </p:spPr>
        <p:txBody>
          <a:bodyPr wrap="square" lIns="0" tIns="0" rIns="0" bIns="0" rtlCol="0" anchor="t">
            <a:normAutofit/>
          </a:bodyPr>
          <a:lstStyle/>
          <a:p>
            <a:pPr algn="l" indent="0" marL="0">
              <a:lnSpc>
                <a:spcPct val="121000"/>
              </a:lnSpc>
              <a:buNone/>
            </a:pPr>
            <a:r>
              <a:rPr lang="en-US" sz="750" dirty="0">
                <a:solidFill>
                  <a:srgbClr val="2B4150"/>
                </a:solidFill>
                <a:latin typeface="Source Sans 3" pitchFamily="34" charset="0"/>
                <a:ea typeface="Source Sans 3" pitchFamily="34" charset="-122"/>
                <a:cs typeface="Source Sans 3" pitchFamily="34" charset="-120"/>
              </a:rPr>
              <a:t>A repeatable lifecycle from inbound proposal to benchmark library update. Defined handoffs between Claude-assisted stages and human decision gates. Assumption register sign-off protocol. Red-team challenge step built into the workflow before any negotiation brief is issued.</a:t>
            </a:r>
            <a:endParaRPr lang="en-US" sz="750" dirty="0"/>
          </a:p>
        </p:txBody>
      </p:sp>
      <p:sp>
        <p:nvSpPr>
          <p:cNvPr id="16" name="Shape 14"/>
          <p:cNvSpPr/>
          <p:nvPr/>
        </p:nvSpPr>
        <p:spPr>
          <a:xfrm>
            <a:off x="4612928" y="2656954"/>
            <a:ext cx="4034954" cy="992386"/>
          </a:xfrm>
          <a:prstGeom prst="roundRect">
            <a:avLst>
              <a:gd name="adj" fmla="val 1523"/>
            </a:avLst>
          </a:prstGeom>
          <a:solidFill>
            <a:srgbClr val="F3EEE3"/>
          </a:solidFill>
          <a:ln/>
        </p:spPr>
      </p:sp>
      <p:sp>
        <p:nvSpPr>
          <p:cNvPr id="17" name="Text 15"/>
          <p:cNvSpPr/>
          <p:nvPr/>
        </p:nvSpPr>
        <p:spPr>
          <a:xfrm>
            <a:off x="4713684" y="2757711"/>
            <a:ext cx="3833440" cy="157460"/>
          </a:xfrm>
          <a:prstGeom prst="rect">
            <a:avLst/>
          </a:prstGeom>
          <a:noFill/>
          <a:ln/>
        </p:spPr>
        <p:txBody>
          <a:bodyPr wrap="none" lIns="0" tIns="0" rIns="0" bIns="0" rtlCol="0" anchor="t"/>
          <a:lstStyle/>
          <a:p>
            <a:pPr algn="l" indent="0" marL="0">
              <a:lnSpc>
                <a:spcPct val="104000"/>
              </a:lnSpc>
              <a:buNone/>
            </a:pPr>
            <a:r>
              <a:rPr lang="en-US" sz="950" dirty="0">
                <a:solidFill>
                  <a:srgbClr val="2B4150"/>
                </a:solidFill>
                <a:latin typeface="MuseoModerno Medium" pitchFamily="34" charset="0"/>
                <a:ea typeface="MuseoModerno Medium" pitchFamily="34" charset="-122"/>
                <a:cs typeface="MuseoModerno Medium" pitchFamily="34" charset="-120"/>
              </a:rPr>
              <a:t>Claude-Enabled Analysis with Human Governance</a:t>
            </a:r>
            <a:endParaRPr lang="en-US" sz="950" dirty="0"/>
          </a:p>
        </p:txBody>
      </p:sp>
      <p:sp>
        <p:nvSpPr>
          <p:cNvPr id="18" name="Text 16"/>
          <p:cNvSpPr/>
          <p:nvPr/>
        </p:nvSpPr>
        <p:spPr>
          <a:xfrm>
            <a:off x="4713684" y="2964284"/>
            <a:ext cx="3833440" cy="584299"/>
          </a:xfrm>
          <a:prstGeom prst="rect">
            <a:avLst/>
          </a:prstGeom>
          <a:noFill/>
          <a:ln/>
        </p:spPr>
        <p:txBody>
          <a:bodyPr wrap="square" lIns="0" tIns="0" rIns="0" bIns="0" rtlCol="0" anchor="t">
            <a:normAutofit/>
          </a:bodyPr>
          <a:lstStyle/>
          <a:p>
            <a:pPr algn="l" indent="0" marL="0">
              <a:lnSpc>
                <a:spcPct val="121000"/>
              </a:lnSpc>
              <a:buNone/>
            </a:pPr>
            <a:r>
              <a:rPr lang="en-US" sz="750" dirty="0">
                <a:solidFill>
                  <a:srgbClr val="2B4150"/>
                </a:solidFill>
                <a:latin typeface="Source Sans 3" pitchFamily="34" charset="0"/>
                <a:ea typeface="Source Sans 3" pitchFamily="34" charset="-122"/>
                <a:cs typeface="Source Sans 3" pitchFamily="34" charset="-120"/>
              </a:rPr>
              <a:t>AI accelerates term extraction, comparable retrieval, scenario population, and library updates. Human approval is mandatory at assumption sign-off, red-team review, and final deal recommendation. All AI outputs labeled as drafts until approved. Decision history auditable and retained.</a:t>
            </a:r>
            <a:endParaRPr lang="en-US" sz="750" dirty="0"/>
          </a:p>
        </p:txBody>
      </p:sp>
      <p:sp>
        <p:nvSpPr>
          <p:cNvPr id="19" name="Text 17"/>
          <p:cNvSpPr/>
          <p:nvPr/>
        </p:nvSpPr>
        <p:spPr>
          <a:xfrm>
            <a:off x="647254" y="3833589"/>
            <a:ext cx="8000628" cy="292150"/>
          </a:xfrm>
          <a:prstGeom prst="rect">
            <a:avLst/>
          </a:prstGeom>
          <a:noFill/>
          <a:ln/>
        </p:spPr>
        <p:txBody>
          <a:bodyPr wrap="square" lIns="0" tIns="0" rIns="0" bIns="0" rtlCol="0" anchor="t">
            <a:normAutofit/>
          </a:bodyPr>
          <a:lstStyle/>
          <a:p>
            <a:pPr algn="l" indent="0" marL="0">
              <a:lnSpc>
                <a:spcPct val="121000"/>
              </a:lnSpc>
              <a:buNone/>
            </a:pPr>
            <a:r>
              <a:rPr lang="en-US" sz="750" dirty="0">
                <a:solidFill>
                  <a:srgbClr val="2B4150"/>
                </a:solidFill>
                <a:latin typeface="Source Sans 3" pitchFamily="34" charset="0"/>
                <a:ea typeface="Source Sans 3" pitchFamily="34" charset="-122"/>
                <a:cs typeface="Source Sans 3" pitchFamily="34" charset="-120"/>
              </a:rPr>
              <a:t>The system converts ambiguous partnership proposals into transparent assumptions, defensible valuation ranges, actionable negotiation positions, and reusable organizational learning — at a pace and consistency that one-off deal analysis cannot match.</a:t>
            </a:r>
            <a:endParaRPr lang="en-US" sz="750" dirty="0"/>
          </a:p>
        </p:txBody>
      </p:sp>
      <p:sp>
        <p:nvSpPr>
          <p:cNvPr id="20" name="Shape 18"/>
          <p:cNvSpPr/>
          <p:nvPr/>
        </p:nvSpPr>
        <p:spPr>
          <a:xfrm>
            <a:off x="496119" y="3741465"/>
            <a:ext cx="14288" cy="476399"/>
          </a:xfrm>
          <a:prstGeom prst="roundRect">
            <a:avLst>
              <a:gd name="adj" fmla="val 49998"/>
            </a:avLst>
          </a:prstGeom>
          <a:solidFill>
            <a:srgbClr val="325F7B"/>
          </a:solidFill>
          <a:ln/>
        </p:spPr>
      </p:sp>
      <p:sp>
        <p:nvSpPr>
          <p:cNvPr id="21" name="Shape 19"/>
          <p:cNvSpPr/>
          <p:nvPr/>
        </p:nvSpPr>
        <p:spPr>
          <a:xfrm>
            <a:off x="496119" y="4335140"/>
            <a:ext cx="8151763" cy="14288"/>
          </a:xfrm>
          <a:prstGeom prst="roundRect">
            <a:avLst>
              <a:gd name="adj" fmla="val 49998"/>
            </a:avLst>
          </a:prstGeom>
          <a:solidFill>
            <a:srgbClr val="2B4150">
              <a:alpha val="50000"/>
            </a:srgbClr>
          </a:solidFill>
          <a:ln/>
        </p:spPr>
      </p:sp>
      <p:sp>
        <p:nvSpPr>
          <p:cNvPr id="22" name="Text 20"/>
          <p:cNvSpPr/>
          <p:nvPr/>
        </p:nvSpPr>
        <p:spPr>
          <a:xfrm>
            <a:off x="496119" y="4466704"/>
            <a:ext cx="8151763" cy="292150"/>
          </a:xfrm>
          <a:prstGeom prst="rect">
            <a:avLst/>
          </a:prstGeom>
          <a:noFill/>
          <a:ln/>
        </p:spPr>
        <p:txBody>
          <a:bodyPr wrap="square" lIns="0" tIns="0" rIns="0" bIns="0" rtlCol="0" anchor="t">
            <a:normAutofit/>
          </a:bodyPr>
          <a:lstStyle/>
          <a:p>
            <a:pPr algn="ctr" indent="0" marL="0">
              <a:lnSpc>
                <a:spcPct val="121000"/>
              </a:lnSpc>
              <a:buNone/>
            </a:pPr>
            <a:r>
              <a:rPr lang="en-US" sz="750" i="1" dirty="0">
                <a:solidFill>
                  <a:srgbClr val="2B4150"/>
                </a:solidFill>
                <a:latin typeface="Source Sans 3" pitchFamily="34" charset="0"/>
                <a:ea typeface="Source Sans 3" pitchFamily="34" charset="-122"/>
                <a:cs typeface="Source Sans 3" pitchFamily="34" charset="-120"/>
              </a:rPr>
              <a:t>All companies, deal names, and economics in this presentation — including Atlas Knowledge Systems and all synthetic comparables — are entirely fictional and used solely to demonstrate methodology. No factual claims are made about any real organization, partnership, or transaction.</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2026-08-04T14:52:21Z</dcterms:created>
  <dcterms:modified xsi:type="dcterms:W3CDTF">2026-08-04T14:52:21Z</dcterms:modified>
</cp:coreProperties>
</file>